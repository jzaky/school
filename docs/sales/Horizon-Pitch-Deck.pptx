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thank you for your time. Horizon is one portal for every school procedure: the requests, approvals, meetings, letters, counseling, university guidance and safeguarding that today live in many different places. It works fully in Arabic and English and it was built for schools in the UAE, with UAE data protection and child protection in mind. Over the next twenty minutes I will show you the problem we solve, walk through Horizon through the eyes of eight people in a school, explain how we protect children and data, and finish with a simple pilot proposal. Everything you will see is the real product, running on a fictional demo school called Horizon International School Dubai.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start with what most schools tell us. First, tools are scattered: email, WhatsApp, shared drives and several portals, so nobody sees the whole picture of a student. Second, many procedures are still on paper: a parent who needs an enrollment letter for an embassy, a subject change, an absence note. Families have to chase the office. Third, and most serious, safeguarding. When a teacher is worried about a child, that concern often goes by email or a conversation in the staff room. Access is not controlled, decisions about telling the family are not recorded, and nobody can show an inspector who read what. Fourth, university guidance. Counselors maintain entry requirements in spreadsheets, and those go stale as soon as a university changes its admissions page. The result is slow service, invisible bottlenecks and real risk. Ask the room: which of these feels most familiar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Horizon brings all of this into one place. Think of it as six connected modules: services and approvals, cases and safeguarding, meetings and calendar, letters and documents, career and university pathways, and academics such as subject registration, timetable and grades. The important idea is that each person gets their own portal. A parent sees their children. A teacher sees their classes and referrals. A safeguarding lead sees the restricted queue. And the school, not a vendor, configures the services, forms, approval routes and letters. On the right is the demo entry page: each card is a real account with real permissions, and that is how I will walk you through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five journeys that happen every week in every school, and each one runs end to end in Horizon. Career guidance: the student takes an aptitude assessment, picks a career, books the advisor, and the advisor approves a plan the family can see. Teacher referral: a teacher raises an academic concern in two minutes, the counselor opens a case and books a meeting with the parent. Official letters: a parent requests an enrollment letter, the registrar approves with a signature, and a bilingual PDF is generated. Subject change: three approval steps, teacher, head of department and registrar, with a clear trail. And parent meetings with real availability, invites and reminders. No email chains, no paper. Now let us meet the people who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 Aisha, the school administrator. Her job in Horizon is to shape how the school works, without calling a developer. On screen is the visual workflow builder for a subject change: approval steps, conditions, notifications and waits. Before publishing she can validate it and simulate a run, and every publish creates a new version, so running requests are never broken. She also has a drag-and-drop form builder with 21 field types and conditional logic, bilingual letter templates with a live PDF preview, and roles and access described in plain language, with an Access check that shows exactly what any person can see. Everything sensitive she does is recorded in the audit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Omar is the principal. When he logs in he sees the school at a glance: requests in the last 30 days, average resolution time, open requests and open cases, and how that compares with the previous period. Service levels show how many requests closed within target and which services are slowest, so bottlenecks become visible. In Analytics he can ask questions in plain language, such as which service is slowest, and the answer is computed over aggregate figures. Importantly, wellbeing and safeguarding cases are excluded from every one of these figures. Leadership gets oversight without exposing sensitive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Sarah is a counselor. Referrals from teachers arrive as cases in her caseload, each with a priority and a response timer, so nothing sits in an inbox. Case notes are versioned: they can be amended with a reason, but never silently edited or deleted. She books meetings with the parent invited, and follow-up dates appear on her calendar. Notice the AI assistant panel on the right of this wellbeing case: it says the case contains wellbeing information and the school has not allowed it to be sent to an AI provider. On ordinary cases, AI can draft a brief or an action plan, but it is always a draft that Sarah reviews and approves before anything is shared. Also notice the purple banner: the family is only contacted by a recorded staff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Khalid is the Designated Safeguarding Lead. Any member of staff can raise a safeguarding concern in one click from their home page. After they submit, the teacher only sees Received and Being handled: they cannot read the case. The case goes to a restricted queue visible only to the DSL, the deputy, and staff the DSL explicitly grants. It never appears in search, dashboards or analytics, and every view writes an audit event. On screen is the parent notification panel. Telling the family is never automatic: Khalid records a decision, notify, defer or do not notify, with a reason, and it goes into the chronology. The chronology is timestamped, notes can be amended but never deleted, external referrals to agencies are logged, and only the DSL can export it. Break-glass emergency access requires a written reason and alerts the DSL. The demo case is fictional and deliberately low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Daniel is a teacher, and teachers are busy, so everything is a few taps. From Home he can refer a student, for an academic concern, behaviour, wellbeing or learning support, and the Raise a safeguarding concern button is always visible. Requests that need his view, such as a subject change for a student in his class, arrive as approval steps. His schedule shows parent meetings booked by families against his real availability. The inset shows the gradebook: it works like a spreadsheet, with autosave, keyboard navigation and paste from Excel, and students and parents only see grades once he publishes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Layla is the career advisor. Students start with an aptitude assessment and explore careers matched to their strengths, then book time with her. For older students she runs this application board: every Grade 12 application by stage, shortlisted, preparing, submitted, interview, offer, with the next deadline and checklist progress on each card. She can plan tasks for all applications at once, and teachers receive recommendation letter requests in their own queue. When a university changes its entry requirements, the change arrives in her catalog review with the before and after and the list of affected students. I will come back to that on the university pathways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people the school serves. Adam is a Grade 9 student. His home page shows his requests with a progress bar for each one, upcoming exams, trips, meetings and tasks, and a prompt to take the career assessment. Rania is Adam's mother, and she also has a younger daughter, Yara, at the school. She sees both children in one account: an approval waiting for her, family requests and their status, trips needing consent, and upcoming exams. Rania uses Horizon in Arabic, and you can see the whole interface mirrors correctly from right to left. She joined using the school's family code, which I will show in onboarding. Parents never see wellbeing or safeguarding case content through their 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 would like the leadership team to remember. In Horizon, the rules that matter are enforced by the system, not left to good intentions. First, one access module decides who can see wellbeing and safeguarding cases, and those cases never appear in search, dashboards, analytics or the parent and student portals unless that module allows it. Second, every view of a sensitive record writes an audit event, and audit entries cannot be edited or deleted. Third, parents are never notified automatically on wellbeing or safeguarding cases: it is always a staff decision with a recorded reason. Fourth, AI: counseling, wellbeing, safeguarding and medical data are never sent to an AI provider unless the school turns that on, and AI output on sensitive matters is always a draft that a person approves. Fifth, each school's data is isolated in the database with row-level security, and the application itself runs as a restricted database role. And sixth, the compliance page covers UAE PDPL controls: purposes and consent records, data subject requests, retention periods, an incident log, and encrypted identity numbers that are masked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Horizon is not an English product with a translation layer. Every screen, email, notification and letter works in Arabic and English, and the Arabic interface is fully mirrored from right to left: navigation, tables, calendars and charts. Here is the same university planning page for Adam in English and in Arabic. Each person chooses their language and the school sets the default. Letters can be generated in Arabic, English or side by side, with correct Arabic shaping. Hijri dates and Arabic-Indic numerals are options, and people's names are stored in both languages so search finds either. If the room is comfortable, this is a good moment to switch the live demo to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Horizon goes beyond a request system. The university pathways engine checks a student's courses and grades against each programme's entry requirements, line by line, for the British, IB, American, UAE Ministry, Indian and Jordanian Tawjihi curricula. Every requirement is taken from the university's official page, word for word, with the source link and the date it was checked. Eligibility is decided by rules, never by AI. On screen is the University of Manchester's Electrical and Electronic Engineering programme for Adam: he is on track, each line shows which of his courses meets it, and in italics you see the exact wording from Manchester's own page with a link to the source. Below, the same programme's requirements for British, IB and other curricula, each marked From the official page. Universities change their rules from year to year, so Horizon compares each university's current page with its archived copy from last year and flags the differences for staff review. Real examples: Birmingham Medicine moved from A*AA to AAA, Durham Law from IB 38 to 37, and ANU Computing from IB 30 to 31. Advisors see the before, the after and the affected students; families are never notified automatically. Students also get a Grade 9 to 12 course plan that the counselor approves, and a what-if tool. We still advise students to confirm on the official page before applying, and every page links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hard is it to start? A school can be live in a day. The administrator signs up with the school name in English and Arabic, the emirate and the curricula taught, and Horizon immediately creates a complete working school: roles, the service catalog with forms and approval routes, bilingual letters, message templates, the current academic year with UAE holidays, a bell schedule and the course catalog. Nothing starts empty. A seven-step setup wizard covers profile and brand, year and holidays, curricula, modules, people and invitations; the logo and colors change the whole app live. People come in through the Import center, in order: staff, then students and guardians, then classes and enrollments, then subject choices, from CSV or Excel files exported from the school's current system. Templates have English and Arabic headers. Every file is previewed row by row before anything is saved: here you see two new teachers, one existing teacher whose job title will be updated, and two rows with clear errors, an invalid email and a role that does not exist. Re-importing a file updates records rather than duplicating them, and a staff re-import never removes anyone's roles. Every import is kept in the import history. On the right is an enrollment letter: generated documents such as letters, report cards, exam timetables and the join poster carry the school's own logo, name, address and seal. Sign-in can be email and password, Google or Microsoft 365, and families join with a school code on a printed poster with a QR code. For a pilot school we also offer a 90-minute guided setup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Schools often worry about the effort to keep a system running. Horizon is designed to be light. There are no custom builds per school: every school starts from a complete configuration and the school's own administrators change names, logo, colors, services, forms, approval routes, letters, notification texts, subjects, roles and the calendar themselves. The university requirements catalog is shared and refreshes itself weekly from official pages, with changes waiting for human review. Every morning an automated check opens every page for every role, in Arabic and English, on desktop and phone, against the live site. Imports and background jobs are idempotent, so repeating an import never creates duplicates. And modules can be switched on or off per school.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we propose. A one-term pilot with five launch services. In week one we run a 90-minute guided setup call with your administrator: profile and branding, calendar, importing students, guardians and staff, assigning roles, and naming the DSL and deputy. In weeks two and three staff go live with five services: school documents, absence requests, parent meetings, teacher referrals and safeguarding concerns. From week four families join using the family code, and counselors start university plans with one grade. At the end of term we review together against measures we agree today, for example days to issue a letter, the share of requests closed on time, how quickly a concern reaches the DSL, and how many families are signed in, and then you decide on a whole-school rollout. Discuss commercial terms for the pilot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three simple next steps. Today: choose a pilot lead, usually the school administrator or a deputy head, and confirm who your Designated Safeguarding Lead and deputy are. This week: send us the data request list, which covers school details, logo and colors, the staff list, students and guardians, and term dates; every template is available in English and Arabic. Next week: a 90-minute setup call, and then staff go live with the five launch services. In the meantime you are welcome to explore the live demo school yourselves, as any persona, in English or Arabic, and I will leave you a brochure with everything we covered. Thank you.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jp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jp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jp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jp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jp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jpg"/><Relationship Id="rId6" Type="http://schemas.openxmlformats.org/officeDocument/2006/relationships/image" Target="../media/image-9-6.jp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jp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jpg"/><Relationship Id="rId8" Type="http://schemas.openxmlformats.org/officeDocument/2006/relationships/image" Target="../media/image-15-8.jpg"/><Relationship Id="rId9" Type="http://schemas.openxmlformats.org/officeDocument/2006/relationships/image" Target="../media/image-15-9.png"/><Relationship Id="rId10" Type="http://schemas.openxmlformats.org/officeDocument/2006/relationships/slideLayout" Target="../slideLayouts/slideLayout1.xml"/><Relationship Id="rId11"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82A"/>
        </a:solidFill>
      </p:bgPr>
    </p:bg>
    <p:spTree>
      <p:nvGrpSpPr>
        <p:cNvPr id="1" name=""/>
        <p:cNvGrpSpPr/>
        <p:nvPr/>
      </p:nvGrpSpPr>
      <p:grpSpPr>
        <a:xfrm>
          <a:off x="0" y="0"/>
          <a:ext cx="0" cy="0"/>
          <a:chOff x="0" y="0"/>
          <a:chExt cx="0" cy="0"/>
        </a:xfrm>
      </p:grpSpPr>
      <p:sp>
        <p:nvSpPr>
          <p:cNvPr id="2" name="Shape 0"/>
          <p:cNvSpPr/>
          <p:nvPr/>
        </p:nvSpPr>
        <p:spPr>
          <a:xfrm>
            <a:off x="548640" y="548640"/>
            <a:ext cx="457200" cy="457200"/>
          </a:xfrm>
          <a:prstGeom prst="roundRect">
            <a:avLst>
              <a:gd name="adj" fmla="val 20000"/>
            </a:avLst>
          </a:prstGeom>
          <a:solidFill>
            <a:srgbClr val="C79E41"/>
          </a:solidFill>
          <a:ln w="12700">
            <a:solidFill>
              <a:srgbClr val="C79E41"/>
            </a:solidFill>
            <a:prstDash val="solid"/>
          </a:ln>
        </p:spPr>
      </p:sp>
      <p:sp>
        <p:nvSpPr>
          <p:cNvPr id="3" name="Text 1"/>
          <p:cNvSpPr txBox="1"/>
          <p:nvPr/>
        </p:nvSpPr>
        <p:spPr>
          <a:xfrm>
            <a:off x="548640" y="548640"/>
            <a:ext cx="457200" cy="457200"/>
          </a:xfrm>
          <a:prstGeom prst="rect">
            <a:avLst/>
          </a:prstGeom>
          <a:noFill/>
          <a:ln/>
        </p:spPr>
        <p:txBody>
          <a:bodyPr wrap="square" lIns="0" tIns="0" rIns="0" bIns="0" rtlCol="0" anchor="ctr"/>
          <a:lstStyle/>
          <a:p>
            <a:pPr algn="ctr" indent="0" marL="0">
              <a:buNone/>
            </a:pPr>
            <a:r>
              <a:rPr lang="en-US" sz="2000" b="1" dirty="0">
                <a:solidFill>
                  <a:srgbClr val="0C182A"/>
                </a:solidFill>
                <a:latin typeface="Calibri" pitchFamily="34" charset="0"/>
                <a:ea typeface="Calibri" pitchFamily="34" charset="-122"/>
                <a:cs typeface="Calibri" pitchFamily="34" charset="-120"/>
              </a:rPr>
              <a:t>H</a:t>
            </a:r>
            <a:endParaRPr lang="en-US" sz="2000" dirty="0"/>
          </a:p>
        </p:txBody>
      </p:sp>
      <p:sp>
        <p:nvSpPr>
          <p:cNvPr id="4" name="Text 2"/>
          <p:cNvSpPr txBox="1"/>
          <p:nvPr/>
        </p:nvSpPr>
        <p:spPr>
          <a:xfrm>
            <a:off x="1143000" y="548640"/>
            <a:ext cx="274320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Horizon</a:t>
            </a:r>
            <a:endParaRPr lang="en-US" sz="1800" dirty="0"/>
          </a:p>
        </p:txBody>
      </p:sp>
      <p:sp>
        <p:nvSpPr>
          <p:cNvPr id="5" name="Text 3"/>
          <p:cNvSpPr txBox="1"/>
          <p:nvPr/>
        </p:nvSpPr>
        <p:spPr>
          <a:xfrm>
            <a:off x="548640" y="1828800"/>
            <a:ext cx="5120640" cy="274320"/>
          </a:xfrm>
          <a:prstGeom prst="rect">
            <a:avLst/>
          </a:prstGeom>
          <a:noFill/>
          <a:ln/>
        </p:spPr>
        <p:txBody>
          <a:bodyPr wrap="square" lIns="0" tIns="0" rIns="0" bIns="0" rtlCol="0" anchor="ctr"/>
          <a:lstStyle/>
          <a:p>
            <a:pPr indent="0" marL="0">
              <a:buNone/>
            </a:pPr>
            <a:r>
              <a:rPr lang="en-US" sz="1100" b="1" spc="300" kern="0" dirty="0">
                <a:solidFill>
                  <a:srgbClr val="C79E41"/>
                </a:solidFill>
                <a:latin typeface="Calibri" pitchFamily="34" charset="0"/>
                <a:ea typeface="Calibri" pitchFamily="34" charset="-122"/>
                <a:cs typeface="Calibri" pitchFamily="34" charset="-120"/>
              </a:rPr>
              <a:t>SCHOOL OPERATIONS AND STUDENT SERVICES</a:t>
            </a:r>
            <a:endParaRPr lang="en-US" sz="1100" dirty="0"/>
          </a:p>
        </p:txBody>
      </p:sp>
      <p:sp>
        <p:nvSpPr>
          <p:cNvPr id="6" name="Text 4"/>
          <p:cNvSpPr txBox="1"/>
          <p:nvPr/>
        </p:nvSpPr>
        <p:spPr>
          <a:xfrm>
            <a:off x="548640" y="2194560"/>
            <a:ext cx="4937760" cy="17373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One portal for every school procedure</a:t>
            </a:r>
            <a:endParaRPr lang="en-US" sz="4000" dirty="0"/>
          </a:p>
        </p:txBody>
      </p:sp>
      <p:sp>
        <p:nvSpPr>
          <p:cNvPr id="7" name="Text 5"/>
          <p:cNvSpPr txBox="1"/>
          <p:nvPr/>
        </p:nvSpPr>
        <p:spPr>
          <a:xfrm>
            <a:off x="548640" y="4069080"/>
            <a:ext cx="4754880" cy="1005840"/>
          </a:xfrm>
          <a:prstGeom prst="rect">
            <a:avLst/>
          </a:prstGeom>
          <a:noFill/>
          <a:ln/>
        </p:spPr>
        <p:txBody>
          <a:bodyPr wrap="square" lIns="0" tIns="0" rIns="0" bIns="0" rtlCol="0" anchor="t"/>
          <a:lstStyle/>
          <a:p>
            <a:pPr indent="0" marL="0">
              <a:buNone/>
            </a:pPr>
            <a:r>
              <a:rPr lang="en-US" sz="1500" dirty="0">
                <a:solidFill>
                  <a:srgbClr val="E3E8EE"/>
                </a:solidFill>
                <a:latin typeface="Calibri" pitchFamily="34" charset="0"/>
                <a:ea typeface="Calibri" pitchFamily="34" charset="-122"/>
                <a:cs typeface="Calibri" pitchFamily="34" charset="-120"/>
              </a:rPr>
              <a:t>Requests, approvals, meetings, letters, counseling, university guidance and safeguarding in one place, in Arabic and English, for students, families and staff.</a:t>
            </a:r>
            <a:endParaRPr lang="en-US" sz="1500" dirty="0"/>
          </a:p>
        </p:txBody>
      </p:sp>
      <p:sp>
        <p:nvSpPr>
          <p:cNvPr id="8" name="Text 6"/>
          <p:cNvSpPr txBox="1"/>
          <p:nvPr/>
        </p:nvSpPr>
        <p:spPr>
          <a:xfrm>
            <a:off x="548640" y="5257800"/>
            <a:ext cx="4572000" cy="274320"/>
          </a:xfrm>
          <a:prstGeom prst="rect">
            <a:avLst/>
          </a:prstGeom>
          <a:noFill/>
          <a:ln/>
        </p:spPr>
        <p:txBody>
          <a:bodyPr wrap="square" lIns="0" tIns="0" rIns="0" bIns="0" rtlCol="0" anchor="ctr"/>
          <a:lstStyle/>
          <a:p>
            <a:pPr indent="0" marL="0">
              <a:buNone/>
            </a:pPr>
            <a:r>
              <a:rPr lang="en-US" sz="1200" dirty="0">
                <a:solidFill>
                  <a:srgbClr val="C79E41"/>
                </a:solidFill>
                <a:latin typeface="Calibri" pitchFamily="34" charset="0"/>
                <a:ea typeface="Calibri" pitchFamily="34" charset="-122"/>
                <a:cs typeface="Calibri" pitchFamily="34" charset="-120"/>
              </a:rPr>
              <a:t>Built for schools in the UAE</a:t>
            </a:r>
            <a:endParaRPr lang="en-US" sz="1200" dirty="0"/>
          </a:p>
        </p:txBody>
      </p:sp>
      <p:sp>
        <p:nvSpPr>
          <p:cNvPr id="9" name="Shape 7"/>
          <p:cNvSpPr/>
          <p:nvPr/>
        </p:nvSpPr>
        <p:spPr>
          <a:xfrm>
            <a:off x="5989320" y="1417320"/>
            <a:ext cx="5715000" cy="3782187"/>
          </a:xfrm>
          <a:prstGeom prst="roundRect">
            <a:avLst>
              <a:gd name="adj" fmla="val 1692"/>
            </a:avLst>
          </a:prstGeom>
          <a:solidFill>
            <a:srgbClr val="233553"/>
          </a:solidFill>
          <a:ln w="9525">
            <a:solidFill>
              <a:srgbClr val="2E4466"/>
            </a:solidFill>
            <a:prstDash val="solid"/>
          </a:ln>
          <a:effectLst>
            <a:outerShdw sx="100000" sy="100000" kx="0" ky="0" algn="bl" rotWithShape="0" blurRad="177800" dist="63500" dir="5400000">
              <a:srgbClr val="0C182A">
                <a:alpha val="45000"/>
              </a:srgbClr>
            </a:outerShdw>
          </a:effectLst>
        </p:spPr>
      </p:sp>
      <p:sp>
        <p:nvSpPr>
          <p:cNvPr id="10" name="Shape 8"/>
          <p:cNvSpPr/>
          <p:nvPr/>
        </p:nvSpPr>
        <p:spPr>
          <a:xfrm>
            <a:off x="6099048" y="1485900"/>
            <a:ext cx="77724" cy="77724"/>
          </a:xfrm>
          <a:prstGeom prst="ellipse">
            <a:avLst/>
          </a:prstGeom>
          <a:solidFill>
            <a:srgbClr val="E5776E"/>
          </a:solidFill>
          <a:ln w="12700">
            <a:solidFill>
              <a:srgbClr val="E5776E"/>
            </a:solidFill>
            <a:prstDash val="solid"/>
          </a:ln>
        </p:spPr>
      </p:sp>
      <p:sp>
        <p:nvSpPr>
          <p:cNvPr id="11" name="Shape 9"/>
          <p:cNvSpPr/>
          <p:nvPr/>
        </p:nvSpPr>
        <p:spPr>
          <a:xfrm>
            <a:off x="6217920" y="1485900"/>
            <a:ext cx="77724" cy="77724"/>
          </a:xfrm>
          <a:prstGeom prst="ellipse">
            <a:avLst/>
          </a:prstGeom>
          <a:solidFill>
            <a:srgbClr val="E8C35A"/>
          </a:solidFill>
          <a:ln w="12700">
            <a:solidFill>
              <a:srgbClr val="E8C35A"/>
            </a:solidFill>
            <a:prstDash val="solid"/>
          </a:ln>
        </p:spPr>
      </p:sp>
      <p:sp>
        <p:nvSpPr>
          <p:cNvPr id="12" name="Shape 10"/>
          <p:cNvSpPr/>
          <p:nvPr/>
        </p:nvSpPr>
        <p:spPr>
          <a:xfrm>
            <a:off x="6336792" y="1485900"/>
            <a:ext cx="77724" cy="77724"/>
          </a:xfrm>
          <a:prstGeom prst="ellipse">
            <a:avLst/>
          </a:prstGeom>
          <a:solidFill>
            <a:srgbClr val="6CC08A"/>
          </a:solidFill>
          <a:ln w="12700">
            <a:solidFill>
              <a:srgbClr val="6CC08A"/>
            </a:solidFill>
            <a:prstDash val="solid"/>
          </a:ln>
        </p:spPr>
      </p:sp>
      <p:pic>
        <p:nvPicPr>
          <p:cNvPr id="13" name="Image 0" descr="/tmp/claude-0/-home-user-School/397e64b2-6645-56da-9972-e1722fae0ce6/scratchpad/sales/imgdeck/landing-en.jpg">    </p:cNvPr>
          <p:cNvPicPr>
            <a:picLocks noChangeAspect="1"/>
          </p:cNvPicPr>
          <p:nvPr/>
        </p:nvPicPr>
        <p:blipFill>
          <a:blip r:embed="rId1"/>
          <a:stretch>
            <a:fillRect/>
          </a:stretch>
        </p:blipFill>
        <p:spPr>
          <a:xfrm>
            <a:off x="6025896" y="1636776"/>
            <a:ext cx="5641848" cy="352615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28600"/>
          </a:xfrm>
          <a:prstGeom prst="rect">
            <a:avLst/>
          </a:prstGeom>
          <a:noFill/>
          <a:ln/>
        </p:spPr>
        <p:txBody>
          <a:bodyPr wrap="square" lIns="0" tIns="0" rIns="0" bIns="0" rtlCol="0" anchor="ctr"/>
          <a:lstStyle/>
          <a:p>
            <a:pPr indent="0" marL="0">
              <a:buNone/>
            </a:pPr>
            <a:r>
              <a:rPr lang="en-US" sz="1100" b="1" spc="300" kern="0" dirty="0">
                <a:solidFill>
                  <a:srgbClr val="05437A"/>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000" b="1" dirty="0">
                <a:solidFill>
                  <a:srgbClr val="10171F"/>
                </a:solidFill>
                <a:latin typeface="Cambria" pitchFamily="34" charset="0"/>
                <a:ea typeface="Cambria" pitchFamily="34" charset="-122"/>
                <a:cs typeface="Cambria" pitchFamily="34" charset="-120"/>
              </a:rPr>
              <a:t>Student services today run on scattered tools</a:t>
            </a:r>
            <a:endParaRPr lang="en-US" sz="3000" dirty="0"/>
          </a:p>
        </p:txBody>
      </p:sp>
      <p:sp>
        <p:nvSpPr>
          <p:cNvPr id="4" name="Shape 2"/>
          <p:cNvSpPr/>
          <p:nvPr/>
        </p:nvSpPr>
        <p:spPr>
          <a:xfrm>
            <a:off x="548640" y="1463040"/>
            <a:ext cx="2587752" cy="3429000"/>
          </a:xfrm>
          <a:prstGeom prst="roundRect">
            <a:avLst>
              <a:gd name="adj" fmla="val 3534"/>
            </a:avLst>
          </a:prstGeom>
          <a:solidFill>
            <a:srgbClr val="FFFFFF"/>
          </a:solidFill>
          <a:ln w="9525">
            <a:solidFill>
              <a:srgbClr val="DFE3E8"/>
            </a:solidFill>
            <a:prstDash val="solid"/>
          </a:ln>
          <a:effectLst>
            <a:outerShdw sx="100000" sy="100000" kx="0" ky="0" algn="bl" rotWithShape="0" blurRad="101600" dist="25400" dir="5400000">
              <a:srgbClr val="0C182A">
                <a:alpha val="8000"/>
              </a:srgbClr>
            </a:outerShdw>
          </a:effectLst>
        </p:spPr>
      </p:sp>
      <p:sp>
        <p:nvSpPr>
          <p:cNvPr id="5" name="Shape 3"/>
          <p:cNvSpPr/>
          <p:nvPr/>
        </p:nvSpPr>
        <p:spPr>
          <a:xfrm>
            <a:off x="822960" y="1783080"/>
            <a:ext cx="640080" cy="640080"/>
          </a:xfrm>
          <a:prstGeom prst="ellipse">
            <a:avLst/>
          </a:prstGeom>
          <a:solidFill>
            <a:srgbClr val="E3F0FF"/>
          </a:solidFill>
          <a:ln w="12700">
            <a:solidFill>
              <a:srgbClr val="E3F0FF"/>
            </a:solidFill>
            <a:prstDash val="solid"/>
          </a:ln>
        </p:spPr>
      </p:sp>
      <p:pic>
        <p:nvPicPr>
          <p:cNvPr id="6" name="Image 0" descr="preencoded.png">    </p:cNvPr>
          <p:cNvPicPr>
            <a:picLocks noChangeAspect="1"/>
          </p:cNvPicPr>
          <p:nvPr/>
        </p:nvPicPr>
        <p:blipFill>
          <a:blip r:embed="rId1"/>
          <a:stretch>
            <a:fillRect/>
          </a:stretch>
        </p:blipFill>
        <p:spPr>
          <a:xfrm>
            <a:off x="978408" y="1938528"/>
            <a:ext cx="329184" cy="329184"/>
          </a:xfrm>
          <a:prstGeom prst="rect">
            <a:avLst/>
          </a:prstGeom>
        </p:spPr>
      </p:pic>
      <p:sp>
        <p:nvSpPr>
          <p:cNvPr id="7" name="Text 4"/>
          <p:cNvSpPr txBox="1"/>
          <p:nvPr/>
        </p:nvSpPr>
        <p:spPr>
          <a:xfrm>
            <a:off x="822960" y="2606040"/>
            <a:ext cx="2039112" cy="685800"/>
          </a:xfrm>
          <a:prstGeom prst="rect">
            <a:avLst/>
          </a:prstGeom>
          <a:noFill/>
          <a:ln/>
        </p:spPr>
        <p:txBody>
          <a:bodyPr wrap="square" lIns="0" tIns="0" rIns="0" bIns="0" rtlCol="0" anchor="t"/>
          <a:lstStyle/>
          <a:p>
            <a:pPr indent="0" marL="0">
              <a:buNone/>
            </a:pPr>
            <a:r>
              <a:rPr lang="en-US" sz="1700" b="1" dirty="0">
                <a:solidFill>
                  <a:srgbClr val="10171F"/>
                </a:solidFill>
                <a:latin typeface="Calibri" pitchFamily="34" charset="0"/>
                <a:ea typeface="Calibri" pitchFamily="34" charset="-122"/>
                <a:cs typeface="Calibri" pitchFamily="34" charset="-120"/>
              </a:rPr>
              <a:t>Scattered tools</a:t>
            </a:r>
            <a:endParaRPr lang="en-US" sz="1700" dirty="0"/>
          </a:p>
        </p:txBody>
      </p:sp>
      <p:sp>
        <p:nvSpPr>
          <p:cNvPr id="8" name="Text 5"/>
          <p:cNvSpPr txBox="1"/>
          <p:nvPr/>
        </p:nvSpPr>
        <p:spPr>
          <a:xfrm>
            <a:off x="822960" y="3291840"/>
            <a:ext cx="2039112" cy="1325880"/>
          </a:xfrm>
          <a:prstGeom prst="rect">
            <a:avLst/>
          </a:prstGeom>
          <a:noFill/>
          <a:ln/>
        </p:spPr>
        <p:txBody>
          <a:bodyPr wrap="square" lIns="0" tIns="0" rIns="0" bIns="0" rtlCol="0" anchor="t"/>
          <a:lstStyle/>
          <a:p>
            <a:pPr indent="0" marL="0">
              <a:buNone/>
            </a:pPr>
            <a:r>
              <a:rPr lang="en-US" sz="1300" dirty="0">
                <a:solidFill>
                  <a:srgbClr val="616A75"/>
                </a:solidFill>
                <a:latin typeface="Calibri" pitchFamily="34" charset="0"/>
                <a:ea typeface="Calibri" pitchFamily="34" charset="-122"/>
                <a:cs typeface="Calibri" pitchFamily="34" charset="-120"/>
              </a:rPr>
              <a:t>Email threads, WhatsApp groups, shared drives and separate portals. Nobody sees the whole picture of a student.</a:t>
            </a:r>
            <a:endParaRPr lang="en-US" sz="1300" dirty="0"/>
          </a:p>
        </p:txBody>
      </p:sp>
      <p:sp>
        <p:nvSpPr>
          <p:cNvPr id="9" name="Shape 6"/>
          <p:cNvSpPr/>
          <p:nvPr/>
        </p:nvSpPr>
        <p:spPr>
          <a:xfrm>
            <a:off x="3374136" y="1463040"/>
            <a:ext cx="2587752" cy="3429000"/>
          </a:xfrm>
          <a:prstGeom prst="roundRect">
            <a:avLst>
              <a:gd name="adj" fmla="val 3534"/>
            </a:avLst>
          </a:prstGeom>
          <a:solidFill>
            <a:srgbClr val="FFFFFF"/>
          </a:solidFill>
          <a:ln w="9525">
            <a:solidFill>
              <a:srgbClr val="DFE3E8"/>
            </a:solidFill>
            <a:prstDash val="solid"/>
          </a:ln>
          <a:effectLst>
            <a:outerShdw sx="100000" sy="100000" kx="0" ky="0" algn="bl" rotWithShape="0" blurRad="101600" dist="25400" dir="5400000">
              <a:srgbClr val="0C182A">
                <a:alpha val="8000"/>
              </a:srgbClr>
            </a:outerShdw>
          </a:effectLst>
        </p:spPr>
      </p:sp>
      <p:sp>
        <p:nvSpPr>
          <p:cNvPr id="10" name="Shape 7"/>
          <p:cNvSpPr/>
          <p:nvPr/>
        </p:nvSpPr>
        <p:spPr>
          <a:xfrm>
            <a:off x="3648456" y="1783080"/>
            <a:ext cx="640080" cy="640080"/>
          </a:xfrm>
          <a:prstGeom prst="ellipse">
            <a:avLst/>
          </a:prstGeom>
          <a:solidFill>
            <a:srgbClr val="E3F0FF"/>
          </a:solidFill>
          <a:ln w="12700">
            <a:solidFill>
              <a:srgbClr val="E3F0FF"/>
            </a:solidFill>
            <a:prstDash val="solid"/>
          </a:ln>
        </p:spPr>
      </p:sp>
      <p:pic>
        <p:nvPicPr>
          <p:cNvPr id="11" name="Image 1" descr="preencoded.png">    </p:cNvPr>
          <p:cNvPicPr>
            <a:picLocks noChangeAspect="1"/>
          </p:cNvPicPr>
          <p:nvPr/>
        </p:nvPicPr>
        <p:blipFill>
          <a:blip r:embed="rId2"/>
          <a:stretch>
            <a:fillRect/>
          </a:stretch>
        </p:blipFill>
        <p:spPr>
          <a:xfrm>
            <a:off x="3803904" y="1938528"/>
            <a:ext cx="329184" cy="329184"/>
          </a:xfrm>
          <a:prstGeom prst="rect">
            <a:avLst/>
          </a:prstGeom>
        </p:spPr>
      </p:pic>
      <p:sp>
        <p:nvSpPr>
          <p:cNvPr id="12" name="Text 8"/>
          <p:cNvSpPr txBox="1"/>
          <p:nvPr/>
        </p:nvSpPr>
        <p:spPr>
          <a:xfrm>
            <a:off x="3648456" y="2606040"/>
            <a:ext cx="2039112" cy="685800"/>
          </a:xfrm>
          <a:prstGeom prst="rect">
            <a:avLst/>
          </a:prstGeom>
          <a:noFill/>
          <a:ln/>
        </p:spPr>
        <p:txBody>
          <a:bodyPr wrap="square" lIns="0" tIns="0" rIns="0" bIns="0" rtlCol="0" anchor="t"/>
          <a:lstStyle/>
          <a:p>
            <a:pPr indent="0" marL="0">
              <a:buNone/>
            </a:pPr>
            <a:r>
              <a:rPr lang="en-US" sz="1700" b="1" dirty="0">
                <a:solidFill>
                  <a:srgbClr val="10171F"/>
                </a:solidFill>
                <a:latin typeface="Calibri" pitchFamily="34" charset="0"/>
                <a:ea typeface="Calibri" pitchFamily="34" charset="-122"/>
                <a:cs typeface="Calibri" pitchFamily="34" charset="-120"/>
              </a:rPr>
              <a:t>Paper requests</a:t>
            </a:r>
            <a:endParaRPr lang="en-US" sz="1700" dirty="0"/>
          </a:p>
        </p:txBody>
      </p:sp>
      <p:sp>
        <p:nvSpPr>
          <p:cNvPr id="13" name="Text 9"/>
          <p:cNvSpPr txBox="1"/>
          <p:nvPr/>
        </p:nvSpPr>
        <p:spPr>
          <a:xfrm>
            <a:off x="3648456" y="3291840"/>
            <a:ext cx="2039112" cy="1325880"/>
          </a:xfrm>
          <a:prstGeom prst="rect">
            <a:avLst/>
          </a:prstGeom>
          <a:noFill/>
          <a:ln/>
        </p:spPr>
        <p:txBody>
          <a:bodyPr wrap="square" lIns="0" tIns="0" rIns="0" bIns="0" rtlCol="0" anchor="t"/>
          <a:lstStyle/>
          <a:p>
            <a:pPr indent="0" marL="0">
              <a:buNone/>
            </a:pPr>
            <a:r>
              <a:rPr lang="en-US" sz="1300" dirty="0">
                <a:solidFill>
                  <a:srgbClr val="616A75"/>
                </a:solidFill>
                <a:latin typeface="Calibri" pitchFamily="34" charset="0"/>
                <a:ea typeface="Calibri" pitchFamily="34" charset="-122"/>
                <a:cs typeface="Calibri" pitchFamily="34" charset="-120"/>
              </a:rPr>
              <a:t>Letters, absence notes and subject changes travel on paper and signatures. Families chase the office for updates.</a:t>
            </a:r>
            <a:endParaRPr lang="en-US" sz="1300" dirty="0"/>
          </a:p>
        </p:txBody>
      </p:sp>
      <p:sp>
        <p:nvSpPr>
          <p:cNvPr id="14" name="Shape 10"/>
          <p:cNvSpPr/>
          <p:nvPr/>
        </p:nvSpPr>
        <p:spPr>
          <a:xfrm>
            <a:off x="6199632" y="1463040"/>
            <a:ext cx="2587752" cy="3429000"/>
          </a:xfrm>
          <a:prstGeom prst="roundRect">
            <a:avLst>
              <a:gd name="adj" fmla="val 3534"/>
            </a:avLst>
          </a:prstGeom>
          <a:solidFill>
            <a:srgbClr val="FFFFFF"/>
          </a:solidFill>
          <a:ln w="9525">
            <a:solidFill>
              <a:srgbClr val="DFE3E8"/>
            </a:solidFill>
            <a:prstDash val="solid"/>
          </a:ln>
          <a:effectLst>
            <a:outerShdw sx="100000" sy="100000" kx="0" ky="0" algn="bl" rotWithShape="0" blurRad="101600" dist="25400" dir="5400000">
              <a:srgbClr val="0C182A">
                <a:alpha val="8000"/>
              </a:srgbClr>
            </a:outerShdw>
          </a:effectLst>
        </p:spPr>
      </p:sp>
      <p:sp>
        <p:nvSpPr>
          <p:cNvPr id="15" name="Shape 11"/>
          <p:cNvSpPr/>
          <p:nvPr/>
        </p:nvSpPr>
        <p:spPr>
          <a:xfrm>
            <a:off x="6473952" y="1783080"/>
            <a:ext cx="640080" cy="640080"/>
          </a:xfrm>
          <a:prstGeom prst="ellipse">
            <a:avLst/>
          </a:prstGeom>
          <a:solidFill>
            <a:srgbClr val="FBE4E3"/>
          </a:solidFill>
          <a:ln w="12700">
            <a:solidFill>
              <a:srgbClr val="FBE4E3"/>
            </a:solidFill>
            <a:prstDash val="solid"/>
          </a:ln>
        </p:spPr>
      </p:sp>
      <p:pic>
        <p:nvPicPr>
          <p:cNvPr id="16" name="Image 2" descr="preencoded.png">    </p:cNvPr>
          <p:cNvPicPr>
            <a:picLocks noChangeAspect="1"/>
          </p:cNvPicPr>
          <p:nvPr/>
        </p:nvPicPr>
        <p:blipFill>
          <a:blip r:embed="rId3"/>
          <a:stretch>
            <a:fillRect/>
          </a:stretch>
        </p:blipFill>
        <p:spPr>
          <a:xfrm>
            <a:off x="6629400" y="1938528"/>
            <a:ext cx="329184" cy="329184"/>
          </a:xfrm>
          <a:prstGeom prst="rect">
            <a:avLst/>
          </a:prstGeom>
        </p:spPr>
      </p:pic>
      <p:sp>
        <p:nvSpPr>
          <p:cNvPr id="17" name="Text 12"/>
          <p:cNvSpPr txBox="1"/>
          <p:nvPr/>
        </p:nvSpPr>
        <p:spPr>
          <a:xfrm>
            <a:off x="6473952" y="2606040"/>
            <a:ext cx="2039112" cy="685800"/>
          </a:xfrm>
          <a:prstGeom prst="rect">
            <a:avLst/>
          </a:prstGeom>
          <a:noFill/>
          <a:ln/>
        </p:spPr>
        <p:txBody>
          <a:bodyPr wrap="square" lIns="0" tIns="0" rIns="0" bIns="0" rtlCol="0" anchor="t"/>
          <a:lstStyle/>
          <a:p>
            <a:pPr indent="0" marL="0">
              <a:buNone/>
            </a:pPr>
            <a:r>
              <a:rPr lang="en-US" sz="1700" b="1" dirty="0">
                <a:solidFill>
                  <a:srgbClr val="10171F"/>
                </a:solidFill>
                <a:latin typeface="Calibri" pitchFamily="34" charset="0"/>
                <a:ea typeface="Calibri" pitchFamily="34" charset="-122"/>
                <a:cs typeface="Calibri" pitchFamily="34" charset="-120"/>
              </a:rPr>
              <a:t>Safeguarding risk</a:t>
            </a:r>
            <a:endParaRPr lang="en-US" sz="1700" dirty="0"/>
          </a:p>
        </p:txBody>
      </p:sp>
      <p:sp>
        <p:nvSpPr>
          <p:cNvPr id="18" name="Text 13"/>
          <p:cNvSpPr txBox="1"/>
          <p:nvPr/>
        </p:nvSpPr>
        <p:spPr>
          <a:xfrm>
            <a:off x="6473952" y="3291840"/>
            <a:ext cx="2039112" cy="1325880"/>
          </a:xfrm>
          <a:prstGeom prst="rect">
            <a:avLst/>
          </a:prstGeom>
          <a:noFill/>
          <a:ln/>
        </p:spPr>
        <p:txBody>
          <a:bodyPr wrap="square" lIns="0" tIns="0" rIns="0" bIns="0" rtlCol="0" anchor="t"/>
          <a:lstStyle/>
          <a:p>
            <a:pPr indent="0" marL="0">
              <a:buNone/>
            </a:pPr>
            <a:r>
              <a:rPr lang="en-US" sz="1300" dirty="0">
                <a:solidFill>
                  <a:srgbClr val="616A75"/>
                </a:solidFill>
                <a:latin typeface="Calibri" pitchFamily="34" charset="0"/>
                <a:ea typeface="Calibri" pitchFamily="34" charset="-122"/>
                <a:cs typeface="Calibri" pitchFamily="34" charset="-120"/>
              </a:rPr>
              <a:t>Concerns are shared by email or in the staff room. Access is not controlled, decisions are not recorded, views are not audited.</a:t>
            </a:r>
            <a:endParaRPr lang="en-US" sz="1300" dirty="0"/>
          </a:p>
        </p:txBody>
      </p:sp>
      <p:sp>
        <p:nvSpPr>
          <p:cNvPr id="19" name="Shape 14"/>
          <p:cNvSpPr/>
          <p:nvPr/>
        </p:nvSpPr>
        <p:spPr>
          <a:xfrm>
            <a:off x="9025128" y="1463040"/>
            <a:ext cx="2587752" cy="3429000"/>
          </a:xfrm>
          <a:prstGeom prst="roundRect">
            <a:avLst>
              <a:gd name="adj" fmla="val 3534"/>
            </a:avLst>
          </a:prstGeom>
          <a:solidFill>
            <a:srgbClr val="FFFFFF"/>
          </a:solidFill>
          <a:ln w="9525">
            <a:solidFill>
              <a:srgbClr val="DFE3E8"/>
            </a:solidFill>
            <a:prstDash val="solid"/>
          </a:ln>
          <a:effectLst>
            <a:outerShdw sx="100000" sy="100000" kx="0" ky="0" algn="bl" rotWithShape="0" blurRad="101600" dist="25400" dir="5400000">
              <a:srgbClr val="0C182A">
                <a:alpha val="8000"/>
              </a:srgbClr>
            </a:outerShdw>
          </a:effectLst>
        </p:spPr>
      </p:sp>
      <p:sp>
        <p:nvSpPr>
          <p:cNvPr id="20" name="Shape 15"/>
          <p:cNvSpPr/>
          <p:nvPr/>
        </p:nvSpPr>
        <p:spPr>
          <a:xfrm>
            <a:off x="9299448" y="1783080"/>
            <a:ext cx="640080" cy="640080"/>
          </a:xfrm>
          <a:prstGeom prst="ellipse">
            <a:avLst/>
          </a:prstGeom>
          <a:solidFill>
            <a:srgbClr val="E3F0FF"/>
          </a:solidFill>
          <a:ln w="12700">
            <a:solidFill>
              <a:srgbClr val="E3F0FF"/>
            </a:solidFill>
            <a:prstDash val="solid"/>
          </a:ln>
        </p:spPr>
      </p:sp>
      <p:pic>
        <p:nvPicPr>
          <p:cNvPr id="21" name="Image 3" descr="preencoded.png">    </p:cNvPr>
          <p:cNvPicPr>
            <a:picLocks noChangeAspect="1"/>
          </p:cNvPicPr>
          <p:nvPr/>
        </p:nvPicPr>
        <p:blipFill>
          <a:blip r:embed="rId4"/>
          <a:stretch>
            <a:fillRect/>
          </a:stretch>
        </p:blipFill>
        <p:spPr>
          <a:xfrm>
            <a:off x="9454896" y="1938528"/>
            <a:ext cx="329184" cy="329184"/>
          </a:xfrm>
          <a:prstGeom prst="rect">
            <a:avLst/>
          </a:prstGeom>
        </p:spPr>
      </p:pic>
      <p:sp>
        <p:nvSpPr>
          <p:cNvPr id="22" name="Text 16"/>
          <p:cNvSpPr txBox="1"/>
          <p:nvPr/>
        </p:nvSpPr>
        <p:spPr>
          <a:xfrm>
            <a:off x="9299448" y="2606040"/>
            <a:ext cx="2039112" cy="685800"/>
          </a:xfrm>
          <a:prstGeom prst="rect">
            <a:avLst/>
          </a:prstGeom>
          <a:noFill/>
          <a:ln/>
        </p:spPr>
        <p:txBody>
          <a:bodyPr wrap="square" lIns="0" tIns="0" rIns="0" bIns="0" rtlCol="0" anchor="t"/>
          <a:lstStyle/>
          <a:p>
            <a:pPr indent="0" marL="0">
              <a:buNone/>
            </a:pPr>
            <a:r>
              <a:rPr lang="en-US" sz="1700" b="1" dirty="0">
                <a:solidFill>
                  <a:srgbClr val="10171F"/>
                </a:solidFill>
                <a:latin typeface="Calibri" pitchFamily="34" charset="0"/>
                <a:ea typeface="Calibri" pitchFamily="34" charset="-122"/>
                <a:cs typeface="Calibri" pitchFamily="34" charset="-120"/>
              </a:rPr>
              <a:t>University guidance in spreadsheets</a:t>
            </a:r>
            <a:endParaRPr lang="en-US" sz="1700" dirty="0"/>
          </a:p>
        </p:txBody>
      </p:sp>
      <p:sp>
        <p:nvSpPr>
          <p:cNvPr id="23" name="Text 17"/>
          <p:cNvSpPr txBox="1"/>
          <p:nvPr/>
        </p:nvSpPr>
        <p:spPr>
          <a:xfrm>
            <a:off x="9299448" y="3291840"/>
            <a:ext cx="2039112" cy="1325880"/>
          </a:xfrm>
          <a:prstGeom prst="rect">
            <a:avLst/>
          </a:prstGeom>
          <a:noFill/>
          <a:ln/>
        </p:spPr>
        <p:txBody>
          <a:bodyPr wrap="square" lIns="0" tIns="0" rIns="0" bIns="0" rtlCol="0" anchor="t"/>
          <a:lstStyle/>
          <a:p>
            <a:pPr indent="0" marL="0">
              <a:buNone/>
            </a:pPr>
            <a:r>
              <a:rPr lang="en-US" sz="1300" dirty="0">
                <a:solidFill>
                  <a:srgbClr val="616A75"/>
                </a:solidFill>
                <a:latin typeface="Calibri" pitchFamily="34" charset="0"/>
                <a:ea typeface="Calibri" pitchFamily="34" charset="-122"/>
                <a:cs typeface="Calibri" pitchFamily="34" charset="-120"/>
              </a:rPr>
              <a:t>Entry requirements live in counselors' spreadsheets and go out of date the day an admissions page changes.</a:t>
            </a:r>
            <a:endParaRPr lang="en-US" sz="1300" dirty="0"/>
          </a:p>
        </p:txBody>
      </p:sp>
      <p:sp>
        <p:nvSpPr>
          <p:cNvPr id="24" name="Shape 18"/>
          <p:cNvSpPr/>
          <p:nvPr/>
        </p:nvSpPr>
        <p:spPr>
          <a:xfrm>
            <a:off x="548640" y="5257800"/>
            <a:ext cx="11091672" cy="868680"/>
          </a:xfrm>
          <a:prstGeom prst="roundRect">
            <a:avLst>
              <a:gd name="adj" fmla="val 10526"/>
            </a:avLst>
          </a:prstGeom>
          <a:solidFill>
            <a:srgbClr val="0C182A"/>
          </a:solidFill>
          <a:ln w="12700">
            <a:solidFill>
              <a:srgbClr val="0C182A"/>
            </a:solidFill>
            <a:prstDash val="solid"/>
          </a:ln>
        </p:spPr>
      </p:sp>
      <p:sp>
        <p:nvSpPr>
          <p:cNvPr id="25" name="Text 19"/>
          <p:cNvSpPr txBox="1"/>
          <p:nvPr/>
        </p:nvSpPr>
        <p:spPr>
          <a:xfrm>
            <a:off x="868680" y="5257800"/>
            <a:ext cx="10515600" cy="868680"/>
          </a:xfrm>
          <a:prstGeom prst="rect">
            <a:avLst/>
          </a:prstGeom>
          <a:noFill/>
          <a:ln/>
        </p:spPr>
        <p:txBody>
          <a:bodyPr wrap="square" lIns="0" tIns="0" rIns="0" bIns="0" rtlCol="0" anchor="ctr"/>
          <a:lstStyle/>
          <a:p>
            <a:pPr indent="0" marL="0">
              <a:buNone/>
            </a:pPr>
            <a:r>
              <a:rPr lang="en-US" sz="1600" b="1" dirty="0">
                <a:solidFill>
                  <a:srgbClr val="C79E41"/>
                </a:solidFill>
                <a:latin typeface="Calibri" pitchFamily="34" charset="0"/>
                <a:ea typeface="Calibri" pitchFamily="34" charset="-122"/>
                <a:cs typeface="Calibri" pitchFamily="34" charset="-120"/>
              </a:rPr>
              <a:t>The result: </a:t>
            </a:r>
            <a:pPr indent="0" marL="0">
              <a:buNone/>
            </a:pPr>
            <a:r>
              <a:rPr lang="en-US" sz="1600" dirty="0">
                <a:solidFill>
                  <a:srgbClr val="FFFFFF"/>
                </a:solidFill>
                <a:latin typeface="Calibri" pitchFamily="34" charset="0"/>
                <a:ea typeface="Calibri" pitchFamily="34" charset="-122"/>
                <a:cs typeface="Calibri" pitchFamily="34" charset="-120"/>
              </a:rPr>
              <a:t>slow service for families, bottlenecks leaders cannot see, and real risk for children when a concern goes to the wrong inbox.</a:t>
            </a:r>
            <a:endParaRPr lang="en-US" sz="1600" dirty="0"/>
          </a:p>
        </p:txBody>
      </p:sp>
      <p:sp>
        <p:nvSpPr>
          <p:cNvPr id="26" name="Text 20"/>
          <p:cNvSpPr txBox="1"/>
          <p:nvPr/>
        </p:nvSpPr>
        <p:spPr>
          <a:xfrm>
            <a:off x="9814255" y="6473952"/>
            <a:ext cx="1828800" cy="201168"/>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Horizon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28600"/>
          </a:xfrm>
          <a:prstGeom prst="rect">
            <a:avLst/>
          </a:prstGeom>
          <a:noFill/>
          <a:ln/>
        </p:spPr>
        <p:txBody>
          <a:bodyPr wrap="square" lIns="0" tIns="0" rIns="0" bIns="0" rtlCol="0" anchor="ctr"/>
          <a:lstStyle/>
          <a:p>
            <a:pPr indent="0" marL="0">
              <a:buNone/>
            </a:pPr>
            <a:r>
              <a:rPr lang="en-US" sz="1100" b="1" spc="300" kern="0" dirty="0">
                <a:solidFill>
                  <a:srgbClr val="05437A"/>
                </a:solidFill>
                <a:latin typeface="Calibri" pitchFamily="34" charset="0"/>
                <a:ea typeface="Calibri" pitchFamily="34" charset="-122"/>
                <a:cs typeface="Calibri" pitchFamily="34" charset="-120"/>
              </a:rPr>
              <a:t>WHAT HORIZON IS</a:t>
            </a:r>
            <a:endParaRPr lang="en-US" sz="1100" dirty="0"/>
          </a:p>
        </p:txBody>
      </p:sp>
      <p:sp>
        <p:nvSpPr>
          <p:cNvPr id="3" name="Text 1"/>
          <p:cNvSpPr txBox="1"/>
          <p:nvPr/>
        </p:nvSpPr>
        <p:spPr>
          <a:xfrm>
            <a:off x="548640" y="411480"/>
            <a:ext cx="5669280" cy="1188720"/>
          </a:xfrm>
          <a:prstGeom prst="rect">
            <a:avLst/>
          </a:prstGeom>
          <a:noFill/>
          <a:ln/>
        </p:spPr>
        <p:txBody>
          <a:bodyPr wrap="square" lIns="0" tIns="0" rIns="0" bIns="0" rtlCol="0" anchor="t"/>
          <a:lstStyle/>
          <a:p>
            <a:pPr indent="0" marL="0">
              <a:buNone/>
            </a:pPr>
            <a:r>
              <a:rPr lang="en-US" sz="3000" b="1" dirty="0">
                <a:solidFill>
                  <a:srgbClr val="10171F"/>
                </a:solidFill>
                <a:latin typeface="Cambria" pitchFamily="34" charset="0"/>
                <a:ea typeface="Cambria" pitchFamily="34" charset="-122"/>
                <a:cs typeface="Cambria" pitchFamily="34" charset="-120"/>
              </a:rPr>
              <a:t>One calm place for every request, case and conversation</a:t>
            </a:r>
            <a:endParaRPr lang="en-US" sz="3000" dirty="0"/>
          </a:p>
        </p:txBody>
      </p:sp>
      <p:sp>
        <p:nvSpPr>
          <p:cNvPr id="4" name="Text 2"/>
          <p:cNvSpPr txBox="1"/>
          <p:nvPr/>
        </p:nvSpPr>
        <p:spPr>
          <a:xfrm>
            <a:off x="548640" y="1691640"/>
            <a:ext cx="5120640" cy="868680"/>
          </a:xfrm>
          <a:prstGeom prst="rect">
            <a:avLst/>
          </a:prstGeom>
          <a:noFill/>
          <a:ln/>
        </p:spPr>
        <p:txBody>
          <a:bodyPr wrap="square" lIns="0" tIns="0" rIns="0" bIns="0" rtlCol="0" anchor="t"/>
          <a:lstStyle/>
          <a:p>
            <a:pPr indent="0" marL="0">
              <a:buNone/>
            </a:pPr>
            <a:r>
              <a:rPr lang="en-US" sz="1350" dirty="0">
                <a:solidFill>
                  <a:srgbClr val="616A75"/>
                </a:solidFill>
                <a:latin typeface="Calibri" pitchFamily="34" charset="0"/>
                <a:ea typeface="Calibri" pitchFamily="34" charset="-122"/>
                <a:cs typeface="Calibri" pitchFamily="34" charset="-120"/>
              </a:rPr>
              <a:t>A multi-tenant platform where each role has its own portal and sees only what it is allowed to see. Schools configure their own services, forms, approval routes and letters.</a:t>
            </a:r>
            <a:endParaRPr lang="en-US" sz="1350" dirty="0"/>
          </a:p>
        </p:txBody>
      </p:sp>
      <p:sp>
        <p:nvSpPr>
          <p:cNvPr id="5" name="Shape 3"/>
          <p:cNvSpPr/>
          <p:nvPr/>
        </p:nvSpPr>
        <p:spPr>
          <a:xfrm>
            <a:off x="548640" y="2743200"/>
            <a:ext cx="2468880" cy="868680"/>
          </a:xfrm>
          <a:prstGeom prst="roundRect">
            <a:avLst>
              <a:gd name="adj" fmla="val 10526"/>
            </a:avLst>
          </a:prstGeom>
          <a:solidFill>
            <a:srgbClr val="FFFFFF"/>
          </a:solidFill>
          <a:ln w="9525">
            <a:solidFill>
              <a:srgbClr val="DFE3E8"/>
            </a:solidFill>
            <a:prstDash val="solid"/>
          </a:ln>
        </p:spPr>
      </p:sp>
      <p:sp>
        <p:nvSpPr>
          <p:cNvPr id="6" name="Shape 4"/>
          <p:cNvSpPr/>
          <p:nvPr/>
        </p:nvSpPr>
        <p:spPr>
          <a:xfrm>
            <a:off x="713232" y="2962656"/>
            <a:ext cx="438912" cy="438912"/>
          </a:xfrm>
          <a:prstGeom prst="ellipse">
            <a:avLst/>
          </a:prstGeom>
          <a:solidFill>
            <a:srgbClr val="E3F0FF"/>
          </a:solidFill>
          <a:ln w="12700">
            <a:solidFill>
              <a:srgbClr val="E3F0FF"/>
            </a:solidFill>
            <a:prstDash val="solid"/>
          </a:ln>
        </p:spPr>
      </p:sp>
      <p:pic>
        <p:nvPicPr>
          <p:cNvPr id="7" name="Image 0" descr="preencoded.png">    </p:cNvPr>
          <p:cNvPicPr>
            <a:picLocks noChangeAspect="1"/>
          </p:cNvPicPr>
          <p:nvPr/>
        </p:nvPicPr>
        <p:blipFill>
          <a:blip r:embed="rId1"/>
          <a:stretch>
            <a:fillRect/>
          </a:stretch>
        </p:blipFill>
        <p:spPr>
          <a:xfrm>
            <a:off x="822960" y="3072384"/>
            <a:ext cx="219456" cy="219456"/>
          </a:xfrm>
          <a:prstGeom prst="rect">
            <a:avLst/>
          </a:prstGeom>
        </p:spPr>
      </p:pic>
      <p:sp>
        <p:nvSpPr>
          <p:cNvPr id="8" name="Text 5"/>
          <p:cNvSpPr txBox="1"/>
          <p:nvPr/>
        </p:nvSpPr>
        <p:spPr>
          <a:xfrm>
            <a:off x="1261872" y="2743200"/>
            <a:ext cx="1691640" cy="868680"/>
          </a:xfrm>
          <a:prstGeom prst="rect">
            <a:avLst/>
          </a:prstGeom>
          <a:noFill/>
          <a:ln/>
        </p:spPr>
        <p:txBody>
          <a:bodyPr wrap="square" lIns="0" tIns="0" rIns="0" bIns="0" rtlCol="0" anchor="ctr"/>
          <a:lstStyle/>
          <a:p>
            <a:pPr indent="0" marL="0">
              <a:buNone/>
            </a:pPr>
            <a:r>
              <a:rPr lang="en-US" sz="1300" b="1" dirty="0">
                <a:solidFill>
                  <a:srgbClr val="10171F"/>
                </a:solidFill>
                <a:latin typeface="Calibri" pitchFamily="34" charset="0"/>
                <a:ea typeface="Calibri" pitchFamily="34" charset="-122"/>
                <a:cs typeface="Calibri" pitchFamily="34" charset="-120"/>
              </a:rPr>
              <a:t>Services and approvals</a:t>
            </a:r>
            <a:endParaRPr lang="en-US" sz="1300" dirty="0"/>
          </a:p>
        </p:txBody>
      </p:sp>
      <p:sp>
        <p:nvSpPr>
          <p:cNvPr id="9" name="Shape 6"/>
          <p:cNvSpPr/>
          <p:nvPr/>
        </p:nvSpPr>
        <p:spPr>
          <a:xfrm>
            <a:off x="3154680" y="2743200"/>
            <a:ext cx="2468880" cy="868680"/>
          </a:xfrm>
          <a:prstGeom prst="roundRect">
            <a:avLst>
              <a:gd name="adj" fmla="val 10526"/>
            </a:avLst>
          </a:prstGeom>
          <a:solidFill>
            <a:srgbClr val="FFFFFF"/>
          </a:solidFill>
          <a:ln w="9525">
            <a:solidFill>
              <a:srgbClr val="DFE3E8"/>
            </a:solidFill>
            <a:prstDash val="solid"/>
          </a:ln>
        </p:spPr>
      </p:sp>
      <p:sp>
        <p:nvSpPr>
          <p:cNvPr id="10" name="Shape 7"/>
          <p:cNvSpPr/>
          <p:nvPr/>
        </p:nvSpPr>
        <p:spPr>
          <a:xfrm>
            <a:off x="3319272" y="2962656"/>
            <a:ext cx="438912" cy="438912"/>
          </a:xfrm>
          <a:prstGeom prst="ellipse">
            <a:avLst/>
          </a:prstGeom>
          <a:solidFill>
            <a:srgbClr val="E3F0FF"/>
          </a:solidFill>
          <a:ln w="12700">
            <a:solidFill>
              <a:srgbClr val="E3F0FF"/>
            </a:solidFill>
            <a:prstDash val="solid"/>
          </a:ln>
        </p:spPr>
      </p:sp>
      <p:pic>
        <p:nvPicPr>
          <p:cNvPr id="11" name="Image 1" descr="preencoded.png">    </p:cNvPr>
          <p:cNvPicPr>
            <a:picLocks noChangeAspect="1"/>
          </p:cNvPicPr>
          <p:nvPr/>
        </p:nvPicPr>
        <p:blipFill>
          <a:blip r:embed="rId2"/>
          <a:stretch>
            <a:fillRect/>
          </a:stretch>
        </p:blipFill>
        <p:spPr>
          <a:xfrm>
            <a:off x="3429000" y="3072384"/>
            <a:ext cx="219456" cy="219456"/>
          </a:xfrm>
          <a:prstGeom prst="rect">
            <a:avLst/>
          </a:prstGeom>
        </p:spPr>
      </p:pic>
      <p:sp>
        <p:nvSpPr>
          <p:cNvPr id="12" name="Text 8"/>
          <p:cNvSpPr txBox="1"/>
          <p:nvPr/>
        </p:nvSpPr>
        <p:spPr>
          <a:xfrm>
            <a:off x="3867912" y="2743200"/>
            <a:ext cx="1691640" cy="868680"/>
          </a:xfrm>
          <a:prstGeom prst="rect">
            <a:avLst/>
          </a:prstGeom>
          <a:noFill/>
          <a:ln/>
        </p:spPr>
        <p:txBody>
          <a:bodyPr wrap="square" lIns="0" tIns="0" rIns="0" bIns="0" rtlCol="0" anchor="ctr"/>
          <a:lstStyle/>
          <a:p>
            <a:pPr indent="0" marL="0">
              <a:buNone/>
            </a:pPr>
            <a:r>
              <a:rPr lang="en-US" sz="1300" b="1" dirty="0">
                <a:solidFill>
                  <a:srgbClr val="10171F"/>
                </a:solidFill>
                <a:latin typeface="Calibri" pitchFamily="34" charset="0"/>
                <a:ea typeface="Calibri" pitchFamily="34" charset="-122"/>
                <a:cs typeface="Calibri" pitchFamily="34" charset="-120"/>
              </a:rPr>
              <a:t>Cases and safeguarding</a:t>
            </a:r>
            <a:endParaRPr lang="en-US" sz="1300" dirty="0"/>
          </a:p>
        </p:txBody>
      </p:sp>
      <p:sp>
        <p:nvSpPr>
          <p:cNvPr id="13" name="Shape 9"/>
          <p:cNvSpPr/>
          <p:nvPr/>
        </p:nvSpPr>
        <p:spPr>
          <a:xfrm>
            <a:off x="548640" y="3767328"/>
            <a:ext cx="2468880" cy="868680"/>
          </a:xfrm>
          <a:prstGeom prst="roundRect">
            <a:avLst>
              <a:gd name="adj" fmla="val 10526"/>
            </a:avLst>
          </a:prstGeom>
          <a:solidFill>
            <a:srgbClr val="FFFFFF"/>
          </a:solidFill>
          <a:ln w="9525">
            <a:solidFill>
              <a:srgbClr val="DFE3E8"/>
            </a:solidFill>
            <a:prstDash val="solid"/>
          </a:ln>
        </p:spPr>
      </p:sp>
      <p:sp>
        <p:nvSpPr>
          <p:cNvPr id="14" name="Shape 10"/>
          <p:cNvSpPr/>
          <p:nvPr/>
        </p:nvSpPr>
        <p:spPr>
          <a:xfrm>
            <a:off x="713232" y="3986784"/>
            <a:ext cx="438912" cy="438912"/>
          </a:xfrm>
          <a:prstGeom prst="ellipse">
            <a:avLst/>
          </a:prstGeom>
          <a:solidFill>
            <a:srgbClr val="E3F0FF"/>
          </a:solidFill>
          <a:ln w="12700">
            <a:solidFill>
              <a:srgbClr val="E3F0FF"/>
            </a:solidFill>
            <a:prstDash val="solid"/>
          </a:ln>
        </p:spPr>
      </p:sp>
      <p:pic>
        <p:nvPicPr>
          <p:cNvPr id="15" name="Image 2" descr="preencoded.png">    </p:cNvPr>
          <p:cNvPicPr>
            <a:picLocks noChangeAspect="1"/>
          </p:cNvPicPr>
          <p:nvPr/>
        </p:nvPicPr>
        <p:blipFill>
          <a:blip r:embed="rId3"/>
          <a:stretch>
            <a:fillRect/>
          </a:stretch>
        </p:blipFill>
        <p:spPr>
          <a:xfrm>
            <a:off x="822960" y="4096512"/>
            <a:ext cx="219456" cy="219456"/>
          </a:xfrm>
          <a:prstGeom prst="rect">
            <a:avLst/>
          </a:prstGeom>
        </p:spPr>
      </p:pic>
      <p:sp>
        <p:nvSpPr>
          <p:cNvPr id="16" name="Text 11"/>
          <p:cNvSpPr txBox="1"/>
          <p:nvPr/>
        </p:nvSpPr>
        <p:spPr>
          <a:xfrm>
            <a:off x="1261872" y="3767328"/>
            <a:ext cx="1691640" cy="868680"/>
          </a:xfrm>
          <a:prstGeom prst="rect">
            <a:avLst/>
          </a:prstGeom>
          <a:noFill/>
          <a:ln/>
        </p:spPr>
        <p:txBody>
          <a:bodyPr wrap="square" lIns="0" tIns="0" rIns="0" bIns="0" rtlCol="0" anchor="ctr"/>
          <a:lstStyle/>
          <a:p>
            <a:pPr indent="0" marL="0">
              <a:buNone/>
            </a:pPr>
            <a:r>
              <a:rPr lang="en-US" sz="1300" b="1" dirty="0">
                <a:solidFill>
                  <a:srgbClr val="10171F"/>
                </a:solidFill>
                <a:latin typeface="Calibri" pitchFamily="34" charset="0"/>
                <a:ea typeface="Calibri" pitchFamily="34" charset="-122"/>
                <a:cs typeface="Calibri" pitchFamily="34" charset="-120"/>
              </a:rPr>
              <a:t>Meetings and calendar</a:t>
            </a:r>
            <a:endParaRPr lang="en-US" sz="1300" dirty="0"/>
          </a:p>
        </p:txBody>
      </p:sp>
      <p:sp>
        <p:nvSpPr>
          <p:cNvPr id="17" name="Shape 12"/>
          <p:cNvSpPr/>
          <p:nvPr/>
        </p:nvSpPr>
        <p:spPr>
          <a:xfrm>
            <a:off x="3154680" y="3767328"/>
            <a:ext cx="2468880" cy="868680"/>
          </a:xfrm>
          <a:prstGeom prst="roundRect">
            <a:avLst>
              <a:gd name="adj" fmla="val 10526"/>
            </a:avLst>
          </a:prstGeom>
          <a:solidFill>
            <a:srgbClr val="FFFFFF"/>
          </a:solidFill>
          <a:ln w="9525">
            <a:solidFill>
              <a:srgbClr val="DFE3E8"/>
            </a:solidFill>
            <a:prstDash val="solid"/>
          </a:ln>
        </p:spPr>
      </p:sp>
      <p:sp>
        <p:nvSpPr>
          <p:cNvPr id="18" name="Shape 13"/>
          <p:cNvSpPr/>
          <p:nvPr/>
        </p:nvSpPr>
        <p:spPr>
          <a:xfrm>
            <a:off x="3319272" y="3986784"/>
            <a:ext cx="438912" cy="438912"/>
          </a:xfrm>
          <a:prstGeom prst="ellipse">
            <a:avLst/>
          </a:prstGeom>
          <a:solidFill>
            <a:srgbClr val="E3F0FF"/>
          </a:solidFill>
          <a:ln w="12700">
            <a:solidFill>
              <a:srgbClr val="E3F0FF"/>
            </a:solidFill>
            <a:prstDash val="solid"/>
          </a:ln>
        </p:spPr>
      </p:sp>
      <p:pic>
        <p:nvPicPr>
          <p:cNvPr id="19" name="Image 3" descr="preencoded.png">    </p:cNvPr>
          <p:cNvPicPr>
            <a:picLocks noChangeAspect="1"/>
          </p:cNvPicPr>
          <p:nvPr/>
        </p:nvPicPr>
        <p:blipFill>
          <a:blip r:embed="rId4"/>
          <a:stretch>
            <a:fillRect/>
          </a:stretch>
        </p:blipFill>
        <p:spPr>
          <a:xfrm>
            <a:off x="3429000" y="4096512"/>
            <a:ext cx="219456" cy="219456"/>
          </a:xfrm>
          <a:prstGeom prst="rect">
            <a:avLst/>
          </a:prstGeom>
        </p:spPr>
      </p:pic>
      <p:sp>
        <p:nvSpPr>
          <p:cNvPr id="20" name="Text 14"/>
          <p:cNvSpPr txBox="1"/>
          <p:nvPr/>
        </p:nvSpPr>
        <p:spPr>
          <a:xfrm>
            <a:off x="3867912" y="3767328"/>
            <a:ext cx="1691640" cy="868680"/>
          </a:xfrm>
          <a:prstGeom prst="rect">
            <a:avLst/>
          </a:prstGeom>
          <a:noFill/>
          <a:ln/>
        </p:spPr>
        <p:txBody>
          <a:bodyPr wrap="square" lIns="0" tIns="0" rIns="0" bIns="0" rtlCol="0" anchor="ctr"/>
          <a:lstStyle/>
          <a:p>
            <a:pPr indent="0" marL="0">
              <a:buNone/>
            </a:pPr>
            <a:r>
              <a:rPr lang="en-US" sz="1300" b="1" dirty="0">
                <a:solidFill>
                  <a:srgbClr val="10171F"/>
                </a:solidFill>
                <a:latin typeface="Calibri" pitchFamily="34" charset="0"/>
                <a:ea typeface="Calibri" pitchFamily="34" charset="-122"/>
                <a:cs typeface="Calibri" pitchFamily="34" charset="-120"/>
              </a:rPr>
              <a:t>Letters and documents</a:t>
            </a:r>
            <a:endParaRPr lang="en-US" sz="1300" dirty="0"/>
          </a:p>
        </p:txBody>
      </p:sp>
      <p:sp>
        <p:nvSpPr>
          <p:cNvPr id="21" name="Shape 15"/>
          <p:cNvSpPr/>
          <p:nvPr/>
        </p:nvSpPr>
        <p:spPr>
          <a:xfrm>
            <a:off x="548640" y="4791456"/>
            <a:ext cx="2468880" cy="868680"/>
          </a:xfrm>
          <a:prstGeom prst="roundRect">
            <a:avLst>
              <a:gd name="adj" fmla="val 10526"/>
            </a:avLst>
          </a:prstGeom>
          <a:solidFill>
            <a:srgbClr val="FFFFFF"/>
          </a:solidFill>
          <a:ln w="9525">
            <a:solidFill>
              <a:srgbClr val="DFE3E8"/>
            </a:solidFill>
            <a:prstDash val="solid"/>
          </a:ln>
        </p:spPr>
      </p:sp>
      <p:sp>
        <p:nvSpPr>
          <p:cNvPr id="22" name="Shape 16"/>
          <p:cNvSpPr/>
          <p:nvPr/>
        </p:nvSpPr>
        <p:spPr>
          <a:xfrm>
            <a:off x="713232" y="5010912"/>
            <a:ext cx="438912" cy="438912"/>
          </a:xfrm>
          <a:prstGeom prst="ellipse">
            <a:avLst/>
          </a:prstGeom>
          <a:solidFill>
            <a:srgbClr val="E3F0FF"/>
          </a:solidFill>
          <a:ln w="12700">
            <a:solidFill>
              <a:srgbClr val="E3F0FF"/>
            </a:solidFill>
            <a:prstDash val="solid"/>
          </a:ln>
        </p:spPr>
      </p:sp>
      <p:pic>
        <p:nvPicPr>
          <p:cNvPr id="23" name="Image 4" descr="preencoded.png">    </p:cNvPr>
          <p:cNvPicPr>
            <a:picLocks noChangeAspect="1"/>
          </p:cNvPicPr>
          <p:nvPr/>
        </p:nvPicPr>
        <p:blipFill>
          <a:blip r:embed="rId5"/>
          <a:stretch>
            <a:fillRect/>
          </a:stretch>
        </p:blipFill>
        <p:spPr>
          <a:xfrm>
            <a:off x="822960" y="5120640"/>
            <a:ext cx="219456" cy="219456"/>
          </a:xfrm>
          <a:prstGeom prst="rect">
            <a:avLst/>
          </a:prstGeom>
        </p:spPr>
      </p:pic>
      <p:sp>
        <p:nvSpPr>
          <p:cNvPr id="24" name="Text 17"/>
          <p:cNvSpPr txBox="1"/>
          <p:nvPr/>
        </p:nvSpPr>
        <p:spPr>
          <a:xfrm>
            <a:off x="1261872" y="4791456"/>
            <a:ext cx="1691640" cy="868680"/>
          </a:xfrm>
          <a:prstGeom prst="rect">
            <a:avLst/>
          </a:prstGeom>
          <a:noFill/>
          <a:ln/>
        </p:spPr>
        <p:txBody>
          <a:bodyPr wrap="square" lIns="0" tIns="0" rIns="0" bIns="0" rtlCol="0" anchor="ctr"/>
          <a:lstStyle/>
          <a:p>
            <a:pPr indent="0" marL="0">
              <a:buNone/>
            </a:pPr>
            <a:r>
              <a:rPr lang="en-US" sz="1300" b="1" dirty="0">
                <a:solidFill>
                  <a:srgbClr val="10171F"/>
                </a:solidFill>
                <a:latin typeface="Calibri" pitchFamily="34" charset="0"/>
                <a:ea typeface="Calibri" pitchFamily="34" charset="-122"/>
                <a:cs typeface="Calibri" pitchFamily="34" charset="-120"/>
              </a:rPr>
              <a:t>Career and university pathways</a:t>
            </a:r>
            <a:endParaRPr lang="en-US" sz="1300" dirty="0"/>
          </a:p>
        </p:txBody>
      </p:sp>
      <p:sp>
        <p:nvSpPr>
          <p:cNvPr id="25" name="Shape 18"/>
          <p:cNvSpPr/>
          <p:nvPr/>
        </p:nvSpPr>
        <p:spPr>
          <a:xfrm>
            <a:off x="3154680" y="4791456"/>
            <a:ext cx="2468880" cy="868680"/>
          </a:xfrm>
          <a:prstGeom prst="roundRect">
            <a:avLst>
              <a:gd name="adj" fmla="val 10526"/>
            </a:avLst>
          </a:prstGeom>
          <a:solidFill>
            <a:srgbClr val="FFFFFF"/>
          </a:solidFill>
          <a:ln w="9525">
            <a:solidFill>
              <a:srgbClr val="DFE3E8"/>
            </a:solidFill>
            <a:prstDash val="solid"/>
          </a:ln>
        </p:spPr>
      </p:sp>
      <p:sp>
        <p:nvSpPr>
          <p:cNvPr id="26" name="Shape 19"/>
          <p:cNvSpPr/>
          <p:nvPr/>
        </p:nvSpPr>
        <p:spPr>
          <a:xfrm>
            <a:off x="3319272" y="5010912"/>
            <a:ext cx="438912" cy="438912"/>
          </a:xfrm>
          <a:prstGeom prst="ellipse">
            <a:avLst/>
          </a:prstGeom>
          <a:solidFill>
            <a:srgbClr val="E3F0FF"/>
          </a:solidFill>
          <a:ln w="12700">
            <a:solidFill>
              <a:srgbClr val="E3F0FF"/>
            </a:solidFill>
            <a:prstDash val="solid"/>
          </a:ln>
        </p:spPr>
      </p:sp>
      <p:pic>
        <p:nvPicPr>
          <p:cNvPr id="27" name="Image 5" descr="preencoded.png">    </p:cNvPr>
          <p:cNvPicPr>
            <a:picLocks noChangeAspect="1"/>
          </p:cNvPicPr>
          <p:nvPr/>
        </p:nvPicPr>
        <p:blipFill>
          <a:blip r:embed="rId6"/>
          <a:stretch>
            <a:fillRect/>
          </a:stretch>
        </p:blipFill>
        <p:spPr>
          <a:xfrm>
            <a:off x="3429000" y="5120640"/>
            <a:ext cx="219456" cy="219456"/>
          </a:xfrm>
          <a:prstGeom prst="rect">
            <a:avLst/>
          </a:prstGeom>
        </p:spPr>
      </p:pic>
      <p:sp>
        <p:nvSpPr>
          <p:cNvPr id="28" name="Text 20"/>
          <p:cNvSpPr txBox="1"/>
          <p:nvPr/>
        </p:nvSpPr>
        <p:spPr>
          <a:xfrm>
            <a:off x="3867912" y="4791456"/>
            <a:ext cx="1691640" cy="868680"/>
          </a:xfrm>
          <a:prstGeom prst="rect">
            <a:avLst/>
          </a:prstGeom>
          <a:noFill/>
          <a:ln/>
        </p:spPr>
        <p:txBody>
          <a:bodyPr wrap="square" lIns="0" tIns="0" rIns="0" bIns="0" rtlCol="0" anchor="ctr"/>
          <a:lstStyle/>
          <a:p>
            <a:pPr indent="0" marL="0">
              <a:buNone/>
            </a:pPr>
            <a:r>
              <a:rPr lang="en-US" sz="1300" b="1" dirty="0">
                <a:solidFill>
                  <a:srgbClr val="10171F"/>
                </a:solidFill>
                <a:latin typeface="Calibri" pitchFamily="34" charset="0"/>
                <a:ea typeface="Calibri" pitchFamily="34" charset="-122"/>
                <a:cs typeface="Calibri" pitchFamily="34" charset="-120"/>
              </a:rPr>
              <a:t>Subjects, timetable and grades</a:t>
            </a:r>
            <a:endParaRPr lang="en-US" sz="1300" dirty="0"/>
          </a:p>
        </p:txBody>
      </p:sp>
      <p:sp>
        <p:nvSpPr>
          <p:cNvPr id="29" name="Shape 21"/>
          <p:cNvSpPr/>
          <p:nvPr/>
        </p:nvSpPr>
        <p:spPr>
          <a:xfrm>
            <a:off x="6035040" y="1325880"/>
            <a:ext cx="5605272" cy="3713607"/>
          </a:xfrm>
          <a:prstGeom prst="roundRect">
            <a:avLst>
              <a:gd name="adj" fmla="val 1724"/>
            </a:avLst>
          </a:prstGeom>
          <a:solidFill>
            <a:srgbClr val="FFFFFF"/>
          </a:solidFill>
          <a:ln w="9525">
            <a:solidFill>
              <a:srgbClr val="DFE3E8"/>
            </a:solidFill>
            <a:prstDash val="solid"/>
          </a:ln>
          <a:effectLst>
            <a:outerShdw sx="100000" sy="100000" kx="0" ky="0" algn="bl" rotWithShape="0" blurRad="177800" dist="63500" dir="5400000">
              <a:srgbClr val="0C182A">
                <a:alpha val="16000"/>
              </a:srgbClr>
            </a:outerShdw>
          </a:effectLst>
        </p:spPr>
      </p:sp>
      <p:sp>
        <p:nvSpPr>
          <p:cNvPr id="30" name="Shape 22"/>
          <p:cNvSpPr/>
          <p:nvPr/>
        </p:nvSpPr>
        <p:spPr>
          <a:xfrm>
            <a:off x="6144768" y="1394460"/>
            <a:ext cx="77724" cy="77724"/>
          </a:xfrm>
          <a:prstGeom prst="ellipse">
            <a:avLst/>
          </a:prstGeom>
          <a:solidFill>
            <a:srgbClr val="E5776E"/>
          </a:solidFill>
          <a:ln w="12700">
            <a:solidFill>
              <a:srgbClr val="E5776E"/>
            </a:solidFill>
            <a:prstDash val="solid"/>
          </a:ln>
        </p:spPr>
      </p:sp>
      <p:sp>
        <p:nvSpPr>
          <p:cNvPr id="31" name="Shape 23"/>
          <p:cNvSpPr/>
          <p:nvPr/>
        </p:nvSpPr>
        <p:spPr>
          <a:xfrm>
            <a:off x="6263640" y="1394460"/>
            <a:ext cx="77724" cy="77724"/>
          </a:xfrm>
          <a:prstGeom prst="ellipse">
            <a:avLst/>
          </a:prstGeom>
          <a:solidFill>
            <a:srgbClr val="E8C35A"/>
          </a:solidFill>
          <a:ln w="12700">
            <a:solidFill>
              <a:srgbClr val="E8C35A"/>
            </a:solidFill>
            <a:prstDash val="solid"/>
          </a:ln>
        </p:spPr>
      </p:sp>
      <p:sp>
        <p:nvSpPr>
          <p:cNvPr id="32" name="Shape 24"/>
          <p:cNvSpPr/>
          <p:nvPr/>
        </p:nvSpPr>
        <p:spPr>
          <a:xfrm>
            <a:off x="6382512" y="1394460"/>
            <a:ext cx="77724" cy="77724"/>
          </a:xfrm>
          <a:prstGeom prst="ellipse">
            <a:avLst/>
          </a:prstGeom>
          <a:solidFill>
            <a:srgbClr val="6CC08A"/>
          </a:solidFill>
          <a:ln w="12700">
            <a:solidFill>
              <a:srgbClr val="6CC08A"/>
            </a:solidFill>
            <a:prstDash val="solid"/>
          </a:ln>
        </p:spPr>
      </p:sp>
      <p:pic>
        <p:nvPicPr>
          <p:cNvPr id="33" name="Image 6" descr="/tmp/claude-0/-home-user-School/397e64b2-6645-56da-9972-e1722fae0ce6/scratchpad/sales/imgdeck/demo-en.jpg">    </p:cNvPr>
          <p:cNvPicPr>
            <a:picLocks noChangeAspect="1"/>
          </p:cNvPicPr>
          <p:nvPr/>
        </p:nvPicPr>
        <p:blipFill>
          <a:blip r:embed="rId7"/>
          <a:stretch>
            <a:fillRect/>
          </a:stretch>
        </p:blipFill>
        <p:spPr>
          <a:xfrm>
            <a:off x="6071616" y="1545336"/>
            <a:ext cx="5532120" cy="3457575"/>
          </a:xfrm>
          <a:prstGeom prst="rect">
            <a:avLst/>
          </a:prstGeom>
        </p:spPr>
      </p:pic>
      <p:sp>
        <p:nvSpPr>
          <p:cNvPr id="34" name="Text 25"/>
          <p:cNvSpPr txBox="1"/>
          <p:nvPr/>
        </p:nvSpPr>
        <p:spPr>
          <a:xfrm>
            <a:off x="6035040" y="4983480"/>
            <a:ext cx="5605272" cy="274320"/>
          </a:xfrm>
          <a:prstGeom prst="rect">
            <a:avLst/>
          </a:prstGeom>
          <a:noFill/>
          <a:ln/>
        </p:spPr>
        <p:txBody>
          <a:bodyPr wrap="square" lIns="0" tIns="0" rIns="0" bIns="0" rtlCol="0" anchor="ctr"/>
          <a:lstStyle/>
          <a:p>
            <a:pPr indent="0" marL="0">
              <a:buNone/>
            </a:pPr>
            <a:r>
              <a:rPr lang="en-US" sz="1100" i="1" dirty="0">
                <a:solidFill>
                  <a:srgbClr val="616A75"/>
                </a:solidFill>
                <a:latin typeface="Calibri" pitchFamily="34" charset="0"/>
                <a:ea typeface="Calibri" pitchFamily="34" charset="-122"/>
                <a:cs typeface="Calibri" pitchFamily="34" charset="-120"/>
              </a:rPr>
              <a:t>The demo entry: every card is a real account with its own permissions.</a:t>
            </a:r>
            <a:endParaRPr lang="en-US" sz="1100" dirty="0"/>
          </a:p>
        </p:txBody>
      </p:sp>
      <p:sp>
        <p:nvSpPr>
          <p:cNvPr id="35" name="Text 26"/>
          <p:cNvSpPr txBox="1"/>
          <p:nvPr/>
        </p:nvSpPr>
        <p:spPr>
          <a:xfrm>
            <a:off x="9814255" y="6473952"/>
            <a:ext cx="1828800" cy="201168"/>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Horizon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28600"/>
          </a:xfrm>
          <a:prstGeom prst="rect">
            <a:avLst/>
          </a:prstGeom>
          <a:noFill/>
          <a:ln/>
        </p:spPr>
        <p:txBody>
          <a:bodyPr wrap="square" lIns="0" tIns="0" rIns="0" bIns="0" rtlCol="0" anchor="ctr"/>
          <a:lstStyle/>
          <a:p>
            <a:pPr indent="0" marL="0">
              <a:buNone/>
            </a:pPr>
            <a:r>
              <a:rPr lang="en-US" sz="1100" b="1" spc="300" kern="0" dirty="0">
                <a:solidFill>
                  <a:srgbClr val="05437A"/>
                </a:solidFill>
                <a:latin typeface="Calibri" pitchFamily="34" charset="0"/>
                <a:ea typeface="Calibri" pitchFamily="34" charset="-122"/>
                <a:cs typeface="Calibri" pitchFamily="34" charset="-120"/>
              </a:rPr>
              <a:t>END TO END</a:t>
            </a:r>
            <a:endParaRPr lang="en-US" sz="1100" dirty="0"/>
          </a:p>
        </p:txBody>
      </p:sp>
      <p:sp>
        <p:nvSpPr>
          <p:cNvPr id="3" name="Text 1"/>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000" b="1" dirty="0">
                <a:solidFill>
                  <a:srgbClr val="10171F"/>
                </a:solidFill>
                <a:latin typeface="Cambria" pitchFamily="34" charset="0"/>
                <a:ea typeface="Cambria" pitchFamily="34" charset="-122"/>
                <a:cs typeface="Cambria" pitchFamily="34" charset="-120"/>
              </a:rPr>
              <a:t>Five everyday journeys, fully connected</a:t>
            </a:r>
            <a:endParaRPr lang="en-US" sz="3000" dirty="0"/>
          </a:p>
        </p:txBody>
      </p:sp>
      <p:sp>
        <p:nvSpPr>
          <p:cNvPr id="4" name="Shape 2"/>
          <p:cNvSpPr/>
          <p:nvPr/>
        </p:nvSpPr>
        <p:spPr>
          <a:xfrm>
            <a:off x="548640" y="1463040"/>
            <a:ext cx="2057400" cy="4663440"/>
          </a:xfrm>
          <a:prstGeom prst="roundRect">
            <a:avLst>
              <a:gd name="adj" fmla="val 4444"/>
            </a:avLst>
          </a:prstGeom>
          <a:solidFill>
            <a:srgbClr val="FFFFFF"/>
          </a:solidFill>
          <a:ln w="9525">
            <a:solidFill>
              <a:srgbClr val="DFE3E8"/>
            </a:solidFill>
            <a:prstDash val="solid"/>
          </a:ln>
        </p:spPr>
      </p:sp>
      <p:sp>
        <p:nvSpPr>
          <p:cNvPr id="5" name="Shape 3"/>
          <p:cNvSpPr/>
          <p:nvPr/>
        </p:nvSpPr>
        <p:spPr>
          <a:xfrm>
            <a:off x="777240" y="1719072"/>
            <a:ext cx="548640" cy="548640"/>
          </a:xfrm>
          <a:prstGeom prst="ellipse">
            <a:avLst/>
          </a:prstGeom>
          <a:solidFill>
            <a:srgbClr val="05437A"/>
          </a:solidFill>
          <a:ln w="12700">
            <a:solidFill>
              <a:srgbClr val="05437A"/>
            </a:solidFill>
            <a:prstDash val="solid"/>
          </a:ln>
        </p:spPr>
      </p:sp>
      <p:pic>
        <p:nvPicPr>
          <p:cNvPr id="6" name="Image 0" descr="preencoded.png">    </p:cNvPr>
          <p:cNvPicPr>
            <a:picLocks noChangeAspect="1"/>
          </p:cNvPicPr>
          <p:nvPr/>
        </p:nvPicPr>
        <p:blipFill>
          <a:blip r:embed="rId1"/>
          <a:stretch>
            <a:fillRect/>
          </a:stretch>
        </p:blipFill>
        <p:spPr>
          <a:xfrm>
            <a:off x="914400" y="1856232"/>
            <a:ext cx="274320" cy="274320"/>
          </a:xfrm>
          <a:prstGeom prst="rect">
            <a:avLst/>
          </a:prstGeom>
        </p:spPr>
      </p:pic>
      <p:sp>
        <p:nvSpPr>
          <p:cNvPr id="7" name="Text 4"/>
          <p:cNvSpPr txBox="1"/>
          <p:nvPr/>
        </p:nvSpPr>
        <p:spPr>
          <a:xfrm>
            <a:off x="777240" y="2395728"/>
            <a:ext cx="1691640" cy="365760"/>
          </a:xfrm>
          <a:prstGeom prst="rect">
            <a:avLst/>
          </a:prstGeom>
          <a:noFill/>
          <a:ln/>
        </p:spPr>
        <p:txBody>
          <a:bodyPr wrap="square" lIns="0" tIns="0" rIns="0" bIns="0" rtlCol="0" anchor="ctr"/>
          <a:lstStyle/>
          <a:p>
            <a:pPr indent="0" marL="0">
              <a:buNone/>
            </a:pPr>
            <a:r>
              <a:rPr lang="en-US" sz="1500" b="1" dirty="0">
                <a:solidFill>
                  <a:srgbClr val="10171F"/>
                </a:solidFill>
                <a:latin typeface="Calibri" pitchFamily="34" charset="0"/>
                <a:ea typeface="Calibri" pitchFamily="34" charset="-122"/>
                <a:cs typeface="Calibri" pitchFamily="34" charset="-120"/>
              </a:rPr>
              <a:t>Career guidance</a:t>
            </a:r>
            <a:endParaRPr lang="en-US" sz="1500" dirty="0"/>
          </a:p>
        </p:txBody>
      </p:sp>
      <p:sp>
        <p:nvSpPr>
          <p:cNvPr id="8" name="Shape 5"/>
          <p:cNvSpPr/>
          <p:nvPr/>
        </p:nvSpPr>
        <p:spPr>
          <a:xfrm>
            <a:off x="777240" y="2926080"/>
            <a:ext cx="292608" cy="292608"/>
          </a:xfrm>
          <a:prstGeom prst="ellipse">
            <a:avLst/>
          </a:prstGeom>
          <a:solidFill>
            <a:srgbClr val="FCF1D4"/>
          </a:solidFill>
          <a:ln w="9525">
            <a:solidFill>
              <a:srgbClr val="C79E41"/>
            </a:solidFill>
            <a:prstDash val="solid"/>
          </a:ln>
        </p:spPr>
      </p:sp>
      <p:sp>
        <p:nvSpPr>
          <p:cNvPr id="9" name="Text 6"/>
          <p:cNvSpPr txBox="1"/>
          <p:nvPr/>
        </p:nvSpPr>
        <p:spPr>
          <a:xfrm>
            <a:off x="777240" y="2926080"/>
            <a:ext cx="292608" cy="292608"/>
          </a:xfrm>
          <a:prstGeom prst="rect">
            <a:avLst/>
          </a:prstGeom>
          <a:noFill/>
          <a:ln/>
        </p:spPr>
        <p:txBody>
          <a:bodyPr wrap="square" lIns="0" tIns="0" rIns="0" bIns="0" rtlCol="0" anchor="ctr"/>
          <a:lstStyle/>
          <a:p>
            <a:pPr algn="ctr" indent="0" marL="0">
              <a:buNone/>
            </a:pPr>
            <a:r>
              <a:rPr lang="en-US" sz="1000" b="1" dirty="0">
                <a:solidFill>
                  <a:srgbClr val="8A6A1F"/>
                </a:solidFill>
                <a:latin typeface="Calibri" pitchFamily="34" charset="0"/>
                <a:ea typeface="Calibri" pitchFamily="34" charset="-122"/>
                <a:cs typeface="Calibri" pitchFamily="34" charset="-120"/>
              </a:rPr>
              <a:t>1</a:t>
            </a:r>
            <a:endParaRPr lang="en-US" sz="1000" dirty="0"/>
          </a:p>
        </p:txBody>
      </p:sp>
      <p:sp>
        <p:nvSpPr>
          <p:cNvPr id="10" name="Text 7"/>
          <p:cNvSpPr txBox="1"/>
          <p:nvPr/>
        </p:nvSpPr>
        <p:spPr>
          <a:xfrm>
            <a:off x="1152144" y="2889504"/>
            <a:ext cx="1325880" cy="658368"/>
          </a:xfrm>
          <a:prstGeom prst="rect">
            <a:avLst/>
          </a:prstGeom>
          <a:noFill/>
          <a:ln/>
        </p:spPr>
        <p:txBody>
          <a:bodyPr wrap="square" lIns="0" tIns="0" rIns="0" bIns="0" rtlCol="0" anchor="t"/>
          <a:lstStyle/>
          <a:p>
            <a:pPr indent="0" marL="0">
              <a:buNone/>
            </a:pPr>
            <a:r>
              <a:rPr lang="en-US" sz="1150" dirty="0">
                <a:solidFill>
                  <a:srgbClr val="10171F"/>
                </a:solidFill>
                <a:latin typeface="Calibri" pitchFamily="34" charset="0"/>
                <a:ea typeface="Calibri" pitchFamily="34" charset="-122"/>
                <a:cs typeface="Calibri" pitchFamily="34" charset="-120"/>
              </a:rPr>
              <a:t>Student takes the aptitude assessment</a:t>
            </a:r>
            <a:endParaRPr lang="en-US" sz="1150" dirty="0"/>
          </a:p>
        </p:txBody>
      </p:sp>
      <p:sp>
        <p:nvSpPr>
          <p:cNvPr id="11" name="Shape 8"/>
          <p:cNvSpPr/>
          <p:nvPr/>
        </p:nvSpPr>
        <p:spPr>
          <a:xfrm>
            <a:off x="777240" y="3703320"/>
            <a:ext cx="292608" cy="292608"/>
          </a:xfrm>
          <a:prstGeom prst="ellipse">
            <a:avLst/>
          </a:prstGeom>
          <a:solidFill>
            <a:srgbClr val="FCF1D4"/>
          </a:solidFill>
          <a:ln w="9525">
            <a:solidFill>
              <a:srgbClr val="C79E41"/>
            </a:solidFill>
            <a:prstDash val="solid"/>
          </a:ln>
        </p:spPr>
      </p:sp>
      <p:sp>
        <p:nvSpPr>
          <p:cNvPr id="12" name="Text 9"/>
          <p:cNvSpPr txBox="1"/>
          <p:nvPr/>
        </p:nvSpPr>
        <p:spPr>
          <a:xfrm>
            <a:off x="777240" y="3703320"/>
            <a:ext cx="292608" cy="292608"/>
          </a:xfrm>
          <a:prstGeom prst="rect">
            <a:avLst/>
          </a:prstGeom>
          <a:noFill/>
          <a:ln/>
        </p:spPr>
        <p:txBody>
          <a:bodyPr wrap="square" lIns="0" tIns="0" rIns="0" bIns="0" rtlCol="0" anchor="ctr"/>
          <a:lstStyle/>
          <a:p>
            <a:pPr algn="ctr" indent="0" marL="0">
              <a:buNone/>
            </a:pPr>
            <a:r>
              <a:rPr lang="en-US" sz="1000" b="1" dirty="0">
                <a:solidFill>
                  <a:srgbClr val="8A6A1F"/>
                </a:solidFill>
                <a:latin typeface="Calibri" pitchFamily="34" charset="0"/>
                <a:ea typeface="Calibri" pitchFamily="34" charset="-122"/>
                <a:cs typeface="Calibri" pitchFamily="34" charset="-120"/>
              </a:rPr>
              <a:t>2</a:t>
            </a:r>
            <a:endParaRPr lang="en-US" sz="1000" dirty="0"/>
          </a:p>
        </p:txBody>
      </p:sp>
      <p:sp>
        <p:nvSpPr>
          <p:cNvPr id="13" name="Text 10"/>
          <p:cNvSpPr txBox="1"/>
          <p:nvPr/>
        </p:nvSpPr>
        <p:spPr>
          <a:xfrm>
            <a:off x="1152144" y="3666744"/>
            <a:ext cx="1325880" cy="658368"/>
          </a:xfrm>
          <a:prstGeom prst="rect">
            <a:avLst/>
          </a:prstGeom>
          <a:noFill/>
          <a:ln/>
        </p:spPr>
        <p:txBody>
          <a:bodyPr wrap="square" lIns="0" tIns="0" rIns="0" bIns="0" rtlCol="0" anchor="t"/>
          <a:lstStyle/>
          <a:p>
            <a:pPr indent="0" marL="0">
              <a:buNone/>
            </a:pPr>
            <a:r>
              <a:rPr lang="en-US" sz="1150" dirty="0">
                <a:solidFill>
                  <a:srgbClr val="10171F"/>
                </a:solidFill>
                <a:latin typeface="Calibri" pitchFamily="34" charset="0"/>
                <a:ea typeface="Calibri" pitchFamily="34" charset="-122"/>
                <a:cs typeface="Calibri" pitchFamily="34" charset="-120"/>
              </a:rPr>
              <a:t>Chooses a matched career</a:t>
            </a:r>
            <a:endParaRPr lang="en-US" sz="1150" dirty="0"/>
          </a:p>
        </p:txBody>
      </p:sp>
      <p:sp>
        <p:nvSpPr>
          <p:cNvPr id="14" name="Shape 11"/>
          <p:cNvSpPr/>
          <p:nvPr/>
        </p:nvSpPr>
        <p:spPr>
          <a:xfrm>
            <a:off x="777240" y="4480560"/>
            <a:ext cx="292608" cy="292608"/>
          </a:xfrm>
          <a:prstGeom prst="ellipse">
            <a:avLst/>
          </a:prstGeom>
          <a:solidFill>
            <a:srgbClr val="FCF1D4"/>
          </a:solidFill>
          <a:ln w="9525">
            <a:solidFill>
              <a:srgbClr val="C79E41"/>
            </a:solidFill>
            <a:prstDash val="solid"/>
          </a:ln>
        </p:spPr>
      </p:sp>
      <p:sp>
        <p:nvSpPr>
          <p:cNvPr id="15" name="Text 12"/>
          <p:cNvSpPr txBox="1"/>
          <p:nvPr/>
        </p:nvSpPr>
        <p:spPr>
          <a:xfrm>
            <a:off x="777240" y="4480560"/>
            <a:ext cx="292608" cy="292608"/>
          </a:xfrm>
          <a:prstGeom prst="rect">
            <a:avLst/>
          </a:prstGeom>
          <a:noFill/>
          <a:ln/>
        </p:spPr>
        <p:txBody>
          <a:bodyPr wrap="square" lIns="0" tIns="0" rIns="0" bIns="0" rtlCol="0" anchor="ctr"/>
          <a:lstStyle/>
          <a:p>
            <a:pPr algn="ctr" indent="0" marL="0">
              <a:buNone/>
            </a:pPr>
            <a:r>
              <a:rPr lang="en-US" sz="1000" b="1" dirty="0">
                <a:solidFill>
                  <a:srgbClr val="8A6A1F"/>
                </a:solidFill>
                <a:latin typeface="Calibri" pitchFamily="34" charset="0"/>
                <a:ea typeface="Calibri" pitchFamily="34" charset="-122"/>
                <a:cs typeface="Calibri" pitchFamily="34" charset="-120"/>
              </a:rPr>
              <a:t>3</a:t>
            </a:r>
            <a:endParaRPr lang="en-US" sz="1000" dirty="0"/>
          </a:p>
        </p:txBody>
      </p:sp>
      <p:sp>
        <p:nvSpPr>
          <p:cNvPr id="16" name="Text 13"/>
          <p:cNvSpPr txBox="1"/>
          <p:nvPr/>
        </p:nvSpPr>
        <p:spPr>
          <a:xfrm>
            <a:off x="1152144" y="4443984"/>
            <a:ext cx="1325880" cy="658368"/>
          </a:xfrm>
          <a:prstGeom prst="rect">
            <a:avLst/>
          </a:prstGeom>
          <a:noFill/>
          <a:ln/>
        </p:spPr>
        <p:txBody>
          <a:bodyPr wrap="square" lIns="0" tIns="0" rIns="0" bIns="0" rtlCol="0" anchor="t"/>
          <a:lstStyle/>
          <a:p>
            <a:pPr indent="0" marL="0">
              <a:buNone/>
            </a:pPr>
            <a:r>
              <a:rPr lang="en-US" sz="1150" dirty="0">
                <a:solidFill>
                  <a:srgbClr val="10171F"/>
                </a:solidFill>
                <a:latin typeface="Calibri" pitchFamily="34" charset="0"/>
                <a:ea typeface="Calibri" pitchFamily="34" charset="-122"/>
                <a:cs typeface="Calibri" pitchFamily="34" charset="-120"/>
              </a:rPr>
              <a:t>Books the career advisor</a:t>
            </a:r>
            <a:endParaRPr lang="en-US" sz="1150" dirty="0"/>
          </a:p>
        </p:txBody>
      </p:sp>
      <p:sp>
        <p:nvSpPr>
          <p:cNvPr id="17" name="Shape 14"/>
          <p:cNvSpPr/>
          <p:nvPr/>
        </p:nvSpPr>
        <p:spPr>
          <a:xfrm>
            <a:off x="777240" y="5257800"/>
            <a:ext cx="292608" cy="292608"/>
          </a:xfrm>
          <a:prstGeom prst="ellipse">
            <a:avLst/>
          </a:prstGeom>
          <a:solidFill>
            <a:srgbClr val="FCF1D4"/>
          </a:solidFill>
          <a:ln w="9525">
            <a:solidFill>
              <a:srgbClr val="C79E41"/>
            </a:solidFill>
            <a:prstDash val="solid"/>
          </a:ln>
        </p:spPr>
      </p:sp>
      <p:sp>
        <p:nvSpPr>
          <p:cNvPr id="18" name="Text 15"/>
          <p:cNvSpPr txBox="1"/>
          <p:nvPr/>
        </p:nvSpPr>
        <p:spPr>
          <a:xfrm>
            <a:off x="777240" y="5257800"/>
            <a:ext cx="292608" cy="292608"/>
          </a:xfrm>
          <a:prstGeom prst="rect">
            <a:avLst/>
          </a:prstGeom>
          <a:noFill/>
          <a:ln/>
        </p:spPr>
        <p:txBody>
          <a:bodyPr wrap="square" lIns="0" tIns="0" rIns="0" bIns="0" rtlCol="0" anchor="ctr"/>
          <a:lstStyle/>
          <a:p>
            <a:pPr algn="ctr" indent="0" marL="0">
              <a:buNone/>
            </a:pPr>
            <a:r>
              <a:rPr lang="en-US" sz="1000" b="1" dirty="0">
                <a:solidFill>
                  <a:srgbClr val="8A6A1F"/>
                </a:solidFill>
                <a:latin typeface="Calibri" pitchFamily="34" charset="0"/>
                <a:ea typeface="Calibri" pitchFamily="34" charset="-122"/>
                <a:cs typeface="Calibri" pitchFamily="34" charset="-120"/>
              </a:rPr>
              <a:t>4</a:t>
            </a:r>
            <a:endParaRPr lang="en-US" sz="1000" dirty="0"/>
          </a:p>
        </p:txBody>
      </p:sp>
      <p:sp>
        <p:nvSpPr>
          <p:cNvPr id="19" name="Text 16"/>
          <p:cNvSpPr txBox="1"/>
          <p:nvPr/>
        </p:nvSpPr>
        <p:spPr>
          <a:xfrm>
            <a:off x="1152144" y="5221224"/>
            <a:ext cx="1325880" cy="658368"/>
          </a:xfrm>
          <a:prstGeom prst="rect">
            <a:avLst/>
          </a:prstGeom>
          <a:noFill/>
          <a:ln/>
        </p:spPr>
        <p:txBody>
          <a:bodyPr wrap="square" lIns="0" tIns="0" rIns="0" bIns="0" rtlCol="0" anchor="t"/>
          <a:lstStyle/>
          <a:p>
            <a:pPr indent="0" marL="0">
              <a:buNone/>
            </a:pPr>
            <a:r>
              <a:rPr lang="en-US" sz="1150" dirty="0">
                <a:solidFill>
                  <a:srgbClr val="10171F"/>
                </a:solidFill>
                <a:latin typeface="Calibri" pitchFamily="34" charset="0"/>
                <a:ea typeface="Calibri" pitchFamily="34" charset="-122"/>
                <a:cs typeface="Calibri" pitchFamily="34" charset="-120"/>
              </a:rPr>
              <a:t>Advisor approves a plan the family sees</a:t>
            </a:r>
            <a:endParaRPr lang="en-US" sz="1150" dirty="0"/>
          </a:p>
        </p:txBody>
      </p:sp>
      <p:sp>
        <p:nvSpPr>
          <p:cNvPr id="20" name="Shape 17"/>
          <p:cNvSpPr/>
          <p:nvPr/>
        </p:nvSpPr>
        <p:spPr>
          <a:xfrm>
            <a:off x="2807208" y="1463040"/>
            <a:ext cx="2057400" cy="4663440"/>
          </a:xfrm>
          <a:prstGeom prst="roundRect">
            <a:avLst>
              <a:gd name="adj" fmla="val 4444"/>
            </a:avLst>
          </a:prstGeom>
          <a:solidFill>
            <a:srgbClr val="FFFFFF"/>
          </a:solidFill>
          <a:ln w="9525">
            <a:solidFill>
              <a:srgbClr val="DFE3E8"/>
            </a:solidFill>
            <a:prstDash val="solid"/>
          </a:ln>
        </p:spPr>
      </p:sp>
      <p:sp>
        <p:nvSpPr>
          <p:cNvPr id="21" name="Shape 18"/>
          <p:cNvSpPr/>
          <p:nvPr/>
        </p:nvSpPr>
        <p:spPr>
          <a:xfrm>
            <a:off x="3035808" y="1719072"/>
            <a:ext cx="548640" cy="548640"/>
          </a:xfrm>
          <a:prstGeom prst="ellipse">
            <a:avLst/>
          </a:prstGeom>
          <a:solidFill>
            <a:srgbClr val="05437A"/>
          </a:solidFill>
          <a:ln w="12700">
            <a:solidFill>
              <a:srgbClr val="05437A"/>
            </a:solidFill>
            <a:prstDash val="solid"/>
          </a:ln>
        </p:spPr>
      </p:sp>
      <p:pic>
        <p:nvPicPr>
          <p:cNvPr id="22" name="Image 1" descr="preencoded.png">    </p:cNvPr>
          <p:cNvPicPr>
            <a:picLocks noChangeAspect="1"/>
          </p:cNvPicPr>
          <p:nvPr/>
        </p:nvPicPr>
        <p:blipFill>
          <a:blip r:embed="rId2"/>
          <a:stretch>
            <a:fillRect/>
          </a:stretch>
        </p:blipFill>
        <p:spPr>
          <a:xfrm>
            <a:off x="3172968" y="1856232"/>
            <a:ext cx="274320" cy="274320"/>
          </a:xfrm>
          <a:prstGeom prst="rect">
            <a:avLst/>
          </a:prstGeom>
        </p:spPr>
      </p:pic>
      <p:sp>
        <p:nvSpPr>
          <p:cNvPr id="23" name="Text 19"/>
          <p:cNvSpPr txBox="1"/>
          <p:nvPr/>
        </p:nvSpPr>
        <p:spPr>
          <a:xfrm>
            <a:off x="3035808" y="2395728"/>
            <a:ext cx="1691640" cy="365760"/>
          </a:xfrm>
          <a:prstGeom prst="rect">
            <a:avLst/>
          </a:prstGeom>
          <a:noFill/>
          <a:ln/>
        </p:spPr>
        <p:txBody>
          <a:bodyPr wrap="square" lIns="0" tIns="0" rIns="0" bIns="0" rtlCol="0" anchor="ctr"/>
          <a:lstStyle/>
          <a:p>
            <a:pPr indent="0" marL="0">
              <a:buNone/>
            </a:pPr>
            <a:r>
              <a:rPr lang="en-US" sz="1500" b="1" dirty="0">
                <a:solidFill>
                  <a:srgbClr val="10171F"/>
                </a:solidFill>
                <a:latin typeface="Calibri" pitchFamily="34" charset="0"/>
                <a:ea typeface="Calibri" pitchFamily="34" charset="-122"/>
                <a:cs typeface="Calibri" pitchFamily="34" charset="-120"/>
              </a:rPr>
              <a:t>Teacher referral</a:t>
            </a:r>
            <a:endParaRPr lang="en-US" sz="1500" dirty="0"/>
          </a:p>
        </p:txBody>
      </p:sp>
      <p:sp>
        <p:nvSpPr>
          <p:cNvPr id="24" name="Shape 20"/>
          <p:cNvSpPr/>
          <p:nvPr/>
        </p:nvSpPr>
        <p:spPr>
          <a:xfrm>
            <a:off x="3035808" y="2926080"/>
            <a:ext cx="292608" cy="292608"/>
          </a:xfrm>
          <a:prstGeom prst="ellipse">
            <a:avLst/>
          </a:prstGeom>
          <a:solidFill>
            <a:srgbClr val="FCF1D4"/>
          </a:solidFill>
          <a:ln w="9525">
            <a:solidFill>
              <a:srgbClr val="C79E41"/>
            </a:solidFill>
            <a:prstDash val="solid"/>
          </a:ln>
        </p:spPr>
      </p:sp>
      <p:sp>
        <p:nvSpPr>
          <p:cNvPr id="25" name="Text 21"/>
          <p:cNvSpPr txBox="1"/>
          <p:nvPr/>
        </p:nvSpPr>
        <p:spPr>
          <a:xfrm>
            <a:off x="3035808" y="2926080"/>
            <a:ext cx="292608" cy="292608"/>
          </a:xfrm>
          <a:prstGeom prst="rect">
            <a:avLst/>
          </a:prstGeom>
          <a:noFill/>
          <a:ln/>
        </p:spPr>
        <p:txBody>
          <a:bodyPr wrap="square" lIns="0" tIns="0" rIns="0" bIns="0" rtlCol="0" anchor="ctr"/>
          <a:lstStyle/>
          <a:p>
            <a:pPr algn="ctr" indent="0" marL="0">
              <a:buNone/>
            </a:pPr>
            <a:r>
              <a:rPr lang="en-US" sz="1000" b="1" dirty="0">
                <a:solidFill>
                  <a:srgbClr val="8A6A1F"/>
                </a:solidFill>
                <a:latin typeface="Calibri" pitchFamily="34" charset="0"/>
                <a:ea typeface="Calibri" pitchFamily="34" charset="-122"/>
                <a:cs typeface="Calibri" pitchFamily="34" charset="-120"/>
              </a:rPr>
              <a:t>1</a:t>
            </a:r>
            <a:endParaRPr lang="en-US" sz="1000" dirty="0"/>
          </a:p>
        </p:txBody>
      </p:sp>
      <p:sp>
        <p:nvSpPr>
          <p:cNvPr id="26" name="Text 22"/>
          <p:cNvSpPr txBox="1"/>
          <p:nvPr/>
        </p:nvSpPr>
        <p:spPr>
          <a:xfrm>
            <a:off x="3410712" y="2889504"/>
            <a:ext cx="1325880" cy="658368"/>
          </a:xfrm>
          <a:prstGeom prst="rect">
            <a:avLst/>
          </a:prstGeom>
          <a:noFill/>
          <a:ln/>
        </p:spPr>
        <p:txBody>
          <a:bodyPr wrap="square" lIns="0" tIns="0" rIns="0" bIns="0" rtlCol="0" anchor="t"/>
          <a:lstStyle/>
          <a:p>
            <a:pPr indent="0" marL="0">
              <a:buNone/>
            </a:pPr>
            <a:r>
              <a:rPr lang="en-US" sz="1150" dirty="0">
                <a:solidFill>
                  <a:srgbClr val="10171F"/>
                </a:solidFill>
                <a:latin typeface="Calibri" pitchFamily="34" charset="0"/>
                <a:ea typeface="Calibri" pitchFamily="34" charset="-122"/>
                <a:cs typeface="Calibri" pitchFamily="34" charset="-120"/>
              </a:rPr>
              <a:t>Teacher refers in two minutes</a:t>
            </a:r>
            <a:endParaRPr lang="en-US" sz="1150" dirty="0"/>
          </a:p>
        </p:txBody>
      </p:sp>
      <p:sp>
        <p:nvSpPr>
          <p:cNvPr id="27" name="Shape 23"/>
          <p:cNvSpPr/>
          <p:nvPr/>
        </p:nvSpPr>
        <p:spPr>
          <a:xfrm>
            <a:off x="3035808" y="3703320"/>
            <a:ext cx="292608" cy="292608"/>
          </a:xfrm>
          <a:prstGeom prst="ellipse">
            <a:avLst/>
          </a:prstGeom>
          <a:solidFill>
            <a:srgbClr val="FCF1D4"/>
          </a:solidFill>
          <a:ln w="9525">
            <a:solidFill>
              <a:srgbClr val="C79E41"/>
            </a:solidFill>
            <a:prstDash val="solid"/>
          </a:ln>
        </p:spPr>
      </p:sp>
      <p:sp>
        <p:nvSpPr>
          <p:cNvPr id="28" name="Text 24"/>
          <p:cNvSpPr txBox="1"/>
          <p:nvPr/>
        </p:nvSpPr>
        <p:spPr>
          <a:xfrm>
            <a:off x="3035808" y="3703320"/>
            <a:ext cx="292608" cy="292608"/>
          </a:xfrm>
          <a:prstGeom prst="rect">
            <a:avLst/>
          </a:prstGeom>
          <a:noFill/>
          <a:ln/>
        </p:spPr>
        <p:txBody>
          <a:bodyPr wrap="square" lIns="0" tIns="0" rIns="0" bIns="0" rtlCol="0" anchor="ctr"/>
          <a:lstStyle/>
          <a:p>
            <a:pPr algn="ctr" indent="0" marL="0">
              <a:buNone/>
            </a:pPr>
            <a:r>
              <a:rPr lang="en-US" sz="1000" b="1" dirty="0">
                <a:solidFill>
                  <a:srgbClr val="8A6A1F"/>
                </a:solidFill>
                <a:latin typeface="Calibri" pitchFamily="34" charset="0"/>
                <a:ea typeface="Calibri" pitchFamily="34" charset="-122"/>
                <a:cs typeface="Calibri" pitchFamily="34" charset="-120"/>
              </a:rPr>
              <a:t>2</a:t>
            </a:r>
            <a:endParaRPr lang="en-US" sz="1000" dirty="0"/>
          </a:p>
        </p:txBody>
      </p:sp>
      <p:sp>
        <p:nvSpPr>
          <p:cNvPr id="29" name="Text 25"/>
          <p:cNvSpPr txBox="1"/>
          <p:nvPr/>
        </p:nvSpPr>
        <p:spPr>
          <a:xfrm>
            <a:off x="3410712" y="3666744"/>
            <a:ext cx="1325880" cy="658368"/>
          </a:xfrm>
          <a:prstGeom prst="rect">
            <a:avLst/>
          </a:prstGeom>
          <a:noFill/>
          <a:ln/>
        </p:spPr>
        <p:txBody>
          <a:bodyPr wrap="square" lIns="0" tIns="0" rIns="0" bIns="0" rtlCol="0" anchor="t"/>
          <a:lstStyle/>
          <a:p>
            <a:pPr indent="0" marL="0">
              <a:buNone/>
            </a:pPr>
            <a:r>
              <a:rPr lang="en-US" sz="1150" dirty="0">
                <a:solidFill>
                  <a:srgbClr val="10171F"/>
                </a:solidFill>
                <a:latin typeface="Calibri" pitchFamily="34" charset="0"/>
                <a:ea typeface="Calibri" pitchFamily="34" charset="-122"/>
                <a:cs typeface="Calibri" pitchFamily="34" charset="-120"/>
              </a:rPr>
              <a:t>Counselor opens a case</a:t>
            </a:r>
            <a:endParaRPr lang="en-US" sz="1150" dirty="0"/>
          </a:p>
        </p:txBody>
      </p:sp>
      <p:sp>
        <p:nvSpPr>
          <p:cNvPr id="30" name="Shape 26"/>
          <p:cNvSpPr/>
          <p:nvPr/>
        </p:nvSpPr>
        <p:spPr>
          <a:xfrm>
            <a:off x="3035808" y="4480560"/>
            <a:ext cx="292608" cy="292608"/>
          </a:xfrm>
          <a:prstGeom prst="ellipse">
            <a:avLst/>
          </a:prstGeom>
          <a:solidFill>
            <a:srgbClr val="FCF1D4"/>
          </a:solidFill>
          <a:ln w="9525">
            <a:solidFill>
              <a:srgbClr val="C79E41"/>
            </a:solidFill>
            <a:prstDash val="solid"/>
          </a:ln>
        </p:spPr>
      </p:sp>
      <p:sp>
        <p:nvSpPr>
          <p:cNvPr id="31" name="Text 27"/>
          <p:cNvSpPr txBox="1"/>
          <p:nvPr/>
        </p:nvSpPr>
        <p:spPr>
          <a:xfrm>
            <a:off x="3035808" y="4480560"/>
            <a:ext cx="292608" cy="292608"/>
          </a:xfrm>
          <a:prstGeom prst="rect">
            <a:avLst/>
          </a:prstGeom>
          <a:noFill/>
          <a:ln/>
        </p:spPr>
        <p:txBody>
          <a:bodyPr wrap="square" lIns="0" tIns="0" rIns="0" bIns="0" rtlCol="0" anchor="ctr"/>
          <a:lstStyle/>
          <a:p>
            <a:pPr algn="ctr" indent="0" marL="0">
              <a:buNone/>
            </a:pPr>
            <a:r>
              <a:rPr lang="en-US" sz="1000" b="1" dirty="0">
                <a:solidFill>
                  <a:srgbClr val="8A6A1F"/>
                </a:solidFill>
                <a:latin typeface="Calibri" pitchFamily="34" charset="0"/>
                <a:ea typeface="Calibri" pitchFamily="34" charset="-122"/>
                <a:cs typeface="Calibri" pitchFamily="34" charset="-120"/>
              </a:rPr>
              <a:t>3</a:t>
            </a:r>
            <a:endParaRPr lang="en-US" sz="1000" dirty="0"/>
          </a:p>
        </p:txBody>
      </p:sp>
      <p:sp>
        <p:nvSpPr>
          <p:cNvPr id="32" name="Text 28"/>
          <p:cNvSpPr txBox="1"/>
          <p:nvPr/>
        </p:nvSpPr>
        <p:spPr>
          <a:xfrm>
            <a:off x="3410712" y="4443984"/>
            <a:ext cx="1325880" cy="658368"/>
          </a:xfrm>
          <a:prstGeom prst="rect">
            <a:avLst/>
          </a:prstGeom>
          <a:noFill/>
          <a:ln/>
        </p:spPr>
        <p:txBody>
          <a:bodyPr wrap="square" lIns="0" tIns="0" rIns="0" bIns="0" rtlCol="0" anchor="t"/>
          <a:lstStyle/>
          <a:p>
            <a:pPr indent="0" marL="0">
              <a:buNone/>
            </a:pPr>
            <a:r>
              <a:rPr lang="en-US" sz="1150" dirty="0">
                <a:solidFill>
                  <a:srgbClr val="10171F"/>
                </a:solidFill>
                <a:latin typeface="Calibri" pitchFamily="34" charset="0"/>
                <a:ea typeface="Calibri" pitchFamily="34" charset="-122"/>
                <a:cs typeface="Calibri" pitchFamily="34" charset="-120"/>
              </a:rPr>
              <a:t>Parent meeting booked</a:t>
            </a:r>
            <a:endParaRPr lang="en-US" sz="1150" dirty="0"/>
          </a:p>
        </p:txBody>
      </p:sp>
      <p:sp>
        <p:nvSpPr>
          <p:cNvPr id="33" name="Shape 29"/>
          <p:cNvSpPr/>
          <p:nvPr/>
        </p:nvSpPr>
        <p:spPr>
          <a:xfrm>
            <a:off x="3035808" y="5257800"/>
            <a:ext cx="292608" cy="292608"/>
          </a:xfrm>
          <a:prstGeom prst="ellipse">
            <a:avLst/>
          </a:prstGeom>
          <a:solidFill>
            <a:srgbClr val="FCF1D4"/>
          </a:solidFill>
          <a:ln w="9525">
            <a:solidFill>
              <a:srgbClr val="C79E41"/>
            </a:solidFill>
            <a:prstDash val="solid"/>
          </a:ln>
        </p:spPr>
      </p:sp>
      <p:sp>
        <p:nvSpPr>
          <p:cNvPr id="34" name="Text 30"/>
          <p:cNvSpPr txBox="1"/>
          <p:nvPr/>
        </p:nvSpPr>
        <p:spPr>
          <a:xfrm>
            <a:off x="3035808" y="5257800"/>
            <a:ext cx="292608" cy="292608"/>
          </a:xfrm>
          <a:prstGeom prst="rect">
            <a:avLst/>
          </a:prstGeom>
          <a:noFill/>
          <a:ln/>
        </p:spPr>
        <p:txBody>
          <a:bodyPr wrap="square" lIns="0" tIns="0" rIns="0" bIns="0" rtlCol="0" anchor="ctr"/>
          <a:lstStyle/>
          <a:p>
            <a:pPr algn="ctr" indent="0" marL="0">
              <a:buNone/>
            </a:pPr>
            <a:r>
              <a:rPr lang="en-US" sz="1000" b="1" dirty="0">
                <a:solidFill>
                  <a:srgbClr val="8A6A1F"/>
                </a:solidFill>
                <a:latin typeface="Calibri" pitchFamily="34" charset="0"/>
                <a:ea typeface="Calibri" pitchFamily="34" charset="-122"/>
                <a:cs typeface="Calibri" pitchFamily="34" charset="-120"/>
              </a:rPr>
              <a:t>4</a:t>
            </a:r>
            <a:endParaRPr lang="en-US" sz="1000" dirty="0"/>
          </a:p>
        </p:txBody>
      </p:sp>
      <p:sp>
        <p:nvSpPr>
          <p:cNvPr id="35" name="Text 31"/>
          <p:cNvSpPr txBox="1"/>
          <p:nvPr/>
        </p:nvSpPr>
        <p:spPr>
          <a:xfrm>
            <a:off x="3410712" y="5221224"/>
            <a:ext cx="1325880" cy="658368"/>
          </a:xfrm>
          <a:prstGeom prst="rect">
            <a:avLst/>
          </a:prstGeom>
          <a:noFill/>
          <a:ln/>
        </p:spPr>
        <p:txBody>
          <a:bodyPr wrap="square" lIns="0" tIns="0" rIns="0" bIns="0" rtlCol="0" anchor="t"/>
          <a:lstStyle/>
          <a:p>
            <a:pPr indent="0" marL="0">
              <a:buNone/>
            </a:pPr>
            <a:r>
              <a:rPr lang="en-US" sz="1150" dirty="0">
                <a:solidFill>
                  <a:srgbClr val="10171F"/>
                </a:solidFill>
                <a:latin typeface="Calibri" pitchFamily="34" charset="0"/>
                <a:ea typeface="Calibri" pitchFamily="34" charset="-122"/>
                <a:cs typeface="Calibri" pitchFamily="34" charset="-120"/>
              </a:rPr>
              <a:t>Action plan and follow-up on the calendar</a:t>
            </a:r>
            <a:endParaRPr lang="en-US" sz="1150" dirty="0"/>
          </a:p>
        </p:txBody>
      </p:sp>
      <p:sp>
        <p:nvSpPr>
          <p:cNvPr id="36" name="Shape 32"/>
          <p:cNvSpPr/>
          <p:nvPr/>
        </p:nvSpPr>
        <p:spPr>
          <a:xfrm>
            <a:off x="5065776" y="1463040"/>
            <a:ext cx="2057400" cy="4663440"/>
          </a:xfrm>
          <a:prstGeom prst="roundRect">
            <a:avLst>
              <a:gd name="adj" fmla="val 4444"/>
            </a:avLst>
          </a:prstGeom>
          <a:solidFill>
            <a:srgbClr val="FFFFFF"/>
          </a:solidFill>
          <a:ln w="9525">
            <a:solidFill>
              <a:srgbClr val="DFE3E8"/>
            </a:solidFill>
            <a:prstDash val="solid"/>
          </a:ln>
        </p:spPr>
      </p:sp>
      <p:sp>
        <p:nvSpPr>
          <p:cNvPr id="37" name="Shape 33"/>
          <p:cNvSpPr/>
          <p:nvPr/>
        </p:nvSpPr>
        <p:spPr>
          <a:xfrm>
            <a:off x="5294376" y="1719072"/>
            <a:ext cx="548640" cy="548640"/>
          </a:xfrm>
          <a:prstGeom prst="ellipse">
            <a:avLst/>
          </a:prstGeom>
          <a:solidFill>
            <a:srgbClr val="05437A"/>
          </a:solidFill>
          <a:ln w="12700">
            <a:solidFill>
              <a:srgbClr val="05437A"/>
            </a:solidFill>
            <a:prstDash val="solid"/>
          </a:ln>
        </p:spPr>
      </p:sp>
      <p:pic>
        <p:nvPicPr>
          <p:cNvPr id="38" name="Image 2" descr="preencoded.png">    </p:cNvPr>
          <p:cNvPicPr>
            <a:picLocks noChangeAspect="1"/>
          </p:cNvPicPr>
          <p:nvPr/>
        </p:nvPicPr>
        <p:blipFill>
          <a:blip r:embed="rId3"/>
          <a:stretch>
            <a:fillRect/>
          </a:stretch>
        </p:blipFill>
        <p:spPr>
          <a:xfrm>
            <a:off x="5431536" y="1856232"/>
            <a:ext cx="274320" cy="274320"/>
          </a:xfrm>
          <a:prstGeom prst="rect">
            <a:avLst/>
          </a:prstGeom>
        </p:spPr>
      </p:pic>
      <p:sp>
        <p:nvSpPr>
          <p:cNvPr id="39" name="Text 34"/>
          <p:cNvSpPr txBox="1"/>
          <p:nvPr/>
        </p:nvSpPr>
        <p:spPr>
          <a:xfrm>
            <a:off x="5294376" y="2395728"/>
            <a:ext cx="1691640" cy="365760"/>
          </a:xfrm>
          <a:prstGeom prst="rect">
            <a:avLst/>
          </a:prstGeom>
          <a:noFill/>
          <a:ln/>
        </p:spPr>
        <p:txBody>
          <a:bodyPr wrap="square" lIns="0" tIns="0" rIns="0" bIns="0" rtlCol="0" anchor="ctr"/>
          <a:lstStyle/>
          <a:p>
            <a:pPr indent="0" marL="0">
              <a:buNone/>
            </a:pPr>
            <a:r>
              <a:rPr lang="en-US" sz="1500" b="1" dirty="0">
                <a:solidFill>
                  <a:srgbClr val="10171F"/>
                </a:solidFill>
                <a:latin typeface="Calibri" pitchFamily="34" charset="0"/>
                <a:ea typeface="Calibri" pitchFamily="34" charset="-122"/>
                <a:cs typeface="Calibri" pitchFamily="34" charset="-120"/>
              </a:rPr>
              <a:t>Official letters</a:t>
            </a:r>
            <a:endParaRPr lang="en-US" sz="1500" dirty="0"/>
          </a:p>
        </p:txBody>
      </p:sp>
      <p:sp>
        <p:nvSpPr>
          <p:cNvPr id="40" name="Shape 35"/>
          <p:cNvSpPr/>
          <p:nvPr/>
        </p:nvSpPr>
        <p:spPr>
          <a:xfrm>
            <a:off x="5294376" y="2926080"/>
            <a:ext cx="292608" cy="292608"/>
          </a:xfrm>
          <a:prstGeom prst="ellipse">
            <a:avLst/>
          </a:prstGeom>
          <a:solidFill>
            <a:srgbClr val="FCF1D4"/>
          </a:solidFill>
          <a:ln w="9525">
            <a:solidFill>
              <a:srgbClr val="C79E41"/>
            </a:solidFill>
            <a:prstDash val="solid"/>
          </a:ln>
        </p:spPr>
      </p:sp>
      <p:sp>
        <p:nvSpPr>
          <p:cNvPr id="41" name="Text 36"/>
          <p:cNvSpPr txBox="1"/>
          <p:nvPr/>
        </p:nvSpPr>
        <p:spPr>
          <a:xfrm>
            <a:off x="5294376" y="2926080"/>
            <a:ext cx="292608" cy="292608"/>
          </a:xfrm>
          <a:prstGeom prst="rect">
            <a:avLst/>
          </a:prstGeom>
          <a:noFill/>
          <a:ln/>
        </p:spPr>
        <p:txBody>
          <a:bodyPr wrap="square" lIns="0" tIns="0" rIns="0" bIns="0" rtlCol="0" anchor="ctr"/>
          <a:lstStyle/>
          <a:p>
            <a:pPr algn="ctr" indent="0" marL="0">
              <a:buNone/>
            </a:pPr>
            <a:r>
              <a:rPr lang="en-US" sz="1000" b="1" dirty="0">
                <a:solidFill>
                  <a:srgbClr val="8A6A1F"/>
                </a:solidFill>
                <a:latin typeface="Calibri" pitchFamily="34" charset="0"/>
                <a:ea typeface="Calibri" pitchFamily="34" charset="-122"/>
                <a:cs typeface="Calibri" pitchFamily="34" charset="-120"/>
              </a:rPr>
              <a:t>1</a:t>
            </a:r>
            <a:endParaRPr lang="en-US" sz="1000" dirty="0"/>
          </a:p>
        </p:txBody>
      </p:sp>
      <p:sp>
        <p:nvSpPr>
          <p:cNvPr id="42" name="Text 37"/>
          <p:cNvSpPr txBox="1"/>
          <p:nvPr/>
        </p:nvSpPr>
        <p:spPr>
          <a:xfrm>
            <a:off x="5669280" y="2889504"/>
            <a:ext cx="1325880" cy="658368"/>
          </a:xfrm>
          <a:prstGeom prst="rect">
            <a:avLst/>
          </a:prstGeom>
          <a:noFill/>
          <a:ln/>
        </p:spPr>
        <p:txBody>
          <a:bodyPr wrap="square" lIns="0" tIns="0" rIns="0" bIns="0" rtlCol="0" anchor="t"/>
          <a:lstStyle/>
          <a:p>
            <a:pPr indent="0" marL="0">
              <a:buNone/>
            </a:pPr>
            <a:r>
              <a:rPr lang="en-US" sz="1150" dirty="0">
                <a:solidFill>
                  <a:srgbClr val="10171F"/>
                </a:solidFill>
                <a:latin typeface="Calibri" pitchFamily="34" charset="0"/>
                <a:ea typeface="Calibri" pitchFamily="34" charset="-122"/>
                <a:cs typeface="Calibri" pitchFamily="34" charset="-120"/>
              </a:rPr>
              <a:t>Parent requests a letter</a:t>
            </a:r>
            <a:endParaRPr lang="en-US" sz="1150" dirty="0"/>
          </a:p>
        </p:txBody>
      </p:sp>
      <p:sp>
        <p:nvSpPr>
          <p:cNvPr id="43" name="Shape 38"/>
          <p:cNvSpPr/>
          <p:nvPr/>
        </p:nvSpPr>
        <p:spPr>
          <a:xfrm>
            <a:off x="5294376" y="3703320"/>
            <a:ext cx="292608" cy="292608"/>
          </a:xfrm>
          <a:prstGeom prst="ellipse">
            <a:avLst/>
          </a:prstGeom>
          <a:solidFill>
            <a:srgbClr val="FCF1D4"/>
          </a:solidFill>
          <a:ln w="9525">
            <a:solidFill>
              <a:srgbClr val="C79E41"/>
            </a:solidFill>
            <a:prstDash val="solid"/>
          </a:ln>
        </p:spPr>
      </p:sp>
      <p:sp>
        <p:nvSpPr>
          <p:cNvPr id="44" name="Text 39"/>
          <p:cNvSpPr txBox="1"/>
          <p:nvPr/>
        </p:nvSpPr>
        <p:spPr>
          <a:xfrm>
            <a:off x="5294376" y="3703320"/>
            <a:ext cx="292608" cy="292608"/>
          </a:xfrm>
          <a:prstGeom prst="rect">
            <a:avLst/>
          </a:prstGeom>
          <a:noFill/>
          <a:ln/>
        </p:spPr>
        <p:txBody>
          <a:bodyPr wrap="square" lIns="0" tIns="0" rIns="0" bIns="0" rtlCol="0" anchor="ctr"/>
          <a:lstStyle/>
          <a:p>
            <a:pPr algn="ctr" indent="0" marL="0">
              <a:buNone/>
            </a:pPr>
            <a:r>
              <a:rPr lang="en-US" sz="1000" b="1" dirty="0">
                <a:solidFill>
                  <a:srgbClr val="8A6A1F"/>
                </a:solidFill>
                <a:latin typeface="Calibri" pitchFamily="34" charset="0"/>
                <a:ea typeface="Calibri" pitchFamily="34" charset="-122"/>
                <a:cs typeface="Calibri" pitchFamily="34" charset="-120"/>
              </a:rPr>
              <a:t>2</a:t>
            </a:r>
            <a:endParaRPr lang="en-US" sz="1000" dirty="0"/>
          </a:p>
        </p:txBody>
      </p:sp>
      <p:sp>
        <p:nvSpPr>
          <p:cNvPr id="45" name="Text 40"/>
          <p:cNvSpPr txBox="1"/>
          <p:nvPr/>
        </p:nvSpPr>
        <p:spPr>
          <a:xfrm>
            <a:off x="5669280" y="3666744"/>
            <a:ext cx="1325880" cy="658368"/>
          </a:xfrm>
          <a:prstGeom prst="rect">
            <a:avLst/>
          </a:prstGeom>
          <a:noFill/>
          <a:ln/>
        </p:spPr>
        <p:txBody>
          <a:bodyPr wrap="square" lIns="0" tIns="0" rIns="0" bIns="0" rtlCol="0" anchor="t"/>
          <a:lstStyle/>
          <a:p>
            <a:pPr indent="0" marL="0">
              <a:buNone/>
            </a:pPr>
            <a:r>
              <a:rPr lang="en-US" sz="1150" dirty="0">
                <a:solidFill>
                  <a:srgbClr val="10171F"/>
                </a:solidFill>
                <a:latin typeface="Calibri" pitchFamily="34" charset="0"/>
                <a:ea typeface="Calibri" pitchFamily="34" charset="-122"/>
                <a:cs typeface="Calibri" pitchFamily="34" charset="-120"/>
              </a:rPr>
              <a:t>Registrar approves with a signature</a:t>
            </a:r>
            <a:endParaRPr lang="en-US" sz="1150" dirty="0"/>
          </a:p>
        </p:txBody>
      </p:sp>
      <p:sp>
        <p:nvSpPr>
          <p:cNvPr id="46" name="Shape 41"/>
          <p:cNvSpPr/>
          <p:nvPr/>
        </p:nvSpPr>
        <p:spPr>
          <a:xfrm>
            <a:off x="5294376" y="4480560"/>
            <a:ext cx="292608" cy="292608"/>
          </a:xfrm>
          <a:prstGeom prst="ellipse">
            <a:avLst/>
          </a:prstGeom>
          <a:solidFill>
            <a:srgbClr val="FCF1D4"/>
          </a:solidFill>
          <a:ln w="9525">
            <a:solidFill>
              <a:srgbClr val="C79E41"/>
            </a:solidFill>
            <a:prstDash val="solid"/>
          </a:ln>
        </p:spPr>
      </p:sp>
      <p:sp>
        <p:nvSpPr>
          <p:cNvPr id="47" name="Text 42"/>
          <p:cNvSpPr txBox="1"/>
          <p:nvPr/>
        </p:nvSpPr>
        <p:spPr>
          <a:xfrm>
            <a:off x="5294376" y="4480560"/>
            <a:ext cx="292608" cy="292608"/>
          </a:xfrm>
          <a:prstGeom prst="rect">
            <a:avLst/>
          </a:prstGeom>
          <a:noFill/>
          <a:ln/>
        </p:spPr>
        <p:txBody>
          <a:bodyPr wrap="square" lIns="0" tIns="0" rIns="0" bIns="0" rtlCol="0" anchor="ctr"/>
          <a:lstStyle/>
          <a:p>
            <a:pPr algn="ctr" indent="0" marL="0">
              <a:buNone/>
            </a:pPr>
            <a:r>
              <a:rPr lang="en-US" sz="1000" b="1" dirty="0">
                <a:solidFill>
                  <a:srgbClr val="8A6A1F"/>
                </a:solidFill>
                <a:latin typeface="Calibri" pitchFamily="34" charset="0"/>
                <a:ea typeface="Calibri" pitchFamily="34" charset="-122"/>
                <a:cs typeface="Calibri" pitchFamily="34" charset="-120"/>
              </a:rPr>
              <a:t>3</a:t>
            </a:r>
            <a:endParaRPr lang="en-US" sz="1000" dirty="0"/>
          </a:p>
        </p:txBody>
      </p:sp>
      <p:sp>
        <p:nvSpPr>
          <p:cNvPr id="48" name="Text 43"/>
          <p:cNvSpPr txBox="1"/>
          <p:nvPr/>
        </p:nvSpPr>
        <p:spPr>
          <a:xfrm>
            <a:off x="5669280" y="4443984"/>
            <a:ext cx="1325880" cy="658368"/>
          </a:xfrm>
          <a:prstGeom prst="rect">
            <a:avLst/>
          </a:prstGeom>
          <a:noFill/>
          <a:ln/>
        </p:spPr>
        <p:txBody>
          <a:bodyPr wrap="square" lIns="0" tIns="0" rIns="0" bIns="0" rtlCol="0" anchor="t"/>
          <a:lstStyle/>
          <a:p>
            <a:pPr indent="0" marL="0">
              <a:buNone/>
            </a:pPr>
            <a:r>
              <a:rPr lang="en-US" sz="1150" dirty="0">
                <a:solidFill>
                  <a:srgbClr val="10171F"/>
                </a:solidFill>
                <a:latin typeface="Calibri" pitchFamily="34" charset="0"/>
                <a:ea typeface="Calibri" pitchFamily="34" charset="-122"/>
                <a:cs typeface="Calibri" pitchFamily="34" charset="-120"/>
              </a:rPr>
              <a:t>Arabic and English PDF generated</a:t>
            </a:r>
            <a:endParaRPr lang="en-US" sz="1150" dirty="0"/>
          </a:p>
        </p:txBody>
      </p:sp>
      <p:sp>
        <p:nvSpPr>
          <p:cNvPr id="49" name="Shape 44"/>
          <p:cNvSpPr/>
          <p:nvPr/>
        </p:nvSpPr>
        <p:spPr>
          <a:xfrm>
            <a:off x="5294376" y="5257800"/>
            <a:ext cx="292608" cy="292608"/>
          </a:xfrm>
          <a:prstGeom prst="ellipse">
            <a:avLst/>
          </a:prstGeom>
          <a:solidFill>
            <a:srgbClr val="FCF1D4"/>
          </a:solidFill>
          <a:ln w="9525">
            <a:solidFill>
              <a:srgbClr val="C79E41"/>
            </a:solidFill>
            <a:prstDash val="solid"/>
          </a:ln>
        </p:spPr>
      </p:sp>
      <p:sp>
        <p:nvSpPr>
          <p:cNvPr id="50" name="Text 45"/>
          <p:cNvSpPr txBox="1"/>
          <p:nvPr/>
        </p:nvSpPr>
        <p:spPr>
          <a:xfrm>
            <a:off x="5294376" y="5257800"/>
            <a:ext cx="292608" cy="292608"/>
          </a:xfrm>
          <a:prstGeom prst="rect">
            <a:avLst/>
          </a:prstGeom>
          <a:noFill/>
          <a:ln/>
        </p:spPr>
        <p:txBody>
          <a:bodyPr wrap="square" lIns="0" tIns="0" rIns="0" bIns="0" rtlCol="0" anchor="ctr"/>
          <a:lstStyle/>
          <a:p>
            <a:pPr algn="ctr" indent="0" marL="0">
              <a:buNone/>
            </a:pPr>
            <a:r>
              <a:rPr lang="en-US" sz="1000" b="1" dirty="0">
                <a:solidFill>
                  <a:srgbClr val="8A6A1F"/>
                </a:solidFill>
                <a:latin typeface="Calibri" pitchFamily="34" charset="0"/>
                <a:ea typeface="Calibri" pitchFamily="34" charset="-122"/>
                <a:cs typeface="Calibri" pitchFamily="34" charset="-120"/>
              </a:rPr>
              <a:t>4</a:t>
            </a:r>
            <a:endParaRPr lang="en-US" sz="1000" dirty="0"/>
          </a:p>
        </p:txBody>
      </p:sp>
      <p:sp>
        <p:nvSpPr>
          <p:cNvPr id="51" name="Text 46"/>
          <p:cNvSpPr txBox="1"/>
          <p:nvPr/>
        </p:nvSpPr>
        <p:spPr>
          <a:xfrm>
            <a:off x="5669280" y="5221224"/>
            <a:ext cx="1325880" cy="658368"/>
          </a:xfrm>
          <a:prstGeom prst="rect">
            <a:avLst/>
          </a:prstGeom>
          <a:noFill/>
          <a:ln/>
        </p:spPr>
        <p:txBody>
          <a:bodyPr wrap="square" lIns="0" tIns="0" rIns="0" bIns="0" rtlCol="0" anchor="t"/>
          <a:lstStyle/>
          <a:p>
            <a:pPr indent="0" marL="0">
              <a:buNone/>
            </a:pPr>
            <a:r>
              <a:rPr lang="en-US" sz="1150" dirty="0">
                <a:solidFill>
                  <a:srgbClr val="10171F"/>
                </a:solidFill>
                <a:latin typeface="Calibri" pitchFamily="34" charset="0"/>
                <a:ea typeface="Calibri" pitchFamily="34" charset="-122"/>
                <a:cs typeface="Calibri" pitchFamily="34" charset="-120"/>
              </a:rPr>
              <a:t>Family notified and downloads it</a:t>
            </a:r>
            <a:endParaRPr lang="en-US" sz="1150" dirty="0"/>
          </a:p>
        </p:txBody>
      </p:sp>
      <p:sp>
        <p:nvSpPr>
          <p:cNvPr id="52" name="Shape 47"/>
          <p:cNvSpPr/>
          <p:nvPr/>
        </p:nvSpPr>
        <p:spPr>
          <a:xfrm>
            <a:off x="7324344" y="1463040"/>
            <a:ext cx="2057400" cy="4663440"/>
          </a:xfrm>
          <a:prstGeom prst="roundRect">
            <a:avLst>
              <a:gd name="adj" fmla="val 4444"/>
            </a:avLst>
          </a:prstGeom>
          <a:solidFill>
            <a:srgbClr val="FFFFFF"/>
          </a:solidFill>
          <a:ln w="9525">
            <a:solidFill>
              <a:srgbClr val="DFE3E8"/>
            </a:solidFill>
            <a:prstDash val="solid"/>
          </a:ln>
        </p:spPr>
      </p:sp>
      <p:sp>
        <p:nvSpPr>
          <p:cNvPr id="53" name="Shape 48"/>
          <p:cNvSpPr/>
          <p:nvPr/>
        </p:nvSpPr>
        <p:spPr>
          <a:xfrm>
            <a:off x="7552944" y="1719072"/>
            <a:ext cx="548640" cy="548640"/>
          </a:xfrm>
          <a:prstGeom prst="ellipse">
            <a:avLst/>
          </a:prstGeom>
          <a:solidFill>
            <a:srgbClr val="05437A"/>
          </a:solidFill>
          <a:ln w="12700">
            <a:solidFill>
              <a:srgbClr val="05437A"/>
            </a:solidFill>
            <a:prstDash val="solid"/>
          </a:ln>
        </p:spPr>
      </p:sp>
      <p:pic>
        <p:nvPicPr>
          <p:cNvPr id="54" name="Image 3" descr="preencoded.png">    </p:cNvPr>
          <p:cNvPicPr>
            <a:picLocks noChangeAspect="1"/>
          </p:cNvPicPr>
          <p:nvPr/>
        </p:nvPicPr>
        <p:blipFill>
          <a:blip r:embed="rId4"/>
          <a:stretch>
            <a:fillRect/>
          </a:stretch>
        </p:blipFill>
        <p:spPr>
          <a:xfrm>
            <a:off x="7690104" y="1856232"/>
            <a:ext cx="274320" cy="274320"/>
          </a:xfrm>
          <a:prstGeom prst="rect">
            <a:avLst/>
          </a:prstGeom>
        </p:spPr>
      </p:pic>
      <p:sp>
        <p:nvSpPr>
          <p:cNvPr id="55" name="Text 49"/>
          <p:cNvSpPr txBox="1"/>
          <p:nvPr/>
        </p:nvSpPr>
        <p:spPr>
          <a:xfrm>
            <a:off x="7552944" y="2395728"/>
            <a:ext cx="1691640" cy="365760"/>
          </a:xfrm>
          <a:prstGeom prst="rect">
            <a:avLst/>
          </a:prstGeom>
          <a:noFill/>
          <a:ln/>
        </p:spPr>
        <p:txBody>
          <a:bodyPr wrap="square" lIns="0" tIns="0" rIns="0" bIns="0" rtlCol="0" anchor="ctr"/>
          <a:lstStyle/>
          <a:p>
            <a:pPr indent="0" marL="0">
              <a:buNone/>
            </a:pPr>
            <a:r>
              <a:rPr lang="en-US" sz="1500" b="1" dirty="0">
                <a:solidFill>
                  <a:srgbClr val="10171F"/>
                </a:solidFill>
                <a:latin typeface="Calibri" pitchFamily="34" charset="0"/>
                <a:ea typeface="Calibri" pitchFamily="34" charset="-122"/>
                <a:cs typeface="Calibri" pitchFamily="34" charset="-120"/>
              </a:rPr>
              <a:t>Subject change</a:t>
            </a:r>
            <a:endParaRPr lang="en-US" sz="1500" dirty="0"/>
          </a:p>
        </p:txBody>
      </p:sp>
      <p:sp>
        <p:nvSpPr>
          <p:cNvPr id="56" name="Shape 50"/>
          <p:cNvSpPr/>
          <p:nvPr/>
        </p:nvSpPr>
        <p:spPr>
          <a:xfrm>
            <a:off x="7552944" y="2926080"/>
            <a:ext cx="292608" cy="292608"/>
          </a:xfrm>
          <a:prstGeom prst="ellipse">
            <a:avLst/>
          </a:prstGeom>
          <a:solidFill>
            <a:srgbClr val="FCF1D4"/>
          </a:solidFill>
          <a:ln w="9525">
            <a:solidFill>
              <a:srgbClr val="C79E41"/>
            </a:solidFill>
            <a:prstDash val="solid"/>
          </a:ln>
        </p:spPr>
      </p:sp>
      <p:sp>
        <p:nvSpPr>
          <p:cNvPr id="57" name="Text 51"/>
          <p:cNvSpPr txBox="1"/>
          <p:nvPr/>
        </p:nvSpPr>
        <p:spPr>
          <a:xfrm>
            <a:off x="7552944" y="2926080"/>
            <a:ext cx="292608" cy="292608"/>
          </a:xfrm>
          <a:prstGeom prst="rect">
            <a:avLst/>
          </a:prstGeom>
          <a:noFill/>
          <a:ln/>
        </p:spPr>
        <p:txBody>
          <a:bodyPr wrap="square" lIns="0" tIns="0" rIns="0" bIns="0" rtlCol="0" anchor="ctr"/>
          <a:lstStyle/>
          <a:p>
            <a:pPr algn="ctr" indent="0" marL="0">
              <a:buNone/>
            </a:pPr>
            <a:r>
              <a:rPr lang="en-US" sz="1000" b="1" dirty="0">
                <a:solidFill>
                  <a:srgbClr val="8A6A1F"/>
                </a:solidFill>
                <a:latin typeface="Calibri" pitchFamily="34" charset="0"/>
                <a:ea typeface="Calibri" pitchFamily="34" charset="-122"/>
                <a:cs typeface="Calibri" pitchFamily="34" charset="-120"/>
              </a:rPr>
              <a:t>1</a:t>
            </a:r>
            <a:endParaRPr lang="en-US" sz="1000" dirty="0"/>
          </a:p>
        </p:txBody>
      </p:sp>
      <p:sp>
        <p:nvSpPr>
          <p:cNvPr id="58" name="Text 52"/>
          <p:cNvSpPr txBox="1"/>
          <p:nvPr/>
        </p:nvSpPr>
        <p:spPr>
          <a:xfrm>
            <a:off x="7927848" y="2889504"/>
            <a:ext cx="1325880" cy="658368"/>
          </a:xfrm>
          <a:prstGeom prst="rect">
            <a:avLst/>
          </a:prstGeom>
          <a:noFill/>
          <a:ln/>
        </p:spPr>
        <p:txBody>
          <a:bodyPr wrap="square" lIns="0" tIns="0" rIns="0" bIns="0" rtlCol="0" anchor="t"/>
          <a:lstStyle/>
          <a:p>
            <a:pPr indent="0" marL="0">
              <a:buNone/>
            </a:pPr>
            <a:r>
              <a:rPr lang="en-US" sz="1150" dirty="0">
                <a:solidFill>
                  <a:srgbClr val="10171F"/>
                </a:solidFill>
                <a:latin typeface="Calibri" pitchFamily="34" charset="0"/>
                <a:ea typeface="Calibri" pitchFamily="34" charset="-122"/>
                <a:cs typeface="Calibri" pitchFamily="34" charset="-120"/>
              </a:rPr>
              <a:t>Parent asks to switch subjects</a:t>
            </a:r>
            <a:endParaRPr lang="en-US" sz="1150" dirty="0"/>
          </a:p>
        </p:txBody>
      </p:sp>
      <p:sp>
        <p:nvSpPr>
          <p:cNvPr id="59" name="Shape 53"/>
          <p:cNvSpPr/>
          <p:nvPr/>
        </p:nvSpPr>
        <p:spPr>
          <a:xfrm>
            <a:off x="7552944" y="3703320"/>
            <a:ext cx="292608" cy="292608"/>
          </a:xfrm>
          <a:prstGeom prst="ellipse">
            <a:avLst/>
          </a:prstGeom>
          <a:solidFill>
            <a:srgbClr val="FCF1D4"/>
          </a:solidFill>
          <a:ln w="9525">
            <a:solidFill>
              <a:srgbClr val="C79E41"/>
            </a:solidFill>
            <a:prstDash val="solid"/>
          </a:ln>
        </p:spPr>
      </p:sp>
      <p:sp>
        <p:nvSpPr>
          <p:cNvPr id="60" name="Text 54"/>
          <p:cNvSpPr txBox="1"/>
          <p:nvPr/>
        </p:nvSpPr>
        <p:spPr>
          <a:xfrm>
            <a:off x="7552944" y="3703320"/>
            <a:ext cx="292608" cy="292608"/>
          </a:xfrm>
          <a:prstGeom prst="rect">
            <a:avLst/>
          </a:prstGeom>
          <a:noFill/>
          <a:ln/>
        </p:spPr>
        <p:txBody>
          <a:bodyPr wrap="square" lIns="0" tIns="0" rIns="0" bIns="0" rtlCol="0" anchor="ctr"/>
          <a:lstStyle/>
          <a:p>
            <a:pPr algn="ctr" indent="0" marL="0">
              <a:buNone/>
            </a:pPr>
            <a:r>
              <a:rPr lang="en-US" sz="1000" b="1" dirty="0">
                <a:solidFill>
                  <a:srgbClr val="8A6A1F"/>
                </a:solidFill>
                <a:latin typeface="Calibri" pitchFamily="34" charset="0"/>
                <a:ea typeface="Calibri" pitchFamily="34" charset="-122"/>
                <a:cs typeface="Calibri" pitchFamily="34" charset="-120"/>
              </a:rPr>
              <a:t>2</a:t>
            </a:r>
            <a:endParaRPr lang="en-US" sz="1000" dirty="0"/>
          </a:p>
        </p:txBody>
      </p:sp>
      <p:sp>
        <p:nvSpPr>
          <p:cNvPr id="61" name="Text 55"/>
          <p:cNvSpPr txBox="1"/>
          <p:nvPr/>
        </p:nvSpPr>
        <p:spPr>
          <a:xfrm>
            <a:off x="7927848" y="3666744"/>
            <a:ext cx="1325880" cy="658368"/>
          </a:xfrm>
          <a:prstGeom prst="rect">
            <a:avLst/>
          </a:prstGeom>
          <a:noFill/>
          <a:ln/>
        </p:spPr>
        <p:txBody>
          <a:bodyPr wrap="square" lIns="0" tIns="0" rIns="0" bIns="0" rtlCol="0" anchor="t"/>
          <a:lstStyle/>
          <a:p>
            <a:pPr indent="0" marL="0">
              <a:buNone/>
            </a:pPr>
            <a:r>
              <a:rPr lang="en-US" sz="1150" dirty="0">
                <a:solidFill>
                  <a:srgbClr val="10171F"/>
                </a:solidFill>
                <a:latin typeface="Calibri" pitchFamily="34" charset="0"/>
                <a:ea typeface="Calibri" pitchFamily="34" charset="-122"/>
                <a:cs typeface="Calibri" pitchFamily="34" charset="-120"/>
              </a:rPr>
              <a:t>Subject teacher gives a view</a:t>
            </a:r>
            <a:endParaRPr lang="en-US" sz="1150" dirty="0"/>
          </a:p>
        </p:txBody>
      </p:sp>
      <p:sp>
        <p:nvSpPr>
          <p:cNvPr id="62" name="Shape 56"/>
          <p:cNvSpPr/>
          <p:nvPr/>
        </p:nvSpPr>
        <p:spPr>
          <a:xfrm>
            <a:off x="7552944" y="4480560"/>
            <a:ext cx="292608" cy="292608"/>
          </a:xfrm>
          <a:prstGeom prst="ellipse">
            <a:avLst/>
          </a:prstGeom>
          <a:solidFill>
            <a:srgbClr val="FCF1D4"/>
          </a:solidFill>
          <a:ln w="9525">
            <a:solidFill>
              <a:srgbClr val="C79E41"/>
            </a:solidFill>
            <a:prstDash val="solid"/>
          </a:ln>
        </p:spPr>
      </p:sp>
      <p:sp>
        <p:nvSpPr>
          <p:cNvPr id="63" name="Text 57"/>
          <p:cNvSpPr txBox="1"/>
          <p:nvPr/>
        </p:nvSpPr>
        <p:spPr>
          <a:xfrm>
            <a:off x="7552944" y="4480560"/>
            <a:ext cx="292608" cy="292608"/>
          </a:xfrm>
          <a:prstGeom prst="rect">
            <a:avLst/>
          </a:prstGeom>
          <a:noFill/>
          <a:ln/>
        </p:spPr>
        <p:txBody>
          <a:bodyPr wrap="square" lIns="0" tIns="0" rIns="0" bIns="0" rtlCol="0" anchor="ctr"/>
          <a:lstStyle/>
          <a:p>
            <a:pPr algn="ctr" indent="0" marL="0">
              <a:buNone/>
            </a:pPr>
            <a:r>
              <a:rPr lang="en-US" sz="1000" b="1" dirty="0">
                <a:solidFill>
                  <a:srgbClr val="8A6A1F"/>
                </a:solidFill>
                <a:latin typeface="Calibri" pitchFamily="34" charset="0"/>
                <a:ea typeface="Calibri" pitchFamily="34" charset="-122"/>
                <a:cs typeface="Calibri" pitchFamily="34" charset="-120"/>
              </a:rPr>
              <a:t>3</a:t>
            </a:r>
            <a:endParaRPr lang="en-US" sz="1000" dirty="0"/>
          </a:p>
        </p:txBody>
      </p:sp>
      <p:sp>
        <p:nvSpPr>
          <p:cNvPr id="64" name="Text 58"/>
          <p:cNvSpPr txBox="1"/>
          <p:nvPr/>
        </p:nvSpPr>
        <p:spPr>
          <a:xfrm>
            <a:off x="7927848" y="4443984"/>
            <a:ext cx="1325880" cy="658368"/>
          </a:xfrm>
          <a:prstGeom prst="rect">
            <a:avLst/>
          </a:prstGeom>
          <a:noFill/>
          <a:ln/>
        </p:spPr>
        <p:txBody>
          <a:bodyPr wrap="square" lIns="0" tIns="0" rIns="0" bIns="0" rtlCol="0" anchor="t"/>
          <a:lstStyle/>
          <a:p>
            <a:pPr indent="0" marL="0">
              <a:buNone/>
            </a:pPr>
            <a:r>
              <a:rPr lang="en-US" sz="1150" dirty="0">
                <a:solidFill>
                  <a:srgbClr val="10171F"/>
                </a:solidFill>
                <a:latin typeface="Calibri" pitchFamily="34" charset="0"/>
                <a:ea typeface="Calibri" pitchFamily="34" charset="-122"/>
                <a:cs typeface="Calibri" pitchFamily="34" charset="-120"/>
              </a:rPr>
              <a:t>Head of department approves</a:t>
            </a:r>
            <a:endParaRPr lang="en-US" sz="1150" dirty="0"/>
          </a:p>
        </p:txBody>
      </p:sp>
      <p:sp>
        <p:nvSpPr>
          <p:cNvPr id="65" name="Shape 59"/>
          <p:cNvSpPr/>
          <p:nvPr/>
        </p:nvSpPr>
        <p:spPr>
          <a:xfrm>
            <a:off x="7552944" y="5257800"/>
            <a:ext cx="292608" cy="292608"/>
          </a:xfrm>
          <a:prstGeom prst="ellipse">
            <a:avLst/>
          </a:prstGeom>
          <a:solidFill>
            <a:srgbClr val="FCF1D4"/>
          </a:solidFill>
          <a:ln w="9525">
            <a:solidFill>
              <a:srgbClr val="C79E41"/>
            </a:solidFill>
            <a:prstDash val="solid"/>
          </a:ln>
        </p:spPr>
      </p:sp>
      <p:sp>
        <p:nvSpPr>
          <p:cNvPr id="66" name="Text 60"/>
          <p:cNvSpPr txBox="1"/>
          <p:nvPr/>
        </p:nvSpPr>
        <p:spPr>
          <a:xfrm>
            <a:off x="7552944" y="5257800"/>
            <a:ext cx="292608" cy="292608"/>
          </a:xfrm>
          <a:prstGeom prst="rect">
            <a:avLst/>
          </a:prstGeom>
          <a:noFill/>
          <a:ln/>
        </p:spPr>
        <p:txBody>
          <a:bodyPr wrap="square" lIns="0" tIns="0" rIns="0" bIns="0" rtlCol="0" anchor="ctr"/>
          <a:lstStyle/>
          <a:p>
            <a:pPr algn="ctr" indent="0" marL="0">
              <a:buNone/>
            </a:pPr>
            <a:r>
              <a:rPr lang="en-US" sz="1000" b="1" dirty="0">
                <a:solidFill>
                  <a:srgbClr val="8A6A1F"/>
                </a:solidFill>
                <a:latin typeface="Calibri" pitchFamily="34" charset="0"/>
                <a:ea typeface="Calibri" pitchFamily="34" charset="-122"/>
                <a:cs typeface="Calibri" pitchFamily="34" charset="-120"/>
              </a:rPr>
              <a:t>4</a:t>
            </a:r>
            <a:endParaRPr lang="en-US" sz="1000" dirty="0"/>
          </a:p>
        </p:txBody>
      </p:sp>
      <p:sp>
        <p:nvSpPr>
          <p:cNvPr id="67" name="Text 61"/>
          <p:cNvSpPr txBox="1"/>
          <p:nvPr/>
        </p:nvSpPr>
        <p:spPr>
          <a:xfrm>
            <a:off x="7927848" y="5221224"/>
            <a:ext cx="1325880" cy="658368"/>
          </a:xfrm>
          <a:prstGeom prst="rect">
            <a:avLst/>
          </a:prstGeom>
          <a:noFill/>
          <a:ln/>
        </p:spPr>
        <p:txBody>
          <a:bodyPr wrap="square" lIns="0" tIns="0" rIns="0" bIns="0" rtlCol="0" anchor="t"/>
          <a:lstStyle/>
          <a:p>
            <a:pPr indent="0" marL="0">
              <a:buNone/>
            </a:pPr>
            <a:r>
              <a:rPr lang="en-US" sz="1150" dirty="0">
                <a:solidFill>
                  <a:srgbClr val="10171F"/>
                </a:solidFill>
                <a:latin typeface="Calibri" pitchFamily="34" charset="0"/>
                <a:ea typeface="Calibri" pitchFamily="34" charset="-122"/>
                <a:cs typeface="Calibri" pitchFamily="34" charset="-120"/>
              </a:rPr>
              <a:t>Registrar updates the timetable</a:t>
            </a:r>
            <a:endParaRPr lang="en-US" sz="1150" dirty="0"/>
          </a:p>
        </p:txBody>
      </p:sp>
      <p:sp>
        <p:nvSpPr>
          <p:cNvPr id="68" name="Shape 62"/>
          <p:cNvSpPr/>
          <p:nvPr/>
        </p:nvSpPr>
        <p:spPr>
          <a:xfrm>
            <a:off x="9582912" y="1463040"/>
            <a:ext cx="2057400" cy="4663440"/>
          </a:xfrm>
          <a:prstGeom prst="roundRect">
            <a:avLst>
              <a:gd name="adj" fmla="val 4444"/>
            </a:avLst>
          </a:prstGeom>
          <a:solidFill>
            <a:srgbClr val="FFFFFF"/>
          </a:solidFill>
          <a:ln w="9525">
            <a:solidFill>
              <a:srgbClr val="DFE3E8"/>
            </a:solidFill>
            <a:prstDash val="solid"/>
          </a:ln>
        </p:spPr>
      </p:sp>
      <p:sp>
        <p:nvSpPr>
          <p:cNvPr id="69" name="Shape 63"/>
          <p:cNvSpPr/>
          <p:nvPr/>
        </p:nvSpPr>
        <p:spPr>
          <a:xfrm>
            <a:off x="9811512" y="1719072"/>
            <a:ext cx="548640" cy="548640"/>
          </a:xfrm>
          <a:prstGeom prst="ellipse">
            <a:avLst/>
          </a:prstGeom>
          <a:solidFill>
            <a:srgbClr val="05437A"/>
          </a:solidFill>
          <a:ln w="12700">
            <a:solidFill>
              <a:srgbClr val="05437A"/>
            </a:solidFill>
            <a:prstDash val="solid"/>
          </a:ln>
        </p:spPr>
      </p:sp>
      <p:pic>
        <p:nvPicPr>
          <p:cNvPr id="70" name="Image 4" descr="preencoded.png">    </p:cNvPr>
          <p:cNvPicPr>
            <a:picLocks noChangeAspect="1"/>
          </p:cNvPicPr>
          <p:nvPr/>
        </p:nvPicPr>
        <p:blipFill>
          <a:blip r:embed="rId5"/>
          <a:stretch>
            <a:fillRect/>
          </a:stretch>
        </p:blipFill>
        <p:spPr>
          <a:xfrm>
            <a:off x="9948672" y="1856232"/>
            <a:ext cx="274320" cy="274320"/>
          </a:xfrm>
          <a:prstGeom prst="rect">
            <a:avLst/>
          </a:prstGeom>
        </p:spPr>
      </p:pic>
      <p:sp>
        <p:nvSpPr>
          <p:cNvPr id="71" name="Text 64"/>
          <p:cNvSpPr txBox="1"/>
          <p:nvPr/>
        </p:nvSpPr>
        <p:spPr>
          <a:xfrm>
            <a:off x="9811512" y="2395728"/>
            <a:ext cx="1691640" cy="365760"/>
          </a:xfrm>
          <a:prstGeom prst="rect">
            <a:avLst/>
          </a:prstGeom>
          <a:noFill/>
          <a:ln/>
        </p:spPr>
        <p:txBody>
          <a:bodyPr wrap="square" lIns="0" tIns="0" rIns="0" bIns="0" rtlCol="0" anchor="ctr"/>
          <a:lstStyle/>
          <a:p>
            <a:pPr indent="0" marL="0">
              <a:buNone/>
            </a:pPr>
            <a:r>
              <a:rPr lang="en-US" sz="1500" b="1" dirty="0">
                <a:solidFill>
                  <a:srgbClr val="10171F"/>
                </a:solidFill>
                <a:latin typeface="Calibri" pitchFamily="34" charset="0"/>
                <a:ea typeface="Calibri" pitchFamily="34" charset="-122"/>
                <a:cs typeface="Calibri" pitchFamily="34" charset="-120"/>
              </a:rPr>
              <a:t>Parent meetings</a:t>
            </a:r>
            <a:endParaRPr lang="en-US" sz="1500" dirty="0"/>
          </a:p>
        </p:txBody>
      </p:sp>
      <p:sp>
        <p:nvSpPr>
          <p:cNvPr id="72" name="Shape 65"/>
          <p:cNvSpPr/>
          <p:nvPr/>
        </p:nvSpPr>
        <p:spPr>
          <a:xfrm>
            <a:off x="9811512" y="2926080"/>
            <a:ext cx="292608" cy="292608"/>
          </a:xfrm>
          <a:prstGeom prst="ellipse">
            <a:avLst/>
          </a:prstGeom>
          <a:solidFill>
            <a:srgbClr val="FCF1D4"/>
          </a:solidFill>
          <a:ln w="9525">
            <a:solidFill>
              <a:srgbClr val="C79E41"/>
            </a:solidFill>
            <a:prstDash val="solid"/>
          </a:ln>
        </p:spPr>
      </p:sp>
      <p:sp>
        <p:nvSpPr>
          <p:cNvPr id="73" name="Text 66"/>
          <p:cNvSpPr txBox="1"/>
          <p:nvPr/>
        </p:nvSpPr>
        <p:spPr>
          <a:xfrm>
            <a:off x="9811512" y="2926080"/>
            <a:ext cx="292608" cy="292608"/>
          </a:xfrm>
          <a:prstGeom prst="rect">
            <a:avLst/>
          </a:prstGeom>
          <a:noFill/>
          <a:ln/>
        </p:spPr>
        <p:txBody>
          <a:bodyPr wrap="square" lIns="0" tIns="0" rIns="0" bIns="0" rtlCol="0" anchor="ctr"/>
          <a:lstStyle/>
          <a:p>
            <a:pPr algn="ctr" indent="0" marL="0">
              <a:buNone/>
            </a:pPr>
            <a:r>
              <a:rPr lang="en-US" sz="1000" b="1" dirty="0">
                <a:solidFill>
                  <a:srgbClr val="8A6A1F"/>
                </a:solidFill>
                <a:latin typeface="Calibri" pitchFamily="34" charset="0"/>
                <a:ea typeface="Calibri" pitchFamily="34" charset="-122"/>
                <a:cs typeface="Calibri" pitchFamily="34" charset="-120"/>
              </a:rPr>
              <a:t>1</a:t>
            </a:r>
            <a:endParaRPr lang="en-US" sz="1000" dirty="0"/>
          </a:p>
        </p:txBody>
      </p:sp>
      <p:sp>
        <p:nvSpPr>
          <p:cNvPr id="74" name="Text 67"/>
          <p:cNvSpPr txBox="1"/>
          <p:nvPr/>
        </p:nvSpPr>
        <p:spPr>
          <a:xfrm>
            <a:off x="10186416" y="2889504"/>
            <a:ext cx="1325880" cy="658368"/>
          </a:xfrm>
          <a:prstGeom prst="rect">
            <a:avLst/>
          </a:prstGeom>
          <a:noFill/>
          <a:ln/>
        </p:spPr>
        <p:txBody>
          <a:bodyPr wrap="square" lIns="0" tIns="0" rIns="0" bIns="0" rtlCol="0" anchor="t"/>
          <a:lstStyle/>
          <a:p>
            <a:pPr indent="0" marL="0">
              <a:buNone/>
            </a:pPr>
            <a:r>
              <a:rPr lang="en-US" sz="1150" dirty="0">
                <a:solidFill>
                  <a:srgbClr val="10171F"/>
                </a:solidFill>
                <a:latin typeface="Calibri" pitchFamily="34" charset="0"/>
                <a:ea typeface="Calibri" pitchFamily="34" charset="-122"/>
                <a:cs typeface="Calibri" pitchFamily="34" charset="-120"/>
              </a:rPr>
              <a:t>Parent picks a child and teacher</a:t>
            </a:r>
            <a:endParaRPr lang="en-US" sz="1150" dirty="0"/>
          </a:p>
        </p:txBody>
      </p:sp>
      <p:sp>
        <p:nvSpPr>
          <p:cNvPr id="75" name="Shape 68"/>
          <p:cNvSpPr/>
          <p:nvPr/>
        </p:nvSpPr>
        <p:spPr>
          <a:xfrm>
            <a:off x="9811512" y="3703320"/>
            <a:ext cx="292608" cy="292608"/>
          </a:xfrm>
          <a:prstGeom prst="ellipse">
            <a:avLst/>
          </a:prstGeom>
          <a:solidFill>
            <a:srgbClr val="FCF1D4"/>
          </a:solidFill>
          <a:ln w="9525">
            <a:solidFill>
              <a:srgbClr val="C79E41"/>
            </a:solidFill>
            <a:prstDash val="solid"/>
          </a:ln>
        </p:spPr>
      </p:sp>
      <p:sp>
        <p:nvSpPr>
          <p:cNvPr id="76" name="Text 69"/>
          <p:cNvSpPr txBox="1"/>
          <p:nvPr/>
        </p:nvSpPr>
        <p:spPr>
          <a:xfrm>
            <a:off x="9811512" y="3703320"/>
            <a:ext cx="292608" cy="292608"/>
          </a:xfrm>
          <a:prstGeom prst="rect">
            <a:avLst/>
          </a:prstGeom>
          <a:noFill/>
          <a:ln/>
        </p:spPr>
        <p:txBody>
          <a:bodyPr wrap="square" lIns="0" tIns="0" rIns="0" bIns="0" rtlCol="0" anchor="ctr"/>
          <a:lstStyle/>
          <a:p>
            <a:pPr algn="ctr" indent="0" marL="0">
              <a:buNone/>
            </a:pPr>
            <a:r>
              <a:rPr lang="en-US" sz="1000" b="1" dirty="0">
                <a:solidFill>
                  <a:srgbClr val="8A6A1F"/>
                </a:solidFill>
                <a:latin typeface="Calibri" pitchFamily="34" charset="0"/>
                <a:ea typeface="Calibri" pitchFamily="34" charset="-122"/>
                <a:cs typeface="Calibri" pitchFamily="34" charset="-120"/>
              </a:rPr>
              <a:t>2</a:t>
            </a:r>
            <a:endParaRPr lang="en-US" sz="1000" dirty="0"/>
          </a:p>
        </p:txBody>
      </p:sp>
      <p:sp>
        <p:nvSpPr>
          <p:cNvPr id="77" name="Text 70"/>
          <p:cNvSpPr txBox="1"/>
          <p:nvPr/>
        </p:nvSpPr>
        <p:spPr>
          <a:xfrm>
            <a:off x="10186416" y="3666744"/>
            <a:ext cx="1325880" cy="658368"/>
          </a:xfrm>
          <a:prstGeom prst="rect">
            <a:avLst/>
          </a:prstGeom>
          <a:noFill/>
          <a:ln/>
        </p:spPr>
        <p:txBody>
          <a:bodyPr wrap="square" lIns="0" tIns="0" rIns="0" bIns="0" rtlCol="0" anchor="t"/>
          <a:lstStyle/>
          <a:p>
            <a:pPr indent="0" marL="0">
              <a:buNone/>
            </a:pPr>
            <a:r>
              <a:rPr lang="en-US" sz="1150" dirty="0">
                <a:solidFill>
                  <a:srgbClr val="10171F"/>
                </a:solidFill>
                <a:latin typeface="Calibri" pitchFamily="34" charset="0"/>
                <a:ea typeface="Calibri" pitchFamily="34" charset="-122"/>
                <a:cs typeface="Calibri" pitchFamily="34" charset="-120"/>
              </a:rPr>
              <a:t>Chooses an open slot</a:t>
            </a:r>
            <a:endParaRPr lang="en-US" sz="1150" dirty="0"/>
          </a:p>
        </p:txBody>
      </p:sp>
      <p:sp>
        <p:nvSpPr>
          <p:cNvPr id="78" name="Shape 71"/>
          <p:cNvSpPr/>
          <p:nvPr/>
        </p:nvSpPr>
        <p:spPr>
          <a:xfrm>
            <a:off x="9811512" y="4480560"/>
            <a:ext cx="292608" cy="292608"/>
          </a:xfrm>
          <a:prstGeom prst="ellipse">
            <a:avLst/>
          </a:prstGeom>
          <a:solidFill>
            <a:srgbClr val="FCF1D4"/>
          </a:solidFill>
          <a:ln w="9525">
            <a:solidFill>
              <a:srgbClr val="C79E41"/>
            </a:solidFill>
            <a:prstDash val="solid"/>
          </a:ln>
        </p:spPr>
      </p:sp>
      <p:sp>
        <p:nvSpPr>
          <p:cNvPr id="79" name="Text 72"/>
          <p:cNvSpPr txBox="1"/>
          <p:nvPr/>
        </p:nvSpPr>
        <p:spPr>
          <a:xfrm>
            <a:off x="9811512" y="4480560"/>
            <a:ext cx="292608" cy="292608"/>
          </a:xfrm>
          <a:prstGeom prst="rect">
            <a:avLst/>
          </a:prstGeom>
          <a:noFill/>
          <a:ln/>
        </p:spPr>
        <p:txBody>
          <a:bodyPr wrap="square" lIns="0" tIns="0" rIns="0" bIns="0" rtlCol="0" anchor="ctr"/>
          <a:lstStyle/>
          <a:p>
            <a:pPr algn="ctr" indent="0" marL="0">
              <a:buNone/>
            </a:pPr>
            <a:r>
              <a:rPr lang="en-US" sz="1000" b="1" dirty="0">
                <a:solidFill>
                  <a:srgbClr val="8A6A1F"/>
                </a:solidFill>
                <a:latin typeface="Calibri" pitchFamily="34" charset="0"/>
                <a:ea typeface="Calibri" pitchFamily="34" charset="-122"/>
                <a:cs typeface="Calibri" pitchFamily="34" charset="-120"/>
              </a:rPr>
              <a:t>3</a:t>
            </a:r>
            <a:endParaRPr lang="en-US" sz="1000" dirty="0"/>
          </a:p>
        </p:txBody>
      </p:sp>
      <p:sp>
        <p:nvSpPr>
          <p:cNvPr id="80" name="Text 73"/>
          <p:cNvSpPr txBox="1"/>
          <p:nvPr/>
        </p:nvSpPr>
        <p:spPr>
          <a:xfrm>
            <a:off x="10186416" y="4443984"/>
            <a:ext cx="1325880" cy="658368"/>
          </a:xfrm>
          <a:prstGeom prst="rect">
            <a:avLst/>
          </a:prstGeom>
          <a:noFill/>
          <a:ln/>
        </p:spPr>
        <p:txBody>
          <a:bodyPr wrap="square" lIns="0" tIns="0" rIns="0" bIns="0" rtlCol="0" anchor="t"/>
          <a:lstStyle/>
          <a:p>
            <a:pPr indent="0" marL="0">
              <a:buNone/>
            </a:pPr>
            <a:r>
              <a:rPr lang="en-US" sz="1150" dirty="0">
                <a:solidFill>
                  <a:srgbClr val="10171F"/>
                </a:solidFill>
                <a:latin typeface="Calibri" pitchFamily="34" charset="0"/>
                <a:ea typeface="Calibri" pitchFamily="34" charset="-122"/>
                <a:cs typeface="Calibri" pitchFamily="34" charset="-120"/>
              </a:rPr>
              <a:t>Calendar invite and reminders</a:t>
            </a:r>
            <a:endParaRPr lang="en-US" sz="1150" dirty="0"/>
          </a:p>
        </p:txBody>
      </p:sp>
      <p:sp>
        <p:nvSpPr>
          <p:cNvPr id="81" name="Shape 74"/>
          <p:cNvSpPr/>
          <p:nvPr/>
        </p:nvSpPr>
        <p:spPr>
          <a:xfrm>
            <a:off x="9811512" y="5257800"/>
            <a:ext cx="292608" cy="292608"/>
          </a:xfrm>
          <a:prstGeom prst="ellipse">
            <a:avLst/>
          </a:prstGeom>
          <a:solidFill>
            <a:srgbClr val="FCF1D4"/>
          </a:solidFill>
          <a:ln w="9525">
            <a:solidFill>
              <a:srgbClr val="C79E41"/>
            </a:solidFill>
            <a:prstDash val="solid"/>
          </a:ln>
        </p:spPr>
      </p:sp>
      <p:sp>
        <p:nvSpPr>
          <p:cNvPr id="82" name="Text 75"/>
          <p:cNvSpPr txBox="1"/>
          <p:nvPr/>
        </p:nvSpPr>
        <p:spPr>
          <a:xfrm>
            <a:off x="9811512" y="5257800"/>
            <a:ext cx="292608" cy="292608"/>
          </a:xfrm>
          <a:prstGeom prst="rect">
            <a:avLst/>
          </a:prstGeom>
          <a:noFill/>
          <a:ln/>
        </p:spPr>
        <p:txBody>
          <a:bodyPr wrap="square" lIns="0" tIns="0" rIns="0" bIns="0" rtlCol="0" anchor="ctr"/>
          <a:lstStyle/>
          <a:p>
            <a:pPr algn="ctr" indent="0" marL="0">
              <a:buNone/>
            </a:pPr>
            <a:r>
              <a:rPr lang="en-US" sz="1000" b="1" dirty="0">
                <a:solidFill>
                  <a:srgbClr val="8A6A1F"/>
                </a:solidFill>
                <a:latin typeface="Calibri" pitchFamily="34" charset="0"/>
                <a:ea typeface="Calibri" pitchFamily="34" charset="-122"/>
                <a:cs typeface="Calibri" pitchFamily="34" charset="-120"/>
              </a:rPr>
              <a:t>4</a:t>
            </a:r>
            <a:endParaRPr lang="en-US" sz="1000" dirty="0"/>
          </a:p>
        </p:txBody>
      </p:sp>
      <p:sp>
        <p:nvSpPr>
          <p:cNvPr id="83" name="Text 76"/>
          <p:cNvSpPr txBox="1"/>
          <p:nvPr/>
        </p:nvSpPr>
        <p:spPr>
          <a:xfrm>
            <a:off x="10186416" y="5221224"/>
            <a:ext cx="1325880" cy="658368"/>
          </a:xfrm>
          <a:prstGeom prst="rect">
            <a:avLst/>
          </a:prstGeom>
          <a:noFill/>
          <a:ln/>
        </p:spPr>
        <p:txBody>
          <a:bodyPr wrap="square" lIns="0" tIns="0" rIns="0" bIns="0" rtlCol="0" anchor="t"/>
          <a:lstStyle/>
          <a:p>
            <a:pPr indent="0" marL="0">
              <a:buNone/>
            </a:pPr>
            <a:r>
              <a:rPr lang="en-US" sz="1150" dirty="0">
                <a:solidFill>
                  <a:srgbClr val="10171F"/>
                </a:solidFill>
                <a:latin typeface="Calibri" pitchFamily="34" charset="0"/>
                <a:ea typeface="Calibri" pitchFamily="34" charset="-122"/>
                <a:cs typeface="Calibri" pitchFamily="34" charset="-120"/>
              </a:rPr>
              <a:t>Notes and next steps recorded</a:t>
            </a:r>
            <a:endParaRPr lang="en-US" sz="1150" dirty="0"/>
          </a:p>
        </p:txBody>
      </p:sp>
      <p:sp>
        <p:nvSpPr>
          <p:cNvPr id="84" name="Text 77"/>
          <p:cNvSpPr txBox="1"/>
          <p:nvPr/>
        </p:nvSpPr>
        <p:spPr>
          <a:xfrm>
            <a:off x="9814255" y="6473952"/>
            <a:ext cx="1828800" cy="201168"/>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Horizon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28600"/>
          </a:xfrm>
          <a:prstGeom prst="rect">
            <a:avLst/>
          </a:prstGeom>
          <a:noFill/>
          <a:ln/>
        </p:spPr>
        <p:txBody>
          <a:bodyPr wrap="square" lIns="0" tIns="0" rIns="0" bIns="0" rtlCol="0" anchor="ctr"/>
          <a:lstStyle/>
          <a:p>
            <a:pPr indent="0" marL="0">
              <a:buNone/>
            </a:pPr>
            <a:r>
              <a:rPr lang="en-US" sz="1100" b="1" spc="300" kern="0" dirty="0">
                <a:solidFill>
                  <a:srgbClr val="05437A"/>
                </a:solidFill>
                <a:latin typeface="Calibri" pitchFamily="34" charset="0"/>
                <a:ea typeface="Calibri" pitchFamily="34" charset="-122"/>
                <a:cs typeface="Calibri" pitchFamily="34" charset="-120"/>
              </a:rPr>
              <a:t>SCHOOL ADMINISTRATOR</a:t>
            </a:r>
            <a:endParaRPr lang="en-US" sz="1100" dirty="0"/>
          </a:p>
        </p:txBody>
      </p:sp>
      <p:sp>
        <p:nvSpPr>
          <p:cNvPr id="3" name="Text 1"/>
          <p:cNvSpPr txBox="1"/>
          <p:nvPr/>
        </p:nvSpPr>
        <p:spPr>
          <a:xfrm>
            <a:off x="548640" y="411480"/>
            <a:ext cx="11064240" cy="822960"/>
          </a:xfrm>
          <a:prstGeom prst="rect">
            <a:avLst/>
          </a:prstGeom>
          <a:noFill/>
          <a:ln/>
        </p:spPr>
        <p:txBody>
          <a:bodyPr wrap="square" lIns="0" tIns="0" rIns="0" bIns="0" rtlCol="0" anchor="t"/>
          <a:lstStyle/>
          <a:p>
            <a:pPr indent="0" marL="0">
              <a:buNone/>
            </a:pPr>
            <a:r>
              <a:rPr lang="en-US" sz="2600" b="1" dirty="0">
                <a:solidFill>
                  <a:srgbClr val="10171F"/>
                </a:solidFill>
                <a:latin typeface="Cambria" pitchFamily="34" charset="0"/>
                <a:ea typeface="Cambria" pitchFamily="34" charset="-122"/>
                <a:cs typeface="Cambria" pitchFamily="34" charset="-120"/>
              </a:rPr>
              <a:t>The school configures it. No vendor coding.</a:t>
            </a:r>
            <a:endParaRPr lang="en-US" sz="2600" dirty="0"/>
          </a:p>
        </p:txBody>
      </p:sp>
      <p:sp>
        <p:nvSpPr>
          <p:cNvPr id="4" name="Shape 2"/>
          <p:cNvSpPr/>
          <p:nvPr/>
        </p:nvSpPr>
        <p:spPr>
          <a:xfrm>
            <a:off x="548640" y="1417320"/>
            <a:ext cx="566928" cy="566928"/>
          </a:xfrm>
          <a:prstGeom prst="ellipse">
            <a:avLst/>
          </a:prstGeom>
          <a:solidFill>
            <a:srgbClr val="05437A"/>
          </a:solidFill>
          <a:ln w="12700">
            <a:solidFill>
              <a:srgbClr val="05437A"/>
            </a:solidFill>
            <a:prstDash val="solid"/>
          </a:ln>
        </p:spPr>
      </p:sp>
      <p:sp>
        <p:nvSpPr>
          <p:cNvPr id="5" name="Text 3"/>
          <p:cNvSpPr txBox="1"/>
          <p:nvPr/>
        </p:nvSpPr>
        <p:spPr>
          <a:xfrm>
            <a:off x="548640" y="14173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AR</a:t>
            </a:r>
            <a:endParaRPr lang="en-US" sz="1500" dirty="0"/>
          </a:p>
        </p:txBody>
      </p:sp>
      <p:sp>
        <p:nvSpPr>
          <p:cNvPr id="6" name="Text 4"/>
          <p:cNvSpPr txBox="1"/>
          <p:nvPr/>
        </p:nvSpPr>
        <p:spPr>
          <a:xfrm>
            <a:off x="1261872" y="1399032"/>
            <a:ext cx="3291840" cy="603504"/>
          </a:xfrm>
          <a:prstGeom prst="rect">
            <a:avLst/>
          </a:prstGeom>
          <a:noFill/>
          <a:ln/>
        </p:spPr>
        <p:txBody>
          <a:bodyPr wrap="square" lIns="0" tIns="0" rIns="0" bIns="0" rtlCol="0" anchor="ctr"/>
          <a:lstStyle/>
          <a:p>
            <a:pPr indent="0" marL="0">
              <a:buNone/>
            </a:pPr>
            <a:r>
              <a:rPr lang="en-US" sz="1500" b="1" dirty="0">
                <a:solidFill>
                  <a:srgbClr val="10171F"/>
                </a:solidFill>
                <a:latin typeface="Calibri" pitchFamily="34" charset="0"/>
                <a:ea typeface="Calibri" pitchFamily="34" charset="-122"/>
                <a:cs typeface="Calibri" pitchFamily="34" charset="-120"/>
              </a:rPr>
              <a:t>Aisha Rahman</a:t>
            </a:r>
            <a:endParaRPr lang="en-US" sz="1500" dirty="0"/>
          </a:p>
          <a:p>
            <a:pPr indent="0" marL="0">
              <a:buNone/>
            </a:pPr>
            <a:r>
              <a:rPr lang="en-US" sz="1200" dirty="0">
                <a:solidFill>
                  <a:srgbClr val="616A75"/>
                </a:solidFill>
                <a:latin typeface="Calibri" pitchFamily="34" charset="0"/>
                <a:ea typeface="Calibri" pitchFamily="34" charset="-122"/>
                <a:cs typeface="Calibri" pitchFamily="34" charset="-120"/>
              </a:rPr>
              <a:t>School Administrator</a:t>
            </a:r>
            <a:endParaRPr lang="en-US" sz="1500" dirty="0"/>
          </a:p>
        </p:txBody>
      </p:sp>
      <p:sp>
        <p:nvSpPr>
          <p:cNvPr id="7" name="Shape 5"/>
          <p:cNvSpPr/>
          <p:nvPr/>
        </p:nvSpPr>
        <p:spPr>
          <a:xfrm>
            <a:off x="548640" y="2331720"/>
            <a:ext cx="402336" cy="402336"/>
          </a:xfrm>
          <a:prstGeom prst="ellipse">
            <a:avLst/>
          </a:prstGeom>
          <a:solidFill>
            <a:srgbClr val="E3F0FF"/>
          </a:solidFill>
          <a:ln w="12700">
            <a:solidFill>
              <a:srgbClr val="E3F0FF"/>
            </a:solidFill>
            <a:prstDash val="solid"/>
          </a:ln>
        </p:spPr>
      </p:sp>
      <p:pic>
        <p:nvPicPr>
          <p:cNvPr id="8" name="Image 0" descr="preencoded.png">    </p:cNvPr>
          <p:cNvPicPr>
            <a:picLocks noChangeAspect="1"/>
          </p:cNvPicPr>
          <p:nvPr/>
        </p:nvPicPr>
        <p:blipFill>
          <a:blip r:embed="rId1"/>
          <a:stretch>
            <a:fillRect/>
          </a:stretch>
        </p:blipFill>
        <p:spPr>
          <a:xfrm>
            <a:off x="640080" y="2423160"/>
            <a:ext cx="219456" cy="219456"/>
          </a:xfrm>
          <a:prstGeom prst="rect">
            <a:avLst/>
          </a:prstGeom>
        </p:spPr>
      </p:pic>
      <p:sp>
        <p:nvSpPr>
          <p:cNvPr id="9" name="Text 6"/>
          <p:cNvSpPr txBox="1"/>
          <p:nvPr/>
        </p:nvSpPr>
        <p:spPr>
          <a:xfrm>
            <a:off x="1115568" y="2295144"/>
            <a:ext cx="3547872" cy="841248"/>
          </a:xfrm>
          <a:prstGeom prst="rect">
            <a:avLst/>
          </a:prstGeom>
          <a:noFill/>
          <a:ln/>
        </p:spPr>
        <p:txBody>
          <a:bodyPr wrap="square" lIns="0" tIns="0" rIns="0" bIns="0" rtlCol="0" anchor="t"/>
          <a:lstStyle/>
          <a:p>
            <a:pPr indent="0" marL="0">
              <a:spcAft>
                <a:spcPts val="200"/>
              </a:spcAft>
              <a:buNone/>
            </a:pPr>
            <a:r>
              <a:rPr lang="en-US" sz="1400" b="1" dirty="0">
                <a:solidFill>
                  <a:srgbClr val="10171F"/>
                </a:solidFill>
                <a:latin typeface="Calibri" pitchFamily="34" charset="0"/>
                <a:ea typeface="Calibri" pitchFamily="34" charset="-122"/>
                <a:cs typeface="Calibri" pitchFamily="34" charset="-120"/>
              </a:rPr>
              <a:t>Visual workflow builder</a:t>
            </a:r>
            <a:endParaRPr lang="en-US" sz="1400" dirty="0"/>
          </a:p>
          <a:p>
            <a:pPr indent="0" marL="0">
              <a:spcAft>
                <a:spcPts val="200"/>
              </a:spcAft>
              <a:buNone/>
            </a:pPr>
            <a:r>
              <a:rPr lang="en-US" sz="1200" dirty="0">
                <a:solidFill>
                  <a:srgbClr val="616A75"/>
                </a:solidFill>
                <a:latin typeface="Calibri" pitchFamily="34" charset="0"/>
                <a:ea typeface="Calibri" pitchFamily="34" charset="-122"/>
                <a:cs typeface="Calibri" pitchFamily="34" charset="-120"/>
              </a:rPr>
              <a:t>Approvals, tasks, waits and notifications. Validate and simulate before you publish.</a:t>
            </a:r>
            <a:endParaRPr lang="en-US" sz="1400" dirty="0"/>
          </a:p>
        </p:txBody>
      </p:sp>
      <p:sp>
        <p:nvSpPr>
          <p:cNvPr id="10" name="Shape 7"/>
          <p:cNvSpPr/>
          <p:nvPr/>
        </p:nvSpPr>
        <p:spPr>
          <a:xfrm>
            <a:off x="548640" y="3246120"/>
            <a:ext cx="402336" cy="402336"/>
          </a:xfrm>
          <a:prstGeom prst="ellipse">
            <a:avLst/>
          </a:prstGeom>
          <a:solidFill>
            <a:srgbClr val="E3F0FF"/>
          </a:solidFill>
          <a:ln w="12700">
            <a:solidFill>
              <a:srgbClr val="E3F0FF"/>
            </a:solidFill>
            <a:prstDash val="solid"/>
          </a:ln>
        </p:spPr>
      </p:sp>
      <p:pic>
        <p:nvPicPr>
          <p:cNvPr id="11" name="Image 1" descr="preencoded.png">    </p:cNvPr>
          <p:cNvPicPr>
            <a:picLocks noChangeAspect="1"/>
          </p:cNvPicPr>
          <p:nvPr/>
        </p:nvPicPr>
        <p:blipFill>
          <a:blip r:embed="rId2"/>
          <a:stretch>
            <a:fillRect/>
          </a:stretch>
        </p:blipFill>
        <p:spPr>
          <a:xfrm>
            <a:off x="640080" y="3337560"/>
            <a:ext cx="219456" cy="219456"/>
          </a:xfrm>
          <a:prstGeom prst="rect">
            <a:avLst/>
          </a:prstGeom>
        </p:spPr>
      </p:pic>
      <p:sp>
        <p:nvSpPr>
          <p:cNvPr id="12" name="Text 8"/>
          <p:cNvSpPr txBox="1"/>
          <p:nvPr/>
        </p:nvSpPr>
        <p:spPr>
          <a:xfrm>
            <a:off x="1115568" y="3209544"/>
            <a:ext cx="3547872" cy="841248"/>
          </a:xfrm>
          <a:prstGeom prst="rect">
            <a:avLst/>
          </a:prstGeom>
          <a:noFill/>
          <a:ln/>
        </p:spPr>
        <p:txBody>
          <a:bodyPr wrap="square" lIns="0" tIns="0" rIns="0" bIns="0" rtlCol="0" anchor="t"/>
          <a:lstStyle/>
          <a:p>
            <a:pPr indent="0" marL="0">
              <a:spcAft>
                <a:spcPts val="200"/>
              </a:spcAft>
              <a:buNone/>
            </a:pPr>
            <a:r>
              <a:rPr lang="en-US" sz="1400" b="1" dirty="0">
                <a:solidFill>
                  <a:srgbClr val="10171F"/>
                </a:solidFill>
                <a:latin typeface="Calibri" pitchFamily="34" charset="0"/>
                <a:ea typeface="Calibri" pitchFamily="34" charset="-122"/>
                <a:cs typeface="Calibri" pitchFamily="34" charset="-120"/>
              </a:rPr>
              <a:t>Drag-and-drop forms</a:t>
            </a:r>
            <a:endParaRPr lang="en-US" sz="1400" dirty="0"/>
          </a:p>
          <a:p>
            <a:pPr indent="0" marL="0">
              <a:spcAft>
                <a:spcPts val="200"/>
              </a:spcAft>
              <a:buNone/>
            </a:pPr>
            <a:r>
              <a:rPr lang="en-US" sz="1200" dirty="0">
                <a:solidFill>
                  <a:srgbClr val="616A75"/>
                </a:solidFill>
                <a:latin typeface="Calibri" pitchFamily="34" charset="0"/>
                <a:ea typeface="Calibri" pitchFamily="34" charset="-122"/>
                <a:cs typeface="Calibri" pitchFamily="34" charset="-120"/>
              </a:rPr>
              <a:t>21 field types, conditional logic, Arabic and English labels, versioned publishing.</a:t>
            </a:r>
            <a:endParaRPr lang="en-US" sz="1400" dirty="0"/>
          </a:p>
        </p:txBody>
      </p:sp>
      <p:sp>
        <p:nvSpPr>
          <p:cNvPr id="13" name="Shape 9"/>
          <p:cNvSpPr/>
          <p:nvPr/>
        </p:nvSpPr>
        <p:spPr>
          <a:xfrm>
            <a:off x="548640" y="4160520"/>
            <a:ext cx="402336" cy="402336"/>
          </a:xfrm>
          <a:prstGeom prst="ellipse">
            <a:avLst/>
          </a:prstGeom>
          <a:solidFill>
            <a:srgbClr val="E3F0FF"/>
          </a:solidFill>
          <a:ln w="12700">
            <a:solidFill>
              <a:srgbClr val="E3F0FF"/>
            </a:solidFill>
            <a:prstDash val="solid"/>
          </a:ln>
        </p:spPr>
      </p:sp>
      <p:pic>
        <p:nvPicPr>
          <p:cNvPr id="14" name="Image 2" descr="preencoded.png">    </p:cNvPr>
          <p:cNvPicPr>
            <a:picLocks noChangeAspect="1"/>
          </p:cNvPicPr>
          <p:nvPr/>
        </p:nvPicPr>
        <p:blipFill>
          <a:blip r:embed="rId3"/>
          <a:stretch>
            <a:fillRect/>
          </a:stretch>
        </p:blipFill>
        <p:spPr>
          <a:xfrm>
            <a:off x="640080" y="4251960"/>
            <a:ext cx="219456" cy="219456"/>
          </a:xfrm>
          <a:prstGeom prst="rect">
            <a:avLst/>
          </a:prstGeom>
        </p:spPr>
      </p:pic>
      <p:sp>
        <p:nvSpPr>
          <p:cNvPr id="15" name="Text 10"/>
          <p:cNvSpPr txBox="1"/>
          <p:nvPr/>
        </p:nvSpPr>
        <p:spPr>
          <a:xfrm>
            <a:off x="1115568" y="4123944"/>
            <a:ext cx="3547872" cy="841248"/>
          </a:xfrm>
          <a:prstGeom prst="rect">
            <a:avLst/>
          </a:prstGeom>
          <a:noFill/>
          <a:ln/>
        </p:spPr>
        <p:txBody>
          <a:bodyPr wrap="square" lIns="0" tIns="0" rIns="0" bIns="0" rtlCol="0" anchor="t"/>
          <a:lstStyle/>
          <a:p>
            <a:pPr indent="0" marL="0">
              <a:spcAft>
                <a:spcPts val="200"/>
              </a:spcAft>
              <a:buNone/>
            </a:pPr>
            <a:r>
              <a:rPr lang="en-US" sz="1400" b="1" dirty="0">
                <a:solidFill>
                  <a:srgbClr val="10171F"/>
                </a:solidFill>
                <a:latin typeface="Calibri" pitchFamily="34" charset="0"/>
                <a:ea typeface="Calibri" pitchFamily="34" charset="-122"/>
                <a:cs typeface="Calibri" pitchFamily="34" charset="-120"/>
              </a:rPr>
              <a:t>Letter templates</a:t>
            </a:r>
            <a:endParaRPr lang="en-US" sz="1400" dirty="0"/>
          </a:p>
          <a:p>
            <a:pPr indent="0" marL="0">
              <a:spcAft>
                <a:spcPts val="200"/>
              </a:spcAft>
              <a:buNone/>
            </a:pPr>
            <a:r>
              <a:rPr lang="en-US" sz="1200" dirty="0">
                <a:solidFill>
                  <a:srgbClr val="616A75"/>
                </a:solidFill>
                <a:latin typeface="Calibri" pitchFamily="34" charset="0"/>
                <a:ea typeface="Calibri" pitchFamily="34" charset="-122"/>
                <a:cs typeface="Calibri" pitchFamily="34" charset="-120"/>
              </a:rPr>
              <a:t>Bilingual letters with a live PDF preview and correct Arabic shaping.</a:t>
            </a:r>
            <a:endParaRPr lang="en-US" sz="1400" dirty="0"/>
          </a:p>
        </p:txBody>
      </p:sp>
      <p:sp>
        <p:nvSpPr>
          <p:cNvPr id="16" name="Shape 11"/>
          <p:cNvSpPr/>
          <p:nvPr/>
        </p:nvSpPr>
        <p:spPr>
          <a:xfrm>
            <a:off x="548640" y="5074920"/>
            <a:ext cx="402336" cy="402336"/>
          </a:xfrm>
          <a:prstGeom prst="ellipse">
            <a:avLst/>
          </a:prstGeom>
          <a:solidFill>
            <a:srgbClr val="E3F0FF"/>
          </a:solidFill>
          <a:ln w="12700">
            <a:solidFill>
              <a:srgbClr val="E3F0FF"/>
            </a:solidFill>
            <a:prstDash val="solid"/>
          </a:ln>
        </p:spPr>
      </p:sp>
      <p:pic>
        <p:nvPicPr>
          <p:cNvPr id="17" name="Image 3" descr="preencoded.png">    </p:cNvPr>
          <p:cNvPicPr>
            <a:picLocks noChangeAspect="1"/>
          </p:cNvPicPr>
          <p:nvPr/>
        </p:nvPicPr>
        <p:blipFill>
          <a:blip r:embed="rId4"/>
          <a:stretch>
            <a:fillRect/>
          </a:stretch>
        </p:blipFill>
        <p:spPr>
          <a:xfrm>
            <a:off x="640080" y="5166360"/>
            <a:ext cx="219456" cy="219456"/>
          </a:xfrm>
          <a:prstGeom prst="rect">
            <a:avLst/>
          </a:prstGeom>
        </p:spPr>
      </p:pic>
      <p:sp>
        <p:nvSpPr>
          <p:cNvPr id="18" name="Text 12"/>
          <p:cNvSpPr txBox="1"/>
          <p:nvPr/>
        </p:nvSpPr>
        <p:spPr>
          <a:xfrm>
            <a:off x="1115568" y="5038344"/>
            <a:ext cx="3547872" cy="841248"/>
          </a:xfrm>
          <a:prstGeom prst="rect">
            <a:avLst/>
          </a:prstGeom>
          <a:noFill/>
          <a:ln/>
        </p:spPr>
        <p:txBody>
          <a:bodyPr wrap="square" lIns="0" tIns="0" rIns="0" bIns="0" rtlCol="0" anchor="t"/>
          <a:lstStyle/>
          <a:p>
            <a:pPr indent="0" marL="0">
              <a:spcAft>
                <a:spcPts val="200"/>
              </a:spcAft>
              <a:buNone/>
            </a:pPr>
            <a:r>
              <a:rPr lang="en-US" sz="1400" b="1" dirty="0">
                <a:solidFill>
                  <a:srgbClr val="10171F"/>
                </a:solidFill>
                <a:latin typeface="Calibri" pitchFamily="34" charset="0"/>
                <a:ea typeface="Calibri" pitchFamily="34" charset="-122"/>
                <a:cs typeface="Calibri" pitchFamily="34" charset="-120"/>
              </a:rPr>
              <a:t>Roles, access and audit</a:t>
            </a:r>
            <a:endParaRPr lang="en-US" sz="1400" dirty="0"/>
          </a:p>
          <a:p>
            <a:pPr indent="0" marL="0">
              <a:spcAft>
                <a:spcPts val="200"/>
              </a:spcAft>
              <a:buNone/>
            </a:pPr>
            <a:r>
              <a:rPr lang="en-US" sz="1200" dirty="0">
                <a:solidFill>
                  <a:srgbClr val="616A75"/>
                </a:solidFill>
                <a:latin typeface="Calibri" pitchFamily="34" charset="0"/>
                <a:ea typeface="Calibri" pitchFamily="34" charset="-122"/>
                <a:cs typeface="Calibri" pitchFamily="34" charset="-120"/>
              </a:rPr>
              <a:t>Plain-language permissions, an access check per person and a full audit log.</a:t>
            </a:r>
            <a:endParaRPr lang="en-US" sz="1400" dirty="0"/>
          </a:p>
        </p:txBody>
      </p:sp>
      <p:sp>
        <p:nvSpPr>
          <p:cNvPr id="19" name="Shape 13"/>
          <p:cNvSpPr/>
          <p:nvPr/>
        </p:nvSpPr>
        <p:spPr>
          <a:xfrm>
            <a:off x="4983480" y="1417320"/>
            <a:ext cx="6675120" cy="4382262"/>
          </a:xfrm>
          <a:prstGeom prst="roundRect">
            <a:avLst>
              <a:gd name="adj" fmla="val 1461"/>
            </a:avLst>
          </a:prstGeom>
          <a:solidFill>
            <a:srgbClr val="FFFFFF"/>
          </a:solidFill>
          <a:ln w="9525">
            <a:solidFill>
              <a:srgbClr val="DFE3E8"/>
            </a:solidFill>
            <a:prstDash val="solid"/>
          </a:ln>
          <a:effectLst>
            <a:outerShdw sx="100000" sy="100000" kx="0" ky="0" algn="bl" rotWithShape="0" blurRad="177800" dist="63500" dir="5400000">
              <a:srgbClr val="0C182A">
                <a:alpha val="16000"/>
              </a:srgbClr>
            </a:outerShdw>
          </a:effectLst>
        </p:spPr>
      </p:sp>
      <p:sp>
        <p:nvSpPr>
          <p:cNvPr id="20" name="Shape 14"/>
          <p:cNvSpPr/>
          <p:nvPr/>
        </p:nvSpPr>
        <p:spPr>
          <a:xfrm>
            <a:off x="5093208" y="1485900"/>
            <a:ext cx="77724" cy="77724"/>
          </a:xfrm>
          <a:prstGeom prst="ellipse">
            <a:avLst/>
          </a:prstGeom>
          <a:solidFill>
            <a:srgbClr val="E5776E"/>
          </a:solidFill>
          <a:ln w="12700">
            <a:solidFill>
              <a:srgbClr val="E5776E"/>
            </a:solidFill>
            <a:prstDash val="solid"/>
          </a:ln>
        </p:spPr>
      </p:sp>
      <p:sp>
        <p:nvSpPr>
          <p:cNvPr id="21" name="Shape 15"/>
          <p:cNvSpPr/>
          <p:nvPr/>
        </p:nvSpPr>
        <p:spPr>
          <a:xfrm>
            <a:off x="5212080" y="1485900"/>
            <a:ext cx="77724" cy="77724"/>
          </a:xfrm>
          <a:prstGeom prst="ellipse">
            <a:avLst/>
          </a:prstGeom>
          <a:solidFill>
            <a:srgbClr val="E8C35A"/>
          </a:solidFill>
          <a:ln w="12700">
            <a:solidFill>
              <a:srgbClr val="E8C35A"/>
            </a:solidFill>
            <a:prstDash val="solid"/>
          </a:ln>
        </p:spPr>
      </p:sp>
      <p:sp>
        <p:nvSpPr>
          <p:cNvPr id="22" name="Shape 16"/>
          <p:cNvSpPr/>
          <p:nvPr/>
        </p:nvSpPr>
        <p:spPr>
          <a:xfrm>
            <a:off x="5330952" y="1485900"/>
            <a:ext cx="77724" cy="77724"/>
          </a:xfrm>
          <a:prstGeom prst="ellipse">
            <a:avLst/>
          </a:prstGeom>
          <a:solidFill>
            <a:srgbClr val="6CC08A"/>
          </a:solidFill>
          <a:ln w="12700">
            <a:solidFill>
              <a:srgbClr val="6CC08A"/>
            </a:solidFill>
            <a:prstDash val="solid"/>
          </a:ln>
        </p:spPr>
      </p:sp>
      <p:pic>
        <p:nvPicPr>
          <p:cNvPr id="23" name="Image 4" descr="/tmp/claude-0/-home-user-School/397e64b2-6645-56da-9972-e1722fae0ce6/scratchpad/sales/imgdeck/admin-workflow-en.jpg">    </p:cNvPr>
          <p:cNvPicPr>
            <a:picLocks noChangeAspect="1"/>
          </p:cNvPicPr>
          <p:nvPr/>
        </p:nvPicPr>
        <p:blipFill>
          <a:blip r:embed="rId5"/>
          <a:stretch>
            <a:fillRect/>
          </a:stretch>
        </p:blipFill>
        <p:spPr>
          <a:xfrm>
            <a:off x="5020056" y="1636776"/>
            <a:ext cx="6601968" cy="4126230"/>
          </a:xfrm>
          <a:prstGeom prst="rect">
            <a:avLst/>
          </a:prstGeom>
        </p:spPr>
      </p:pic>
      <p:sp>
        <p:nvSpPr>
          <p:cNvPr id="24" name="Text 17"/>
          <p:cNvSpPr txBox="1"/>
          <p:nvPr/>
        </p:nvSpPr>
        <p:spPr>
          <a:xfrm>
            <a:off x="9814255" y="6473952"/>
            <a:ext cx="1828800" cy="201168"/>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Horizon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28600"/>
          </a:xfrm>
          <a:prstGeom prst="rect">
            <a:avLst/>
          </a:prstGeom>
          <a:noFill/>
          <a:ln/>
        </p:spPr>
        <p:txBody>
          <a:bodyPr wrap="square" lIns="0" tIns="0" rIns="0" bIns="0" rtlCol="0" anchor="ctr"/>
          <a:lstStyle/>
          <a:p>
            <a:pPr indent="0" marL="0">
              <a:buNone/>
            </a:pPr>
            <a:r>
              <a:rPr lang="en-US" sz="1100" b="1" spc="300" kern="0" dirty="0">
                <a:solidFill>
                  <a:srgbClr val="05437A"/>
                </a:solidFill>
                <a:latin typeface="Calibri" pitchFamily="34" charset="0"/>
                <a:ea typeface="Calibri" pitchFamily="34" charset="-122"/>
                <a:cs typeface="Calibri" pitchFamily="34" charset="-120"/>
              </a:rPr>
              <a:t>PRINCIPAL</a:t>
            </a:r>
            <a:endParaRPr lang="en-US" sz="1100" dirty="0"/>
          </a:p>
        </p:txBody>
      </p:sp>
      <p:sp>
        <p:nvSpPr>
          <p:cNvPr id="3" name="Text 1"/>
          <p:cNvSpPr txBox="1"/>
          <p:nvPr/>
        </p:nvSpPr>
        <p:spPr>
          <a:xfrm>
            <a:off x="548640" y="411480"/>
            <a:ext cx="11064240" cy="822960"/>
          </a:xfrm>
          <a:prstGeom prst="rect">
            <a:avLst/>
          </a:prstGeom>
          <a:noFill/>
          <a:ln/>
        </p:spPr>
        <p:txBody>
          <a:bodyPr wrap="square" lIns="0" tIns="0" rIns="0" bIns="0" rtlCol="0" anchor="t"/>
          <a:lstStyle/>
          <a:p>
            <a:pPr indent="0" marL="0">
              <a:buNone/>
            </a:pPr>
            <a:r>
              <a:rPr lang="en-US" sz="2600" b="1" dirty="0">
                <a:solidFill>
                  <a:srgbClr val="10171F"/>
                </a:solidFill>
                <a:latin typeface="Cambria" pitchFamily="34" charset="0"/>
                <a:ea typeface="Cambria" pitchFamily="34" charset="-122"/>
                <a:cs typeface="Cambria" pitchFamily="34" charset="-120"/>
              </a:rPr>
              <a:t>The whole school at a glance</a:t>
            </a:r>
            <a:endParaRPr lang="en-US" sz="2600" dirty="0"/>
          </a:p>
        </p:txBody>
      </p:sp>
      <p:sp>
        <p:nvSpPr>
          <p:cNvPr id="4" name="Shape 2"/>
          <p:cNvSpPr/>
          <p:nvPr/>
        </p:nvSpPr>
        <p:spPr>
          <a:xfrm>
            <a:off x="7498080" y="1417320"/>
            <a:ext cx="566928" cy="566928"/>
          </a:xfrm>
          <a:prstGeom prst="ellipse">
            <a:avLst/>
          </a:prstGeom>
          <a:solidFill>
            <a:srgbClr val="05437A"/>
          </a:solidFill>
          <a:ln w="12700">
            <a:solidFill>
              <a:srgbClr val="05437A"/>
            </a:solidFill>
            <a:prstDash val="solid"/>
          </a:ln>
        </p:spPr>
      </p:sp>
      <p:sp>
        <p:nvSpPr>
          <p:cNvPr id="5" name="Text 3"/>
          <p:cNvSpPr txBox="1"/>
          <p:nvPr/>
        </p:nvSpPr>
        <p:spPr>
          <a:xfrm>
            <a:off x="7498080" y="14173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OM</a:t>
            </a:r>
            <a:endParaRPr lang="en-US" sz="1500" dirty="0"/>
          </a:p>
        </p:txBody>
      </p:sp>
      <p:sp>
        <p:nvSpPr>
          <p:cNvPr id="6" name="Text 4"/>
          <p:cNvSpPr txBox="1"/>
          <p:nvPr/>
        </p:nvSpPr>
        <p:spPr>
          <a:xfrm>
            <a:off x="8211312" y="1399032"/>
            <a:ext cx="3291840" cy="603504"/>
          </a:xfrm>
          <a:prstGeom prst="rect">
            <a:avLst/>
          </a:prstGeom>
          <a:noFill/>
          <a:ln/>
        </p:spPr>
        <p:txBody>
          <a:bodyPr wrap="square" lIns="0" tIns="0" rIns="0" bIns="0" rtlCol="0" anchor="ctr"/>
          <a:lstStyle/>
          <a:p>
            <a:pPr indent="0" marL="0">
              <a:buNone/>
            </a:pPr>
            <a:r>
              <a:rPr lang="en-US" sz="1500" b="1" dirty="0">
                <a:solidFill>
                  <a:srgbClr val="10171F"/>
                </a:solidFill>
                <a:latin typeface="Calibri" pitchFamily="34" charset="0"/>
                <a:ea typeface="Calibri" pitchFamily="34" charset="-122"/>
                <a:cs typeface="Calibri" pitchFamily="34" charset="-120"/>
              </a:rPr>
              <a:t>Omar Al Mansoori</a:t>
            </a:r>
            <a:endParaRPr lang="en-US" sz="1500" dirty="0"/>
          </a:p>
          <a:p>
            <a:pPr indent="0" marL="0">
              <a:buNone/>
            </a:pPr>
            <a:r>
              <a:rPr lang="en-US" sz="1200" dirty="0">
                <a:solidFill>
                  <a:srgbClr val="616A75"/>
                </a:solidFill>
                <a:latin typeface="Calibri" pitchFamily="34" charset="0"/>
                <a:ea typeface="Calibri" pitchFamily="34" charset="-122"/>
                <a:cs typeface="Calibri" pitchFamily="34" charset="-120"/>
              </a:rPr>
              <a:t>Principal</a:t>
            </a:r>
            <a:endParaRPr lang="en-US" sz="1500" dirty="0"/>
          </a:p>
        </p:txBody>
      </p:sp>
      <p:sp>
        <p:nvSpPr>
          <p:cNvPr id="7" name="Shape 5"/>
          <p:cNvSpPr/>
          <p:nvPr/>
        </p:nvSpPr>
        <p:spPr>
          <a:xfrm>
            <a:off x="7498080" y="2331720"/>
            <a:ext cx="402336" cy="402336"/>
          </a:xfrm>
          <a:prstGeom prst="ellipse">
            <a:avLst/>
          </a:prstGeom>
          <a:solidFill>
            <a:srgbClr val="E3F0FF"/>
          </a:solidFill>
          <a:ln w="12700">
            <a:solidFill>
              <a:srgbClr val="E3F0FF"/>
            </a:solidFill>
            <a:prstDash val="solid"/>
          </a:ln>
        </p:spPr>
      </p:sp>
      <p:pic>
        <p:nvPicPr>
          <p:cNvPr id="8" name="Image 0" descr="preencoded.png">    </p:cNvPr>
          <p:cNvPicPr>
            <a:picLocks noChangeAspect="1"/>
          </p:cNvPicPr>
          <p:nvPr/>
        </p:nvPicPr>
        <p:blipFill>
          <a:blip r:embed="rId1"/>
          <a:stretch>
            <a:fillRect/>
          </a:stretch>
        </p:blipFill>
        <p:spPr>
          <a:xfrm>
            <a:off x="7589520" y="2423160"/>
            <a:ext cx="219456" cy="219456"/>
          </a:xfrm>
          <a:prstGeom prst="rect">
            <a:avLst/>
          </a:prstGeom>
        </p:spPr>
      </p:pic>
      <p:sp>
        <p:nvSpPr>
          <p:cNvPr id="9" name="Text 6"/>
          <p:cNvSpPr txBox="1"/>
          <p:nvPr/>
        </p:nvSpPr>
        <p:spPr>
          <a:xfrm>
            <a:off x="8065008" y="2295144"/>
            <a:ext cx="3547872" cy="841248"/>
          </a:xfrm>
          <a:prstGeom prst="rect">
            <a:avLst/>
          </a:prstGeom>
          <a:noFill/>
          <a:ln/>
        </p:spPr>
        <p:txBody>
          <a:bodyPr wrap="square" lIns="0" tIns="0" rIns="0" bIns="0" rtlCol="0" anchor="t"/>
          <a:lstStyle/>
          <a:p>
            <a:pPr indent="0" marL="0">
              <a:spcAft>
                <a:spcPts val="200"/>
              </a:spcAft>
              <a:buNone/>
            </a:pPr>
            <a:r>
              <a:rPr lang="en-US" sz="1400" b="1" dirty="0">
                <a:solidFill>
                  <a:srgbClr val="10171F"/>
                </a:solidFill>
                <a:latin typeface="Calibri" pitchFamily="34" charset="0"/>
                <a:ea typeface="Calibri" pitchFamily="34" charset="-122"/>
                <a:cs typeface="Calibri" pitchFamily="34" charset="-120"/>
              </a:rPr>
              <a:t>Live KPIs</a:t>
            </a:r>
            <a:endParaRPr lang="en-US" sz="1400" dirty="0"/>
          </a:p>
          <a:p>
            <a:pPr indent="0" marL="0">
              <a:spcAft>
                <a:spcPts val="200"/>
              </a:spcAft>
              <a:buNone/>
            </a:pPr>
            <a:r>
              <a:rPr lang="en-US" sz="1200" dirty="0">
                <a:solidFill>
                  <a:srgbClr val="616A75"/>
                </a:solidFill>
                <a:latin typeface="Calibri" pitchFamily="34" charset="0"/>
                <a:ea typeface="Calibri" pitchFamily="34" charset="-122"/>
                <a:cs typeface="Calibri" pitchFamily="34" charset="-120"/>
              </a:rPr>
              <a:t>Requests, average resolution time, open requests and open cases, compared with the previous period.</a:t>
            </a:r>
            <a:endParaRPr lang="en-US" sz="1400" dirty="0"/>
          </a:p>
        </p:txBody>
      </p:sp>
      <p:sp>
        <p:nvSpPr>
          <p:cNvPr id="10" name="Shape 7"/>
          <p:cNvSpPr/>
          <p:nvPr/>
        </p:nvSpPr>
        <p:spPr>
          <a:xfrm>
            <a:off x="7498080" y="3246120"/>
            <a:ext cx="402336" cy="402336"/>
          </a:xfrm>
          <a:prstGeom prst="ellipse">
            <a:avLst/>
          </a:prstGeom>
          <a:solidFill>
            <a:srgbClr val="E3F0FF"/>
          </a:solidFill>
          <a:ln w="12700">
            <a:solidFill>
              <a:srgbClr val="E3F0FF"/>
            </a:solidFill>
            <a:prstDash val="solid"/>
          </a:ln>
        </p:spPr>
      </p:sp>
      <p:pic>
        <p:nvPicPr>
          <p:cNvPr id="11" name="Image 1" descr="preencoded.png">    </p:cNvPr>
          <p:cNvPicPr>
            <a:picLocks noChangeAspect="1"/>
          </p:cNvPicPr>
          <p:nvPr/>
        </p:nvPicPr>
        <p:blipFill>
          <a:blip r:embed="rId2"/>
          <a:stretch>
            <a:fillRect/>
          </a:stretch>
        </p:blipFill>
        <p:spPr>
          <a:xfrm>
            <a:off x="7589520" y="3337560"/>
            <a:ext cx="219456" cy="219456"/>
          </a:xfrm>
          <a:prstGeom prst="rect">
            <a:avLst/>
          </a:prstGeom>
        </p:spPr>
      </p:pic>
      <p:sp>
        <p:nvSpPr>
          <p:cNvPr id="12" name="Text 8"/>
          <p:cNvSpPr txBox="1"/>
          <p:nvPr/>
        </p:nvSpPr>
        <p:spPr>
          <a:xfrm>
            <a:off x="8065008" y="3209544"/>
            <a:ext cx="3547872" cy="841248"/>
          </a:xfrm>
          <a:prstGeom prst="rect">
            <a:avLst/>
          </a:prstGeom>
          <a:noFill/>
          <a:ln/>
        </p:spPr>
        <p:txBody>
          <a:bodyPr wrap="square" lIns="0" tIns="0" rIns="0" bIns="0" rtlCol="0" anchor="t"/>
          <a:lstStyle/>
          <a:p>
            <a:pPr indent="0" marL="0">
              <a:spcAft>
                <a:spcPts val="200"/>
              </a:spcAft>
              <a:buNone/>
            </a:pPr>
            <a:r>
              <a:rPr lang="en-US" sz="1400" b="1" dirty="0">
                <a:solidFill>
                  <a:srgbClr val="10171F"/>
                </a:solidFill>
                <a:latin typeface="Calibri" pitchFamily="34" charset="0"/>
                <a:ea typeface="Calibri" pitchFamily="34" charset="-122"/>
                <a:cs typeface="Calibri" pitchFamily="34" charset="-120"/>
              </a:rPr>
              <a:t>Service levels</a:t>
            </a:r>
            <a:endParaRPr lang="en-US" sz="1400" dirty="0"/>
          </a:p>
          <a:p>
            <a:pPr indent="0" marL="0">
              <a:spcAft>
                <a:spcPts val="200"/>
              </a:spcAft>
              <a:buNone/>
            </a:pPr>
            <a:r>
              <a:rPr lang="en-US" sz="1200" dirty="0">
                <a:solidFill>
                  <a:srgbClr val="616A75"/>
                </a:solidFill>
                <a:latin typeface="Calibri" pitchFamily="34" charset="0"/>
                <a:ea typeface="Calibri" pitchFamily="34" charset="-122"/>
                <a:cs typeface="Calibri" pitchFamily="34" charset="-120"/>
              </a:rPr>
              <a:t>Share of requests closed within target, meetings held and the slowest services.</a:t>
            </a:r>
            <a:endParaRPr lang="en-US" sz="1400" dirty="0"/>
          </a:p>
        </p:txBody>
      </p:sp>
      <p:sp>
        <p:nvSpPr>
          <p:cNvPr id="13" name="Shape 9"/>
          <p:cNvSpPr/>
          <p:nvPr/>
        </p:nvSpPr>
        <p:spPr>
          <a:xfrm>
            <a:off x="7498080" y="4160520"/>
            <a:ext cx="402336" cy="402336"/>
          </a:xfrm>
          <a:prstGeom prst="ellipse">
            <a:avLst/>
          </a:prstGeom>
          <a:solidFill>
            <a:srgbClr val="E3F0FF"/>
          </a:solidFill>
          <a:ln w="12700">
            <a:solidFill>
              <a:srgbClr val="E3F0FF"/>
            </a:solidFill>
            <a:prstDash val="solid"/>
          </a:ln>
        </p:spPr>
      </p:sp>
      <p:pic>
        <p:nvPicPr>
          <p:cNvPr id="14" name="Image 2" descr="preencoded.png">    </p:cNvPr>
          <p:cNvPicPr>
            <a:picLocks noChangeAspect="1"/>
          </p:cNvPicPr>
          <p:nvPr/>
        </p:nvPicPr>
        <p:blipFill>
          <a:blip r:embed="rId3"/>
          <a:stretch>
            <a:fillRect/>
          </a:stretch>
        </p:blipFill>
        <p:spPr>
          <a:xfrm>
            <a:off x="7589520" y="4251960"/>
            <a:ext cx="219456" cy="219456"/>
          </a:xfrm>
          <a:prstGeom prst="rect">
            <a:avLst/>
          </a:prstGeom>
        </p:spPr>
      </p:pic>
      <p:sp>
        <p:nvSpPr>
          <p:cNvPr id="15" name="Text 10"/>
          <p:cNvSpPr txBox="1"/>
          <p:nvPr/>
        </p:nvSpPr>
        <p:spPr>
          <a:xfrm>
            <a:off x="8065008" y="4123944"/>
            <a:ext cx="3547872" cy="841248"/>
          </a:xfrm>
          <a:prstGeom prst="rect">
            <a:avLst/>
          </a:prstGeom>
          <a:noFill/>
          <a:ln/>
        </p:spPr>
        <p:txBody>
          <a:bodyPr wrap="square" lIns="0" tIns="0" rIns="0" bIns="0" rtlCol="0" anchor="t"/>
          <a:lstStyle/>
          <a:p>
            <a:pPr indent="0" marL="0">
              <a:spcAft>
                <a:spcPts val="200"/>
              </a:spcAft>
              <a:buNone/>
            </a:pPr>
            <a:r>
              <a:rPr lang="en-US" sz="1400" b="1" dirty="0">
                <a:solidFill>
                  <a:srgbClr val="10171F"/>
                </a:solidFill>
                <a:latin typeface="Calibri" pitchFamily="34" charset="0"/>
                <a:ea typeface="Calibri" pitchFamily="34" charset="-122"/>
                <a:cs typeface="Calibri" pitchFamily="34" charset="-120"/>
              </a:rPr>
              <a:t>Ask in plain language</a:t>
            </a:r>
            <a:endParaRPr lang="en-US" sz="1400" dirty="0"/>
          </a:p>
          <a:p>
            <a:pPr indent="0" marL="0">
              <a:spcAft>
                <a:spcPts val="200"/>
              </a:spcAft>
              <a:buNone/>
            </a:pPr>
            <a:r>
              <a:rPr lang="en-US" sz="1200" dirty="0">
                <a:solidFill>
                  <a:srgbClr val="616A75"/>
                </a:solidFill>
                <a:latin typeface="Calibri" pitchFamily="34" charset="0"/>
                <a:ea typeface="Calibri" pitchFamily="34" charset="-122"/>
                <a:cs typeface="Calibri" pitchFamily="34" charset="-120"/>
              </a:rPr>
              <a:t>Questions such as "Which service is slowest?" answered over aggregates.</a:t>
            </a:r>
            <a:endParaRPr lang="en-US" sz="1400" dirty="0"/>
          </a:p>
        </p:txBody>
      </p:sp>
      <p:sp>
        <p:nvSpPr>
          <p:cNvPr id="16" name="Shape 11"/>
          <p:cNvSpPr/>
          <p:nvPr/>
        </p:nvSpPr>
        <p:spPr>
          <a:xfrm>
            <a:off x="7498080" y="5074920"/>
            <a:ext cx="402336" cy="402336"/>
          </a:xfrm>
          <a:prstGeom prst="ellipse">
            <a:avLst/>
          </a:prstGeom>
          <a:solidFill>
            <a:srgbClr val="E3F0FF"/>
          </a:solidFill>
          <a:ln w="12700">
            <a:solidFill>
              <a:srgbClr val="E3F0FF"/>
            </a:solidFill>
            <a:prstDash val="solid"/>
          </a:ln>
        </p:spPr>
      </p:sp>
      <p:pic>
        <p:nvPicPr>
          <p:cNvPr id="17" name="Image 3" descr="preencoded.png">    </p:cNvPr>
          <p:cNvPicPr>
            <a:picLocks noChangeAspect="1"/>
          </p:cNvPicPr>
          <p:nvPr/>
        </p:nvPicPr>
        <p:blipFill>
          <a:blip r:embed="rId4"/>
          <a:stretch>
            <a:fillRect/>
          </a:stretch>
        </p:blipFill>
        <p:spPr>
          <a:xfrm>
            <a:off x="7589520" y="5166360"/>
            <a:ext cx="219456" cy="219456"/>
          </a:xfrm>
          <a:prstGeom prst="rect">
            <a:avLst/>
          </a:prstGeom>
        </p:spPr>
      </p:pic>
      <p:sp>
        <p:nvSpPr>
          <p:cNvPr id="18" name="Text 12"/>
          <p:cNvSpPr txBox="1"/>
          <p:nvPr/>
        </p:nvSpPr>
        <p:spPr>
          <a:xfrm>
            <a:off x="8065008" y="5038344"/>
            <a:ext cx="3547872" cy="841248"/>
          </a:xfrm>
          <a:prstGeom prst="rect">
            <a:avLst/>
          </a:prstGeom>
          <a:noFill/>
          <a:ln/>
        </p:spPr>
        <p:txBody>
          <a:bodyPr wrap="square" lIns="0" tIns="0" rIns="0" bIns="0" rtlCol="0" anchor="t"/>
          <a:lstStyle/>
          <a:p>
            <a:pPr indent="0" marL="0">
              <a:spcAft>
                <a:spcPts val="200"/>
              </a:spcAft>
              <a:buNone/>
            </a:pPr>
            <a:r>
              <a:rPr lang="en-US" sz="1400" b="1" dirty="0">
                <a:solidFill>
                  <a:srgbClr val="10171F"/>
                </a:solidFill>
                <a:latin typeface="Calibri" pitchFamily="34" charset="0"/>
                <a:ea typeface="Calibri" pitchFamily="34" charset="-122"/>
                <a:cs typeface="Calibri" pitchFamily="34" charset="-120"/>
              </a:rPr>
              <a:t>Sensitive data excluded</a:t>
            </a:r>
            <a:endParaRPr lang="en-US" sz="1400" dirty="0"/>
          </a:p>
          <a:p>
            <a:pPr indent="0" marL="0">
              <a:spcAft>
                <a:spcPts val="200"/>
              </a:spcAft>
              <a:buNone/>
            </a:pPr>
            <a:r>
              <a:rPr lang="en-US" sz="1200" dirty="0">
                <a:solidFill>
                  <a:srgbClr val="616A75"/>
                </a:solidFill>
                <a:latin typeface="Calibri" pitchFamily="34" charset="0"/>
                <a:ea typeface="Calibri" pitchFamily="34" charset="-122"/>
                <a:cs typeface="Calibri" pitchFamily="34" charset="-120"/>
              </a:rPr>
              <a:t>Wellbeing and safeguarding cases never appear in dashboards or analytics.</a:t>
            </a:r>
            <a:endParaRPr lang="en-US" sz="1400" dirty="0"/>
          </a:p>
        </p:txBody>
      </p:sp>
      <p:sp>
        <p:nvSpPr>
          <p:cNvPr id="19" name="Shape 13"/>
          <p:cNvSpPr/>
          <p:nvPr/>
        </p:nvSpPr>
        <p:spPr>
          <a:xfrm>
            <a:off x="548640" y="1417320"/>
            <a:ext cx="6675120" cy="4382262"/>
          </a:xfrm>
          <a:prstGeom prst="roundRect">
            <a:avLst>
              <a:gd name="adj" fmla="val 1461"/>
            </a:avLst>
          </a:prstGeom>
          <a:solidFill>
            <a:srgbClr val="FFFFFF"/>
          </a:solidFill>
          <a:ln w="9525">
            <a:solidFill>
              <a:srgbClr val="DFE3E8"/>
            </a:solidFill>
            <a:prstDash val="solid"/>
          </a:ln>
          <a:effectLst>
            <a:outerShdw sx="100000" sy="100000" kx="0" ky="0" algn="bl" rotWithShape="0" blurRad="177800" dist="63500" dir="5400000">
              <a:srgbClr val="0C182A">
                <a:alpha val="16000"/>
              </a:srgbClr>
            </a:outerShdw>
          </a:effectLst>
        </p:spPr>
      </p:sp>
      <p:sp>
        <p:nvSpPr>
          <p:cNvPr id="20" name="Shape 14"/>
          <p:cNvSpPr/>
          <p:nvPr/>
        </p:nvSpPr>
        <p:spPr>
          <a:xfrm>
            <a:off x="658368" y="1485900"/>
            <a:ext cx="77724" cy="77724"/>
          </a:xfrm>
          <a:prstGeom prst="ellipse">
            <a:avLst/>
          </a:prstGeom>
          <a:solidFill>
            <a:srgbClr val="E5776E"/>
          </a:solidFill>
          <a:ln w="12700">
            <a:solidFill>
              <a:srgbClr val="E5776E"/>
            </a:solidFill>
            <a:prstDash val="solid"/>
          </a:ln>
        </p:spPr>
      </p:sp>
      <p:sp>
        <p:nvSpPr>
          <p:cNvPr id="21" name="Shape 15"/>
          <p:cNvSpPr/>
          <p:nvPr/>
        </p:nvSpPr>
        <p:spPr>
          <a:xfrm>
            <a:off x="777240" y="1485900"/>
            <a:ext cx="77724" cy="77724"/>
          </a:xfrm>
          <a:prstGeom prst="ellipse">
            <a:avLst/>
          </a:prstGeom>
          <a:solidFill>
            <a:srgbClr val="E8C35A"/>
          </a:solidFill>
          <a:ln w="12700">
            <a:solidFill>
              <a:srgbClr val="E8C35A"/>
            </a:solidFill>
            <a:prstDash val="solid"/>
          </a:ln>
        </p:spPr>
      </p:sp>
      <p:sp>
        <p:nvSpPr>
          <p:cNvPr id="22" name="Shape 16"/>
          <p:cNvSpPr/>
          <p:nvPr/>
        </p:nvSpPr>
        <p:spPr>
          <a:xfrm>
            <a:off x="896112" y="1485900"/>
            <a:ext cx="77724" cy="77724"/>
          </a:xfrm>
          <a:prstGeom prst="ellipse">
            <a:avLst/>
          </a:prstGeom>
          <a:solidFill>
            <a:srgbClr val="6CC08A"/>
          </a:solidFill>
          <a:ln w="12700">
            <a:solidFill>
              <a:srgbClr val="6CC08A"/>
            </a:solidFill>
            <a:prstDash val="solid"/>
          </a:ln>
        </p:spPr>
      </p:sp>
      <p:pic>
        <p:nvPicPr>
          <p:cNvPr id="23" name="Image 4" descr="/tmp/claude-0/-home-user-School/397e64b2-6645-56da-9972-e1722fae0ce6/scratchpad/sales/imgdeck/principal-home-en.jpg">    </p:cNvPr>
          <p:cNvPicPr>
            <a:picLocks noChangeAspect="1"/>
          </p:cNvPicPr>
          <p:nvPr/>
        </p:nvPicPr>
        <p:blipFill>
          <a:blip r:embed="rId5"/>
          <a:stretch>
            <a:fillRect/>
          </a:stretch>
        </p:blipFill>
        <p:spPr>
          <a:xfrm>
            <a:off x="585216" y="1636776"/>
            <a:ext cx="6601968" cy="4126230"/>
          </a:xfrm>
          <a:prstGeom prst="rect">
            <a:avLst/>
          </a:prstGeom>
        </p:spPr>
      </p:pic>
      <p:sp>
        <p:nvSpPr>
          <p:cNvPr id="24" name="Text 17"/>
          <p:cNvSpPr txBox="1"/>
          <p:nvPr/>
        </p:nvSpPr>
        <p:spPr>
          <a:xfrm>
            <a:off x="9814255" y="6473952"/>
            <a:ext cx="1828800" cy="201168"/>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Horizon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28600"/>
          </a:xfrm>
          <a:prstGeom prst="rect">
            <a:avLst/>
          </a:prstGeom>
          <a:noFill/>
          <a:ln/>
        </p:spPr>
        <p:txBody>
          <a:bodyPr wrap="square" lIns="0" tIns="0" rIns="0" bIns="0" rtlCol="0" anchor="ctr"/>
          <a:lstStyle/>
          <a:p>
            <a:pPr indent="0" marL="0">
              <a:buNone/>
            </a:pPr>
            <a:r>
              <a:rPr lang="en-US" sz="1100" b="1" spc="300" kern="0" dirty="0">
                <a:solidFill>
                  <a:srgbClr val="05437A"/>
                </a:solidFill>
                <a:latin typeface="Calibri" pitchFamily="34" charset="0"/>
                <a:ea typeface="Calibri" pitchFamily="34" charset="-122"/>
                <a:cs typeface="Calibri" pitchFamily="34" charset="-120"/>
              </a:rPr>
              <a:t>COUNSELOR</a:t>
            </a:r>
            <a:endParaRPr lang="en-US" sz="1100" dirty="0"/>
          </a:p>
        </p:txBody>
      </p:sp>
      <p:sp>
        <p:nvSpPr>
          <p:cNvPr id="3" name="Text 1"/>
          <p:cNvSpPr txBox="1"/>
          <p:nvPr/>
        </p:nvSpPr>
        <p:spPr>
          <a:xfrm>
            <a:off x="548640" y="411480"/>
            <a:ext cx="11064240" cy="822960"/>
          </a:xfrm>
          <a:prstGeom prst="rect">
            <a:avLst/>
          </a:prstGeom>
          <a:noFill/>
          <a:ln/>
        </p:spPr>
        <p:txBody>
          <a:bodyPr wrap="square" lIns="0" tIns="0" rIns="0" bIns="0" rtlCol="0" anchor="t"/>
          <a:lstStyle/>
          <a:p>
            <a:pPr indent="0" marL="0">
              <a:buNone/>
            </a:pPr>
            <a:r>
              <a:rPr lang="en-US" sz="2600" b="1" dirty="0">
                <a:solidFill>
                  <a:srgbClr val="10171F"/>
                </a:solidFill>
                <a:latin typeface="Cambria" pitchFamily="34" charset="0"/>
                <a:ea typeface="Cambria" pitchFamily="34" charset="-122"/>
                <a:cs typeface="Cambria" pitchFamily="34" charset="-120"/>
              </a:rPr>
              <a:t>A caseload, not an inbox</a:t>
            </a:r>
            <a:endParaRPr lang="en-US" sz="2600" dirty="0"/>
          </a:p>
        </p:txBody>
      </p:sp>
      <p:sp>
        <p:nvSpPr>
          <p:cNvPr id="4" name="Shape 2"/>
          <p:cNvSpPr/>
          <p:nvPr/>
        </p:nvSpPr>
        <p:spPr>
          <a:xfrm>
            <a:off x="548640" y="1417320"/>
            <a:ext cx="566928" cy="566928"/>
          </a:xfrm>
          <a:prstGeom prst="ellipse">
            <a:avLst/>
          </a:prstGeom>
          <a:solidFill>
            <a:srgbClr val="05437A"/>
          </a:solidFill>
          <a:ln w="12700">
            <a:solidFill>
              <a:srgbClr val="05437A"/>
            </a:solidFill>
            <a:prstDash val="solid"/>
          </a:ln>
        </p:spPr>
      </p:sp>
      <p:sp>
        <p:nvSpPr>
          <p:cNvPr id="5" name="Text 3"/>
          <p:cNvSpPr txBox="1"/>
          <p:nvPr/>
        </p:nvSpPr>
        <p:spPr>
          <a:xfrm>
            <a:off x="548640" y="14173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SA</a:t>
            </a:r>
            <a:endParaRPr lang="en-US" sz="1500" dirty="0"/>
          </a:p>
        </p:txBody>
      </p:sp>
      <p:sp>
        <p:nvSpPr>
          <p:cNvPr id="6" name="Text 4"/>
          <p:cNvSpPr txBox="1"/>
          <p:nvPr/>
        </p:nvSpPr>
        <p:spPr>
          <a:xfrm>
            <a:off x="1261872" y="1399032"/>
            <a:ext cx="3291840" cy="603504"/>
          </a:xfrm>
          <a:prstGeom prst="rect">
            <a:avLst/>
          </a:prstGeom>
          <a:noFill/>
          <a:ln/>
        </p:spPr>
        <p:txBody>
          <a:bodyPr wrap="square" lIns="0" tIns="0" rIns="0" bIns="0" rtlCol="0" anchor="ctr"/>
          <a:lstStyle/>
          <a:p>
            <a:pPr indent="0" marL="0">
              <a:buNone/>
            </a:pPr>
            <a:r>
              <a:rPr lang="en-US" sz="1500" b="1" dirty="0">
                <a:solidFill>
                  <a:srgbClr val="10171F"/>
                </a:solidFill>
                <a:latin typeface="Calibri" pitchFamily="34" charset="0"/>
                <a:ea typeface="Calibri" pitchFamily="34" charset="-122"/>
                <a:cs typeface="Calibri" pitchFamily="34" charset="-120"/>
              </a:rPr>
              <a:t>Sarah Ahmed</a:t>
            </a:r>
            <a:endParaRPr lang="en-US" sz="1500" dirty="0"/>
          </a:p>
          <a:p>
            <a:pPr indent="0" marL="0">
              <a:buNone/>
            </a:pPr>
            <a:r>
              <a:rPr lang="en-US" sz="1200" dirty="0">
                <a:solidFill>
                  <a:srgbClr val="616A75"/>
                </a:solidFill>
                <a:latin typeface="Calibri" pitchFamily="34" charset="0"/>
                <a:ea typeface="Calibri" pitchFamily="34" charset="-122"/>
                <a:cs typeface="Calibri" pitchFamily="34" charset="-120"/>
              </a:rPr>
              <a:t>Counselor</a:t>
            </a:r>
            <a:endParaRPr lang="en-US" sz="1500" dirty="0"/>
          </a:p>
        </p:txBody>
      </p:sp>
      <p:sp>
        <p:nvSpPr>
          <p:cNvPr id="7" name="Shape 5"/>
          <p:cNvSpPr/>
          <p:nvPr/>
        </p:nvSpPr>
        <p:spPr>
          <a:xfrm>
            <a:off x="548640" y="2331720"/>
            <a:ext cx="402336" cy="402336"/>
          </a:xfrm>
          <a:prstGeom prst="ellipse">
            <a:avLst/>
          </a:prstGeom>
          <a:solidFill>
            <a:srgbClr val="E3F0FF"/>
          </a:solidFill>
          <a:ln w="12700">
            <a:solidFill>
              <a:srgbClr val="E3F0FF"/>
            </a:solidFill>
            <a:prstDash val="solid"/>
          </a:ln>
        </p:spPr>
      </p:sp>
      <p:pic>
        <p:nvPicPr>
          <p:cNvPr id="8" name="Image 0" descr="preencoded.png">    </p:cNvPr>
          <p:cNvPicPr>
            <a:picLocks noChangeAspect="1"/>
          </p:cNvPicPr>
          <p:nvPr/>
        </p:nvPicPr>
        <p:blipFill>
          <a:blip r:embed="rId1"/>
          <a:stretch>
            <a:fillRect/>
          </a:stretch>
        </p:blipFill>
        <p:spPr>
          <a:xfrm>
            <a:off x="640080" y="2423160"/>
            <a:ext cx="219456" cy="219456"/>
          </a:xfrm>
          <a:prstGeom prst="rect">
            <a:avLst/>
          </a:prstGeom>
        </p:spPr>
      </p:pic>
      <p:sp>
        <p:nvSpPr>
          <p:cNvPr id="9" name="Text 6"/>
          <p:cNvSpPr txBox="1"/>
          <p:nvPr/>
        </p:nvSpPr>
        <p:spPr>
          <a:xfrm>
            <a:off x="1115568" y="2295144"/>
            <a:ext cx="3547872" cy="841248"/>
          </a:xfrm>
          <a:prstGeom prst="rect">
            <a:avLst/>
          </a:prstGeom>
          <a:noFill/>
          <a:ln/>
        </p:spPr>
        <p:txBody>
          <a:bodyPr wrap="square" lIns="0" tIns="0" rIns="0" bIns="0" rtlCol="0" anchor="t"/>
          <a:lstStyle/>
          <a:p>
            <a:pPr indent="0" marL="0">
              <a:spcAft>
                <a:spcPts val="200"/>
              </a:spcAft>
              <a:buNone/>
            </a:pPr>
            <a:r>
              <a:rPr lang="en-US" sz="1400" b="1" dirty="0">
                <a:solidFill>
                  <a:srgbClr val="10171F"/>
                </a:solidFill>
                <a:latin typeface="Calibri" pitchFamily="34" charset="0"/>
                <a:ea typeface="Calibri" pitchFamily="34" charset="-122"/>
                <a:cs typeface="Calibri" pitchFamily="34" charset="-120"/>
              </a:rPr>
              <a:t>Referrals become cases</a:t>
            </a:r>
            <a:endParaRPr lang="en-US" sz="1400" dirty="0"/>
          </a:p>
          <a:p>
            <a:pPr indent="0" marL="0">
              <a:spcAft>
                <a:spcPts val="200"/>
              </a:spcAft>
              <a:buNone/>
            </a:pPr>
            <a:r>
              <a:rPr lang="en-US" sz="1200" dirty="0">
                <a:solidFill>
                  <a:srgbClr val="616A75"/>
                </a:solidFill>
                <a:latin typeface="Calibri" pitchFamily="34" charset="0"/>
                <a:ea typeface="Calibri" pitchFamily="34" charset="-122"/>
                <a:cs typeface="Calibri" pitchFamily="34" charset="-120"/>
              </a:rPr>
              <a:t>Teacher referrals arrive in her caseload with response timers and priorities.</a:t>
            </a:r>
            <a:endParaRPr lang="en-US" sz="1400" dirty="0"/>
          </a:p>
        </p:txBody>
      </p:sp>
      <p:sp>
        <p:nvSpPr>
          <p:cNvPr id="10" name="Shape 7"/>
          <p:cNvSpPr/>
          <p:nvPr/>
        </p:nvSpPr>
        <p:spPr>
          <a:xfrm>
            <a:off x="548640" y="3246120"/>
            <a:ext cx="402336" cy="402336"/>
          </a:xfrm>
          <a:prstGeom prst="ellipse">
            <a:avLst/>
          </a:prstGeom>
          <a:solidFill>
            <a:srgbClr val="E3F0FF"/>
          </a:solidFill>
          <a:ln w="12700">
            <a:solidFill>
              <a:srgbClr val="E3F0FF"/>
            </a:solidFill>
            <a:prstDash val="solid"/>
          </a:ln>
        </p:spPr>
      </p:sp>
      <p:pic>
        <p:nvPicPr>
          <p:cNvPr id="11" name="Image 1" descr="preencoded.png">    </p:cNvPr>
          <p:cNvPicPr>
            <a:picLocks noChangeAspect="1"/>
          </p:cNvPicPr>
          <p:nvPr/>
        </p:nvPicPr>
        <p:blipFill>
          <a:blip r:embed="rId2"/>
          <a:stretch>
            <a:fillRect/>
          </a:stretch>
        </p:blipFill>
        <p:spPr>
          <a:xfrm>
            <a:off x="640080" y="3337560"/>
            <a:ext cx="219456" cy="219456"/>
          </a:xfrm>
          <a:prstGeom prst="rect">
            <a:avLst/>
          </a:prstGeom>
        </p:spPr>
      </p:pic>
      <p:sp>
        <p:nvSpPr>
          <p:cNvPr id="12" name="Text 8"/>
          <p:cNvSpPr txBox="1"/>
          <p:nvPr/>
        </p:nvSpPr>
        <p:spPr>
          <a:xfrm>
            <a:off x="1115568" y="3209544"/>
            <a:ext cx="3547872" cy="841248"/>
          </a:xfrm>
          <a:prstGeom prst="rect">
            <a:avLst/>
          </a:prstGeom>
          <a:noFill/>
          <a:ln/>
        </p:spPr>
        <p:txBody>
          <a:bodyPr wrap="square" lIns="0" tIns="0" rIns="0" bIns="0" rtlCol="0" anchor="t"/>
          <a:lstStyle/>
          <a:p>
            <a:pPr indent="0" marL="0">
              <a:spcAft>
                <a:spcPts val="200"/>
              </a:spcAft>
              <a:buNone/>
            </a:pPr>
            <a:r>
              <a:rPr lang="en-US" sz="1400" b="1" dirty="0">
                <a:solidFill>
                  <a:srgbClr val="10171F"/>
                </a:solidFill>
                <a:latin typeface="Calibri" pitchFamily="34" charset="0"/>
                <a:ea typeface="Calibri" pitchFamily="34" charset="-122"/>
                <a:cs typeface="Calibri" pitchFamily="34" charset="-120"/>
              </a:rPr>
              <a:t>Versioned notes</a:t>
            </a:r>
            <a:endParaRPr lang="en-US" sz="1400" dirty="0"/>
          </a:p>
          <a:p>
            <a:pPr indent="0" marL="0">
              <a:spcAft>
                <a:spcPts val="200"/>
              </a:spcAft>
              <a:buNone/>
            </a:pPr>
            <a:r>
              <a:rPr lang="en-US" sz="1200" dirty="0">
                <a:solidFill>
                  <a:srgbClr val="616A75"/>
                </a:solidFill>
                <a:latin typeface="Calibri" pitchFamily="34" charset="0"/>
                <a:ea typeface="Calibri" pitchFamily="34" charset="-122"/>
                <a:cs typeface="Calibri" pitchFamily="34" charset="-120"/>
              </a:rPr>
              <a:t>Notes can be amended with a reason, never silently edited or deleted.</a:t>
            </a:r>
            <a:endParaRPr lang="en-US" sz="1400" dirty="0"/>
          </a:p>
        </p:txBody>
      </p:sp>
      <p:sp>
        <p:nvSpPr>
          <p:cNvPr id="13" name="Shape 9"/>
          <p:cNvSpPr/>
          <p:nvPr/>
        </p:nvSpPr>
        <p:spPr>
          <a:xfrm>
            <a:off x="548640" y="4160520"/>
            <a:ext cx="402336" cy="402336"/>
          </a:xfrm>
          <a:prstGeom prst="ellipse">
            <a:avLst/>
          </a:prstGeom>
          <a:solidFill>
            <a:srgbClr val="E3F0FF"/>
          </a:solidFill>
          <a:ln w="12700">
            <a:solidFill>
              <a:srgbClr val="E3F0FF"/>
            </a:solidFill>
            <a:prstDash val="solid"/>
          </a:ln>
        </p:spPr>
      </p:sp>
      <p:pic>
        <p:nvPicPr>
          <p:cNvPr id="14" name="Image 2" descr="preencoded.png">    </p:cNvPr>
          <p:cNvPicPr>
            <a:picLocks noChangeAspect="1"/>
          </p:cNvPicPr>
          <p:nvPr/>
        </p:nvPicPr>
        <p:blipFill>
          <a:blip r:embed="rId3"/>
          <a:stretch>
            <a:fillRect/>
          </a:stretch>
        </p:blipFill>
        <p:spPr>
          <a:xfrm>
            <a:off x="640080" y="4251960"/>
            <a:ext cx="219456" cy="219456"/>
          </a:xfrm>
          <a:prstGeom prst="rect">
            <a:avLst/>
          </a:prstGeom>
        </p:spPr>
      </p:pic>
      <p:sp>
        <p:nvSpPr>
          <p:cNvPr id="15" name="Text 10"/>
          <p:cNvSpPr txBox="1"/>
          <p:nvPr/>
        </p:nvSpPr>
        <p:spPr>
          <a:xfrm>
            <a:off x="1115568" y="4123944"/>
            <a:ext cx="3547872" cy="841248"/>
          </a:xfrm>
          <a:prstGeom prst="rect">
            <a:avLst/>
          </a:prstGeom>
          <a:noFill/>
          <a:ln/>
        </p:spPr>
        <p:txBody>
          <a:bodyPr wrap="square" lIns="0" tIns="0" rIns="0" bIns="0" rtlCol="0" anchor="t"/>
          <a:lstStyle/>
          <a:p>
            <a:pPr indent="0" marL="0">
              <a:spcAft>
                <a:spcPts val="200"/>
              </a:spcAft>
              <a:buNone/>
            </a:pPr>
            <a:r>
              <a:rPr lang="en-US" sz="1400" b="1" dirty="0">
                <a:solidFill>
                  <a:srgbClr val="10171F"/>
                </a:solidFill>
                <a:latin typeface="Calibri" pitchFamily="34" charset="0"/>
                <a:ea typeface="Calibri" pitchFamily="34" charset="-122"/>
                <a:cs typeface="Calibri" pitchFamily="34" charset="-120"/>
              </a:rPr>
              <a:t>Meetings and follow-ups</a:t>
            </a:r>
            <a:endParaRPr lang="en-US" sz="1400" dirty="0"/>
          </a:p>
          <a:p>
            <a:pPr indent="0" marL="0">
              <a:spcAft>
                <a:spcPts val="200"/>
              </a:spcAft>
              <a:buNone/>
            </a:pPr>
            <a:r>
              <a:rPr lang="en-US" sz="1200" dirty="0">
                <a:solidFill>
                  <a:srgbClr val="616A75"/>
                </a:solidFill>
                <a:latin typeface="Calibri" pitchFamily="34" charset="0"/>
                <a:ea typeface="Calibri" pitchFamily="34" charset="-122"/>
                <a:cs typeface="Calibri" pitchFamily="34" charset="-120"/>
              </a:rPr>
              <a:t>Book meetings with the family invited; follow-ups land on her calendar.</a:t>
            </a:r>
            <a:endParaRPr lang="en-US" sz="1400" dirty="0"/>
          </a:p>
        </p:txBody>
      </p:sp>
      <p:sp>
        <p:nvSpPr>
          <p:cNvPr id="16" name="Shape 11"/>
          <p:cNvSpPr/>
          <p:nvPr/>
        </p:nvSpPr>
        <p:spPr>
          <a:xfrm>
            <a:off x="548640" y="5074920"/>
            <a:ext cx="402336" cy="402336"/>
          </a:xfrm>
          <a:prstGeom prst="ellipse">
            <a:avLst/>
          </a:prstGeom>
          <a:solidFill>
            <a:srgbClr val="E3F0FF"/>
          </a:solidFill>
          <a:ln w="12700">
            <a:solidFill>
              <a:srgbClr val="E3F0FF"/>
            </a:solidFill>
            <a:prstDash val="solid"/>
          </a:ln>
        </p:spPr>
      </p:sp>
      <p:pic>
        <p:nvPicPr>
          <p:cNvPr id="17" name="Image 3" descr="preencoded.png">    </p:cNvPr>
          <p:cNvPicPr>
            <a:picLocks noChangeAspect="1"/>
          </p:cNvPicPr>
          <p:nvPr/>
        </p:nvPicPr>
        <p:blipFill>
          <a:blip r:embed="rId4"/>
          <a:stretch>
            <a:fillRect/>
          </a:stretch>
        </p:blipFill>
        <p:spPr>
          <a:xfrm>
            <a:off x="640080" y="5166360"/>
            <a:ext cx="219456" cy="219456"/>
          </a:xfrm>
          <a:prstGeom prst="rect">
            <a:avLst/>
          </a:prstGeom>
        </p:spPr>
      </p:pic>
      <p:sp>
        <p:nvSpPr>
          <p:cNvPr id="18" name="Text 12"/>
          <p:cNvSpPr txBox="1"/>
          <p:nvPr/>
        </p:nvSpPr>
        <p:spPr>
          <a:xfrm>
            <a:off x="1115568" y="5038344"/>
            <a:ext cx="3547872" cy="841248"/>
          </a:xfrm>
          <a:prstGeom prst="rect">
            <a:avLst/>
          </a:prstGeom>
          <a:noFill/>
          <a:ln/>
        </p:spPr>
        <p:txBody>
          <a:bodyPr wrap="square" lIns="0" tIns="0" rIns="0" bIns="0" rtlCol="0" anchor="t"/>
          <a:lstStyle/>
          <a:p>
            <a:pPr indent="0" marL="0">
              <a:spcAft>
                <a:spcPts val="200"/>
              </a:spcAft>
              <a:buNone/>
            </a:pPr>
            <a:r>
              <a:rPr lang="en-US" sz="1400" b="1" dirty="0">
                <a:solidFill>
                  <a:srgbClr val="10171F"/>
                </a:solidFill>
                <a:latin typeface="Calibri" pitchFamily="34" charset="0"/>
                <a:ea typeface="Calibri" pitchFamily="34" charset="-122"/>
                <a:cs typeface="Calibri" pitchFamily="34" charset="-120"/>
              </a:rPr>
              <a:t>AI with guardrails</a:t>
            </a:r>
            <a:endParaRPr lang="en-US" sz="1400" dirty="0"/>
          </a:p>
          <a:p>
            <a:pPr indent="0" marL="0">
              <a:spcAft>
                <a:spcPts val="200"/>
              </a:spcAft>
              <a:buNone/>
            </a:pPr>
            <a:r>
              <a:rPr lang="en-US" sz="1200" dirty="0">
                <a:solidFill>
                  <a:srgbClr val="616A75"/>
                </a:solidFill>
                <a:latin typeface="Calibri" pitchFamily="34" charset="0"/>
                <a:ea typeface="Calibri" pitchFamily="34" charset="-122"/>
                <a:cs typeface="Calibri" pitchFamily="34" charset="-120"/>
              </a:rPr>
              <a:t>Draft briefs and action plans. Blocked for wellbeing data unless the school allows it.</a:t>
            </a:r>
            <a:endParaRPr lang="en-US" sz="1400" dirty="0"/>
          </a:p>
        </p:txBody>
      </p:sp>
      <p:sp>
        <p:nvSpPr>
          <p:cNvPr id="19" name="Shape 13"/>
          <p:cNvSpPr/>
          <p:nvPr/>
        </p:nvSpPr>
        <p:spPr>
          <a:xfrm>
            <a:off x="4983480" y="1417320"/>
            <a:ext cx="6675120" cy="4382262"/>
          </a:xfrm>
          <a:prstGeom prst="roundRect">
            <a:avLst>
              <a:gd name="adj" fmla="val 1461"/>
            </a:avLst>
          </a:prstGeom>
          <a:solidFill>
            <a:srgbClr val="FFFFFF"/>
          </a:solidFill>
          <a:ln w="9525">
            <a:solidFill>
              <a:srgbClr val="DFE3E8"/>
            </a:solidFill>
            <a:prstDash val="solid"/>
          </a:ln>
          <a:effectLst>
            <a:outerShdw sx="100000" sy="100000" kx="0" ky="0" algn="bl" rotWithShape="0" blurRad="177800" dist="63500" dir="5400000">
              <a:srgbClr val="0C182A">
                <a:alpha val="16000"/>
              </a:srgbClr>
            </a:outerShdw>
          </a:effectLst>
        </p:spPr>
      </p:sp>
      <p:sp>
        <p:nvSpPr>
          <p:cNvPr id="20" name="Shape 14"/>
          <p:cNvSpPr/>
          <p:nvPr/>
        </p:nvSpPr>
        <p:spPr>
          <a:xfrm>
            <a:off x="5093208" y="1485900"/>
            <a:ext cx="77724" cy="77724"/>
          </a:xfrm>
          <a:prstGeom prst="ellipse">
            <a:avLst/>
          </a:prstGeom>
          <a:solidFill>
            <a:srgbClr val="E5776E"/>
          </a:solidFill>
          <a:ln w="12700">
            <a:solidFill>
              <a:srgbClr val="E5776E"/>
            </a:solidFill>
            <a:prstDash val="solid"/>
          </a:ln>
        </p:spPr>
      </p:sp>
      <p:sp>
        <p:nvSpPr>
          <p:cNvPr id="21" name="Shape 15"/>
          <p:cNvSpPr/>
          <p:nvPr/>
        </p:nvSpPr>
        <p:spPr>
          <a:xfrm>
            <a:off x="5212080" y="1485900"/>
            <a:ext cx="77724" cy="77724"/>
          </a:xfrm>
          <a:prstGeom prst="ellipse">
            <a:avLst/>
          </a:prstGeom>
          <a:solidFill>
            <a:srgbClr val="E8C35A"/>
          </a:solidFill>
          <a:ln w="12700">
            <a:solidFill>
              <a:srgbClr val="E8C35A"/>
            </a:solidFill>
            <a:prstDash val="solid"/>
          </a:ln>
        </p:spPr>
      </p:sp>
      <p:sp>
        <p:nvSpPr>
          <p:cNvPr id="22" name="Shape 16"/>
          <p:cNvSpPr/>
          <p:nvPr/>
        </p:nvSpPr>
        <p:spPr>
          <a:xfrm>
            <a:off x="5330952" y="1485900"/>
            <a:ext cx="77724" cy="77724"/>
          </a:xfrm>
          <a:prstGeom prst="ellipse">
            <a:avLst/>
          </a:prstGeom>
          <a:solidFill>
            <a:srgbClr val="6CC08A"/>
          </a:solidFill>
          <a:ln w="12700">
            <a:solidFill>
              <a:srgbClr val="6CC08A"/>
            </a:solidFill>
            <a:prstDash val="solid"/>
          </a:ln>
        </p:spPr>
      </p:sp>
      <p:pic>
        <p:nvPicPr>
          <p:cNvPr id="23" name="Image 4" descr="/tmp/claude-0/-home-user-School/397e64b2-6645-56da-9972-e1722fae0ce6/scratchpad/sales/imgdeck/counselor-case-en.jpg">    </p:cNvPr>
          <p:cNvPicPr>
            <a:picLocks noChangeAspect="1"/>
          </p:cNvPicPr>
          <p:nvPr/>
        </p:nvPicPr>
        <p:blipFill>
          <a:blip r:embed="rId5"/>
          <a:stretch>
            <a:fillRect/>
          </a:stretch>
        </p:blipFill>
        <p:spPr>
          <a:xfrm>
            <a:off x="5020056" y="1636776"/>
            <a:ext cx="6601968" cy="4126230"/>
          </a:xfrm>
          <a:prstGeom prst="rect">
            <a:avLst/>
          </a:prstGeom>
        </p:spPr>
      </p:pic>
      <p:sp>
        <p:nvSpPr>
          <p:cNvPr id="24" name="Text 17"/>
          <p:cNvSpPr txBox="1"/>
          <p:nvPr/>
        </p:nvSpPr>
        <p:spPr>
          <a:xfrm>
            <a:off x="9814255" y="6473952"/>
            <a:ext cx="1828800" cy="201168"/>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Horizon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28600"/>
          </a:xfrm>
          <a:prstGeom prst="rect">
            <a:avLst/>
          </a:prstGeom>
          <a:noFill/>
          <a:ln/>
        </p:spPr>
        <p:txBody>
          <a:bodyPr wrap="square" lIns="0" tIns="0" rIns="0" bIns="0" rtlCol="0" anchor="ctr"/>
          <a:lstStyle/>
          <a:p>
            <a:pPr indent="0" marL="0">
              <a:buNone/>
            </a:pPr>
            <a:r>
              <a:rPr lang="en-US" sz="1100" b="1" spc="300" kern="0" dirty="0">
                <a:solidFill>
                  <a:srgbClr val="05437A"/>
                </a:solidFill>
                <a:latin typeface="Calibri" pitchFamily="34" charset="0"/>
                <a:ea typeface="Calibri" pitchFamily="34" charset="-122"/>
                <a:cs typeface="Calibri" pitchFamily="34" charset="-120"/>
              </a:rPr>
              <a:t>DESIGNATED SAFEGUARDING LEAD</a:t>
            </a:r>
            <a:endParaRPr lang="en-US" sz="1100" dirty="0"/>
          </a:p>
        </p:txBody>
      </p:sp>
      <p:sp>
        <p:nvSpPr>
          <p:cNvPr id="3" name="Text 1"/>
          <p:cNvSpPr txBox="1"/>
          <p:nvPr/>
        </p:nvSpPr>
        <p:spPr>
          <a:xfrm>
            <a:off x="548640" y="411480"/>
            <a:ext cx="11064240" cy="822960"/>
          </a:xfrm>
          <a:prstGeom prst="rect">
            <a:avLst/>
          </a:prstGeom>
          <a:noFill/>
          <a:ln/>
        </p:spPr>
        <p:txBody>
          <a:bodyPr wrap="square" lIns="0" tIns="0" rIns="0" bIns="0" rtlCol="0" anchor="t"/>
          <a:lstStyle/>
          <a:p>
            <a:pPr indent="0" marL="0">
              <a:buNone/>
            </a:pPr>
            <a:r>
              <a:rPr lang="en-US" sz="2600" b="1" dirty="0">
                <a:solidFill>
                  <a:srgbClr val="10171F"/>
                </a:solidFill>
                <a:latin typeface="Cambria" pitchFamily="34" charset="0"/>
                <a:ea typeface="Cambria" pitchFamily="34" charset="-122"/>
                <a:cs typeface="Cambria" pitchFamily="34" charset="-120"/>
              </a:rPr>
              <a:t>A restricted queue with a full chronology</a:t>
            </a:r>
            <a:endParaRPr lang="en-US" sz="2600" dirty="0"/>
          </a:p>
        </p:txBody>
      </p:sp>
      <p:sp>
        <p:nvSpPr>
          <p:cNvPr id="4" name="Shape 2"/>
          <p:cNvSpPr/>
          <p:nvPr/>
        </p:nvSpPr>
        <p:spPr>
          <a:xfrm>
            <a:off x="7498080" y="1417320"/>
            <a:ext cx="566928" cy="566928"/>
          </a:xfrm>
          <a:prstGeom prst="ellipse">
            <a:avLst/>
          </a:prstGeom>
          <a:solidFill>
            <a:srgbClr val="05437A"/>
          </a:solidFill>
          <a:ln w="12700">
            <a:solidFill>
              <a:srgbClr val="05437A"/>
            </a:solidFill>
            <a:prstDash val="solid"/>
          </a:ln>
        </p:spPr>
      </p:sp>
      <p:sp>
        <p:nvSpPr>
          <p:cNvPr id="5" name="Text 3"/>
          <p:cNvSpPr txBox="1"/>
          <p:nvPr/>
        </p:nvSpPr>
        <p:spPr>
          <a:xfrm>
            <a:off x="7498080" y="14173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KY</a:t>
            </a:r>
            <a:endParaRPr lang="en-US" sz="1500" dirty="0"/>
          </a:p>
        </p:txBody>
      </p:sp>
      <p:sp>
        <p:nvSpPr>
          <p:cNvPr id="6" name="Text 4"/>
          <p:cNvSpPr txBox="1"/>
          <p:nvPr/>
        </p:nvSpPr>
        <p:spPr>
          <a:xfrm>
            <a:off x="8211312" y="1399032"/>
            <a:ext cx="3291840" cy="603504"/>
          </a:xfrm>
          <a:prstGeom prst="rect">
            <a:avLst/>
          </a:prstGeom>
          <a:noFill/>
          <a:ln/>
        </p:spPr>
        <p:txBody>
          <a:bodyPr wrap="square" lIns="0" tIns="0" rIns="0" bIns="0" rtlCol="0" anchor="ctr"/>
          <a:lstStyle/>
          <a:p>
            <a:pPr indent="0" marL="0">
              <a:buNone/>
            </a:pPr>
            <a:r>
              <a:rPr lang="en-US" sz="1500" b="1" dirty="0">
                <a:solidFill>
                  <a:srgbClr val="10171F"/>
                </a:solidFill>
                <a:latin typeface="Calibri" pitchFamily="34" charset="0"/>
                <a:ea typeface="Calibri" pitchFamily="34" charset="-122"/>
                <a:cs typeface="Calibri" pitchFamily="34" charset="-120"/>
              </a:rPr>
              <a:t>Khalid Yousef</a:t>
            </a:r>
            <a:endParaRPr lang="en-US" sz="1500" dirty="0"/>
          </a:p>
          <a:p>
            <a:pPr indent="0" marL="0">
              <a:buNone/>
            </a:pPr>
            <a:r>
              <a:rPr lang="en-US" sz="1200" dirty="0">
                <a:solidFill>
                  <a:srgbClr val="616A75"/>
                </a:solidFill>
                <a:latin typeface="Calibri" pitchFamily="34" charset="0"/>
                <a:ea typeface="Calibri" pitchFamily="34" charset="-122"/>
                <a:cs typeface="Calibri" pitchFamily="34" charset="-120"/>
              </a:rPr>
              <a:t>Designated Safeguarding Lead</a:t>
            </a:r>
            <a:endParaRPr lang="en-US" sz="1500" dirty="0"/>
          </a:p>
        </p:txBody>
      </p:sp>
      <p:sp>
        <p:nvSpPr>
          <p:cNvPr id="7" name="Shape 5"/>
          <p:cNvSpPr/>
          <p:nvPr/>
        </p:nvSpPr>
        <p:spPr>
          <a:xfrm>
            <a:off x="7498080" y="2331720"/>
            <a:ext cx="402336" cy="402336"/>
          </a:xfrm>
          <a:prstGeom prst="ellipse">
            <a:avLst/>
          </a:prstGeom>
          <a:solidFill>
            <a:srgbClr val="E3F0FF"/>
          </a:solidFill>
          <a:ln w="12700">
            <a:solidFill>
              <a:srgbClr val="E3F0FF"/>
            </a:solidFill>
            <a:prstDash val="solid"/>
          </a:ln>
        </p:spPr>
      </p:sp>
      <p:pic>
        <p:nvPicPr>
          <p:cNvPr id="8" name="Image 0" descr="preencoded.png">    </p:cNvPr>
          <p:cNvPicPr>
            <a:picLocks noChangeAspect="1"/>
          </p:cNvPicPr>
          <p:nvPr/>
        </p:nvPicPr>
        <p:blipFill>
          <a:blip r:embed="rId1"/>
          <a:stretch>
            <a:fillRect/>
          </a:stretch>
        </p:blipFill>
        <p:spPr>
          <a:xfrm>
            <a:off x="7589520" y="2423160"/>
            <a:ext cx="219456" cy="219456"/>
          </a:xfrm>
          <a:prstGeom prst="rect">
            <a:avLst/>
          </a:prstGeom>
        </p:spPr>
      </p:pic>
      <p:sp>
        <p:nvSpPr>
          <p:cNvPr id="9" name="Text 6"/>
          <p:cNvSpPr txBox="1"/>
          <p:nvPr/>
        </p:nvSpPr>
        <p:spPr>
          <a:xfrm>
            <a:off x="8065008" y="2295144"/>
            <a:ext cx="3547872" cy="749808"/>
          </a:xfrm>
          <a:prstGeom prst="rect">
            <a:avLst/>
          </a:prstGeom>
          <a:noFill/>
          <a:ln/>
        </p:spPr>
        <p:txBody>
          <a:bodyPr wrap="square" lIns="0" tIns="0" rIns="0" bIns="0" rtlCol="0" anchor="t"/>
          <a:lstStyle/>
          <a:p>
            <a:pPr indent="0" marL="0">
              <a:spcAft>
                <a:spcPts val="200"/>
              </a:spcAft>
              <a:buNone/>
            </a:pPr>
            <a:r>
              <a:rPr lang="en-US" sz="1400" b="1" dirty="0">
                <a:solidFill>
                  <a:srgbClr val="10171F"/>
                </a:solidFill>
                <a:latin typeface="Calibri" pitchFamily="34" charset="0"/>
                <a:ea typeface="Calibri" pitchFamily="34" charset="-122"/>
                <a:cs typeface="Calibri" pitchFamily="34" charset="-120"/>
              </a:rPr>
              <a:t>One click to raise a concern</a:t>
            </a:r>
            <a:endParaRPr lang="en-US" sz="1400" dirty="0"/>
          </a:p>
          <a:p>
            <a:pPr indent="0" marL="0">
              <a:spcAft>
                <a:spcPts val="200"/>
              </a:spcAft>
              <a:buNone/>
            </a:pPr>
            <a:r>
              <a:rPr lang="en-US" sz="1200" dirty="0">
                <a:solidFill>
                  <a:srgbClr val="616A75"/>
                </a:solidFill>
                <a:latin typeface="Calibri" pitchFamily="34" charset="0"/>
                <a:ea typeface="Calibri" pitchFamily="34" charset="-122"/>
                <a:cs typeface="Calibri" pitchFamily="34" charset="-120"/>
              </a:rPr>
              <a:t>Any staff member can report. Referrers only see "Received" and "Being handled".</a:t>
            </a:r>
            <a:endParaRPr lang="en-US" sz="1400" dirty="0"/>
          </a:p>
        </p:txBody>
      </p:sp>
      <p:sp>
        <p:nvSpPr>
          <p:cNvPr id="10" name="Shape 7"/>
          <p:cNvSpPr/>
          <p:nvPr/>
        </p:nvSpPr>
        <p:spPr>
          <a:xfrm>
            <a:off x="7498080" y="3154680"/>
            <a:ext cx="402336" cy="402336"/>
          </a:xfrm>
          <a:prstGeom prst="ellipse">
            <a:avLst/>
          </a:prstGeom>
          <a:solidFill>
            <a:srgbClr val="E3F0FF"/>
          </a:solidFill>
          <a:ln w="12700">
            <a:solidFill>
              <a:srgbClr val="E3F0FF"/>
            </a:solidFill>
            <a:prstDash val="solid"/>
          </a:ln>
        </p:spPr>
      </p:sp>
      <p:pic>
        <p:nvPicPr>
          <p:cNvPr id="11" name="Image 1" descr="preencoded.png">    </p:cNvPr>
          <p:cNvPicPr>
            <a:picLocks noChangeAspect="1"/>
          </p:cNvPicPr>
          <p:nvPr/>
        </p:nvPicPr>
        <p:blipFill>
          <a:blip r:embed="rId2"/>
          <a:stretch>
            <a:fillRect/>
          </a:stretch>
        </p:blipFill>
        <p:spPr>
          <a:xfrm>
            <a:off x="7589520" y="3246120"/>
            <a:ext cx="219456" cy="219456"/>
          </a:xfrm>
          <a:prstGeom prst="rect">
            <a:avLst/>
          </a:prstGeom>
        </p:spPr>
      </p:pic>
      <p:sp>
        <p:nvSpPr>
          <p:cNvPr id="12" name="Text 8"/>
          <p:cNvSpPr txBox="1"/>
          <p:nvPr/>
        </p:nvSpPr>
        <p:spPr>
          <a:xfrm>
            <a:off x="8065008" y="3118104"/>
            <a:ext cx="3547872" cy="749808"/>
          </a:xfrm>
          <a:prstGeom prst="rect">
            <a:avLst/>
          </a:prstGeom>
          <a:noFill/>
          <a:ln/>
        </p:spPr>
        <p:txBody>
          <a:bodyPr wrap="square" lIns="0" tIns="0" rIns="0" bIns="0" rtlCol="0" anchor="t"/>
          <a:lstStyle/>
          <a:p>
            <a:pPr indent="0" marL="0">
              <a:spcAft>
                <a:spcPts val="200"/>
              </a:spcAft>
              <a:buNone/>
            </a:pPr>
            <a:r>
              <a:rPr lang="en-US" sz="1400" b="1" dirty="0">
                <a:solidFill>
                  <a:srgbClr val="10171F"/>
                </a:solidFill>
                <a:latin typeface="Calibri" pitchFamily="34" charset="0"/>
                <a:ea typeface="Calibri" pitchFamily="34" charset="-122"/>
                <a:cs typeface="Calibri" pitchFamily="34" charset="-120"/>
              </a:rPr>
              <a:t>Restricted by design</a:t>
            </a:r>
            <a:endParaRPr lang="en-US" sz="1400" dirty="0"/>
          </a:p>
          <a:p>
            <a:pPr indent="0" marL="0">
              <a:spcAft>
                <a:spcPts val="200"/>
              </a:spcAft>
              <a:buNone/>
            </a:pPr>
            <a:r>
              <a:rPr lang="en-US" sz="1200" dirty="0">
                <a:solidFill>
                  <a:srgbClr val="616A75"/>
                </a:solidFill>
                <a:latin typeface="Calibri" pitchFamily="34" charset="0"/>
                <a:ea typeface="Calibri" pitchFamily="34" charset="-122"/>
                <a:cs typeface="Calibri" pitchFamily="34" charset="-120"/>
              </a:rPr>
              <a:t>Only the DSL, the deputy and explicitly granted staff. Every view is audited.</a:t>
            </a:r>
            <a:endParaRPr lang="en-US" sz="1400" dirty="0"/>
          </a:p>
        </p:txBody>
      </p:sp>
      <p:sp>
        <p:nvSpPr>
          <p:cNvPr id="13" name="Shape 9"/>
          <p:cNvSpPr/>
          <p:nvPr/>
        </p:nvSpPr>
        <p:spPr>
          <a:xfrm>
            <a:off x="7498080" y="3977640"/>
            <a:ext cx="402336" cy="402336"/>
          </a:xfrm>
          <a:prstGeom prst="ellipse">
            <a:avLst/>
          </a:prstGeom>
          <a:solidFill>
            <a:srgbClr val="E3F0FF"/>
          </a:solidFill>
          <a:ln w="12700">
            <a:solidFill>
              <a:srgbClr val="E3F0FF"/>
            </a:solidFill>
            <a:prstDash val="solid"/>
          </a:ln>
        </p:spPr>
      </p:sp>
      <p:pic>
        <p:nvPicPr>
          <p:cNvPr id="14" name="Image 2" descr="preencoded.png">    </p:cNvPr>
          <p:cNvPicPr>
            <a:picLocks noChangeAspect="1"/>
          </p:cNvPicPr>
          <p:nvPr/>
        </p:nvPicPr>
        <p:blipFill>
          <a:blip r:embed="rId3"/>
          <a:stretch>
            <a:fillRect/>
          </a:stretch>
        </p:blipFill>
        <p:spPr>
          <a:xfrm>
            <a:off x="7589520" y="4069080"/>
            <a:ext cx="219456" cy="219456"/>
          </a:xfrm>
          <a:prstGeom prst="rect">
            <a:avLst/>
          </a:prstGeom>
        </p:spPr>
      </p:pic>
      <p:sp>
        <p:nvSpPr>
          <p:cNvPr id="15" name="Text 10"/>
          <p:cNvSpPr txBox="1"/>
          <p:nvPr/>
        </p:nvSpPr>
        <p:spPr>
          <a:xfrm>
            <a:off x="8065008" y="3941064"/>
            <a:ext cx="3547872" cy="749808"/>
          </a:xfrm>
          <a:prstGeom prst="rect">
            <a:avLst/>
          </a:prstGeom>
          <a:noFill/>
          <a:ln/>
        </p:spPr>
        <p:txBody>
          <a:bodyPr wrap="square" lIns="0" tIns="0" rIns="0" bIns="0" rtlCol="0" anchor="t"/>
          <a:lstStyle/>
          <a:p>
            <a:pPr indent="0" marL="0">
              <a:spcAft>
                <a:spcPts val="200"/>
              </a:spcAft>
              <a:buNone/>
            </a:pPr>
            <a:r>
              <a:rPr lang="en-US" sz="1400" b="1" dirty="0">
                <a:solidFill>
                  <a:srgbClr val="10171F"/>
                </a:solidFill>
                <a:latin typeface="Calibri" pitchFamily="34" charset="0"/>
                <a:ea typeface="Calibri" pitchFamily="34" charset="-122"/>
                <a:cs typeface="Calibri" pitchFamily="34" charset="-120"/>
              </a:rPr>
              <a:t>Family decisions recorded</a:t>
            </a:r>
            <a:endParaRPr lang="en-US" sz="1400" dirty="0"/>
          </a:p>
          <a:p>
            <a:pPr indent="0" marL="0">
              <a:spcAft>
                <a:spcPts val="200"/>
              </a:spcAft>
              <a:buNone/>
            </a:pPr>
            <a:r>
              <a:rPr lang="en-US" sz="1200" dirty="0">
                <a:solidFill>
                  <a:srgbClr val="616A75"/>
                </a:solidFill>
                <a:latin typeface="Calibri" pitchFamily="34" charset="0"/>
                <a:ea typeface="Calibri" pitchFamily="34" charset="-122"/>
                <a:cs typeface="Calibri" pitchFamily="34" charset="-120"/>
              </a:rPr>
              <a:t>Notify, defer or do not notify, always with a written reason.</a:t>
            </a:r>
            <a:endParaRPr lang="en-US" sz="1400" dirty="0"/>
          </a:p>
        </p:txBody>
      </p:sp>
      <p:sp>
        <p:nvSpPr>
          <p:cNvPr id="16" name="Shape 11"/>
          <p:cNvSpPr/>
          <p:nvPr/>
        </p:nvSpPr>
        <p:spPr>
          <a:xfrm>
            <a:off x="7498080" y="4800600"/>
            <a:ext cx="402336" cy="402336"/>
          </a:xfrm>
          <a:prstGeom prst="ellipse">
            <a:avLst/>
          </a:prstGeom>
          <a:solidFill>
            <a:srgbClr val="E3F0FF"/>
          </a:solidFill>
          <a:ln w="12700">
            <a:solidFill>
              <a:srgbClr val="E3F0FF"/>
            </a:solidFill>
            <a:prstDash val="solid"/>
          </a:ln>
        </p:spPr>
      </p:sp>
      <p:pic>
        <p:nvPicPr>
          <p:cNvPr id="17" name="Image 3" descr="preencoded.png">    </p:cNvPr>
          <p:cNvPicPr>
            <a:picLocks noChangeAspect="1"/>
          </p:cNvPicPr>
          <p:nvPr/>
        </p:nvPicPr>
        <p:blipFill>
          <a:blip r:embed="rId4"/>
          <a:stretch>
            <a:fillRect/>
          </a:stretch>
        </p:blipFill>
        <p:spPr>
          <a:xfrm>
            <a:off x="7589520" y="4892040"/>
            <a:ext cx="219456" cy="219456"/>
          </a:xfrm>
          <a:prstGeom prst="rect">
            <a:avLst/>
          </a:prstGeom>
        </p:spPr>
      </p:pic>
      <p:sp>
        <p:nvSpPr>
          <p:cNvPr id="18" name="Text 12"/>
          <p:cNvSpPr txBox="1"/>
          <p:nvPr/>
        </p:nvSpPr>
        <p:spPr>
          <a:xfrm>
            <a:off x="8065008" y="4764024"/>
            <a:ext cx="3547872" cy="749808"/>
          </a:xfrm>
          <a:prstGeom prst="rect">
            <a:avLst/>
          </a:prstGeom>
          <a:noFill/>
          <a:ln/>
        </p:spPr>
        <p:txBody>
          <a:bodyPr wrap="square" lIns="0" tIns="0" rIns="0" bIns="0" rtlCol="0" anchor="t"/>
          <a:lstStyle/>
          <a:p>
            <a:pPr indent="0" marL="0">
              <a:spcAft>
                <a:spcPts val="200"/>
              </a:spcAft>
              <a:buNone/>
            </a:pPr>
            <a:r>
              <a:rPr lang="en-US" sz="1400" b="1" dirty="0">
                <a:solidFill>
                  <a:srgbClr val="10171F"/>
                </a:solidFill>
                <a:latin typeface="Calibri" pitchFamily="34" charset="0"/>
                <a:ea typeface="Calibri" pitchFamily="34" charset="-122"/>
                <a:cs typeface="Calibri" pitchFamily="34" charset="-120"/>
              </a:rPr>
              <a:t>Chronology and referrals</a:t>
            </a:r>
            <a:endParaRPr lang="en-US" sz="1400" dirty="0"/>
          </a:p>
          <a:p>
            <a:pPr indent="0" marL="0">
              <a:spcAft>
                <a:spcPts val="200"/>
              </a:spcAft>
              <a:buNone/>
            </a:pPr>
            <a:r>
              <a:rPr lang="en-US" sz="1200" dirty="0">
                <a:solidFill>
                  <a:srgbClr val="616A75"/>
                </a:solidFill>
                <a:latin typeface="Calibri" pitchFamily="34" charset="0"/>
                <a:ea typeface="Calibri" pitchFamily="34" charset="-122"/>
                <a:cs typeface="Calibri" pitchFamily="34" charset="-120"/>
              </a:rPr>
              <a:t>Timestamped record, external agency referrals, export by the DSL only.</a:t>
            </a:r>
            <a:endParaRPr lang="en-US" sz="1400" dirty="0"/>
          </a:p>
        </p:txBody>
      </p:sp>
      <p:sp>
        <p:nvSpPr>
          <p:cNvPr id="19" name="Shape 13"/>
          <p:cNvSpPr/>
          <p:nvPr/>
        </p:nvSpPr>
        <p:spPr>
          <a:xfrm>
            <a:off x="7498080" y="5623560"/>
            <a:ext cx="402336" cy="402336"/>
          </a:xfrm>
          <a:prstGeom prst="ellipse">
            <a:avLst/>
          </a:prstGeom>
          <a:solidFill>
            <a:srgbClr val="E3F0FF"/>
          </a:solidFill>
          <a:ln w="12700">
            <a:solidFill>
              <a:srgbClr val="E3F0FF"/>
            </a:solidFill>
            <a:prstDash val="solid"/>
          </a:ln>
        </p:spPr>
      </p:sp>
      <p:pic>
        <p:nvPicPr>
          <p:cNvPr id="20" name="Image 4" descr="preencoded.png">    </p:cNvPr>
          <p:cNvPicPr>
            <a:picLocks noChangeAspect="1"/>
          </p:cNvPicPr>
          <p:nvPr/>
        </p:nvPicPr>
        <p:blipFill>
          <a:blip r:embed="rId5"/>
          <a:stretch>
            <a:fillRect/>
          </a:stretch>
        </p:blipFill>
        <p:spPr>
          <a:xfrm>
            <a:off x="7589520" y="5715000"/>
            <a:ext cx="219456" cy="219456"/>
          </a:xfrm>
          <a:prstGeom prst="rect">
            <a:avLst/>
          </a:prstGeom>
        </p:spPr>
      </p:pic>
      <p:sp>
        <p:nvSpPr>
          <p:cNvPr id="21" name="Text 14"/>
          <p:cNvSpPr txBox="1"/>
          <p:nvPr/>
        </p:nvSpPr>
        <p:spPr>
          <a:xfrm>
            <a:off x="8065008" y="5586984"/>
            <a:ext cx="3547872" cy="749808"/>
          </a:xfrm>
          <a:prstGeom prst="rect">
            <a:avLst/>
          </a:prstGeom>
          <a:noFill/>
          <a:ln/>
        </p:spPr>
        <p:txBody>
          <a:bodyPr wrap="square" lIns="0" tIns="0" rIns="0" bIns="0" rtlCol="0" anchor="t"/>
          <a:lstStyle/>
          <a:p>
            <a:pPr indent="0" marL="0">
              <a:spcAft>
                <a:spcPts val="200"/>
              </a:spcAft>
              <a:buNone/>
            </a:pPr>
            <a:r>
              <a:rPr lang="en-US" sz="1400" b="1" dirty="0">
                <a:solidFill>
                  <a:srgbClr val="10171F"/>
                </a:solidFill>
                <a:latin typeface="Calibri" pitchFamily="34" charset="0"/>
                <a:ea typeface="Calibri" pitchFamily="34" charset="-122"/>
                <a:cs typeface="Calibri" pitchFamily="34" charset="-120"/>
              </a:rPr>
              <a:t>Break-glass access</a:t>
            </a:r>
            <a:endParaRPr lang="en-US" sz="1400" dirty="0"/>
          </a:p>
          <a:p>
            <a:pPr indent="0" marL="0">
              <a:spcAft>
                <a:spcPts val="200"/>
              </a:spcAft>
              <a:buNone/>
            </a:pPr>
            <a:r>
              <a:rPr lang="en-US" sz="1200" dirty="0">
                <a:solidFill>
                  <a:srgbClr val="616A75"/>
                </a:solidFill>
                <a:latin typeface="Calibri" pitchFamily="34" charset="0"/>
                <a:ea typeface="Calibri" pitchFamily="34" charset="-122"/>
                <a:cs typeface="Calibri" pitchFamily="34" charset="-120"/>
              </a:rPr>
              <a:t>Emergency access needs a written reason and alerts the DSL.</a:t>
            </a:r>
            <a:endParaRPr lang="en-US" sz="1400" dirty="0"/>
          </a:p>
        </p:txBody>
      </p:sp>
      <p:sp>
        <p:nvSpPr>
          <p:cNvPr id="22" name="Shape 15"/>
          <p:cNvSpPr/>
          <p:nvPr/>
        </p:nvSpPr>
        <p:spPr>
          <a:xfrm>
            <a:off x="548640" y="1417320"/>
            <a:ext cx="6675120" cy="4382262"/>
          </a:xfrm>
          <a:prstGeom prst="roundRect">
            <a:avLst>
              <a:gd name="adj" fmla="val 1461"/>
            </a:avLst>
          </a:prstGeom>
          <a:solidFill>
            <a:srgbClr val="FFFFFF"/>
          </a:solidFill>
          <a:ln w="9525">
            <a:solidFill>
              <a:srgbClr val="DFE3E8"/>
            </a:solidFill>
            <a:prstDash val="solid"/>
          </a:ln>
          <a:effectLst>
            <a:outerShdw sx="100000" sy="100000" kx="0" ky="0" algn="bl" rotWithShape="0" blurRad="177800" dist="63500" dir="5400000">
              <a:srgbClr val="0C182A">
                <a:alpha val="16000"/>
              </a:srgbClr>
            </a:outerShdw>
          </a:effectLst>
        </p:spPr>
      </p:sp>
      <p:sp>
        <p:nvSpPr>
          <p:cNvPr id="23" name="Shape 16"/>
          <p:cNvSpPr/>
          <p:nvPr/>
        </p:nvSpPr>
        <p:spPr>
          <a:xfrm>
            <a:off x="658368" y="1485900"/>
            <a:ext cx="77724" cy="77724"/>
          </a:xfrm>
          <a:prstGeom prst="ellipse">
            <a:avLst/>
          </a:prstGeom>
          <a:solidFill>
            <a:srgbClr val="E5776E"/>
          </a:solidFill>
          <a:ln w="12700">
            <a:solidFill>
              <a:srgbClr val="E5776E"/>
            </a:solidFill>
            <a:prstDash val="solid"/>
          </a:ln>
        </p:spPr>
      </p:sp>
      <p:sp>
        <p:nvSpPr>
          <p:cNvPr id="24" name="Shape 17"/>
          <p:cNvSpPr/>
          <p:nvPr/>
        </p:nvSpPr>
        <p:spPr>
          <a:xfrm>
            <a:off x="777240" y="1485900"/>
            <a:ext cx="77724" cy="77724"/>
          </a:xfrm>
          <a:prstGeom prst="ellipse">
            <a:avLst/>
          </a:prstGeom>
          <a:solidFill>
            <a:srgbClr val="E8C35A"/>
          </a:solidFill>
          <a:ln w="12700">
            <a:solidFill>
              <a:srgbClr val="E8C35A"/>
            </a:solidFill>
            <a:prstDash val="solid"/>
          </a:ln>
        </p:spPr>
      </p:sp>
      <p:sp>
        <p:nvSpPr>
          <p:cNvPr id="25" name="Shape 18"/>
          <p:cNvSpPr/>
          <p:nvPr/>
        </p:nvSpPr>
        <p:spPr>
          <a:xfrm>
            <a:off x="896112" y="1485900"/>
            <a:ext cx="77724" cy="77724"/>
          </a:xfrm>
          <a:prstGeom prst="ellipse">
            <a:avLst/>
          </a:prstGeom>
          <a:solidFill>
            <a:srgbClr val="6CC08A"/>
          </a:solidFill>
          <a:ln w="12700">
            <a:solidFill>
              <a:srgbClr val="6CC08A"/>
            </a:solidFill>
            <a:prstDash val="solid"/>
          </a:ln>
        </p:spPr>
      </p:sp>
      <p:pic>
        <p:nvPicPr>
          <p:cNvPr id="26" name="Image 5" descr="/tmp/claude-0/-home-user-School/397e64b2-6645-56da-9972-e1722fae0ce6/scratchpad/sales/imgdeck/dsl-case-decision-en.jpg">    </p:cNvPr>
          <p:cNvPicPr>
            <a:picLocks noChangeAspect="1"/>
          </p:cNvPicPr>
          <p:nvPr/>
        </p:nvPicPr>
        <p:blipFill>
          <a:blip r:embed="rId6"/>
          <a:stretch>
            <a:fillRect/>
          </a:stretch>
        </p:blipFill>
        <p:spPr>
          <a:xfrm>
            <a:off x="585216" y="1636776"/>
            <a:ext cx="6601968" cy="4126230"/>
          </a:xfrm>
          <a:prstGeom prst="rect">
            <a:avLst/>
          </a:prstGeom>
        </p:spPr>
      </p:pic>
      <p:sp>
        <p:nvSpPr>
          <p:cNvPr id="27" name="Text 19"/>
          <p:cNvSpPr txBox="1"/>
          <p:nvPr/>
        </p:nvSpPr>
        <p:spPr>
          <a:xfrm>
            <a:off x="9814255" y="6473952"/>
            <a:ext cx="1828800" cy="201168"/>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Horizon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28600"/>
          </a:xfrm>
          <a:prstGeom prst="rect">
            <a:avLst/>
          </a:prstGeom>
          <a:noFill/>
          <a:ln/>
        </p:spPr>
        <p:txBody>
          <a:bodyPr wrap="square" lIns="0" tIns="0" rIns="0" bIns="0" rtlCol="0" anchor="ctr"/>
          <a:lstStyle/>
          <a:p>
            <a:pPr indent="0" marL="0">
              <a:buNone/>
            </a:pPr>
            <a:r>
              <a:rPr lang="en-US" sz="1100" b="1" spc="300" kern="0" dirty="0">
                <a:solidFill>
                  <a:srgbClr val="05437A"/>
                </a:solidFill>
                <a:latin typeface="Calibri" pitchFamily="34" charset="0"/>
                <a:ea typeface="Calibri" pitchFamily="34" charset="-122"/>
                <a:cs typeface="Calibri" pitchFamily="34" charset="-120"/>
              </a:rPr>
              <a:t>TEACHER</a:t>
            </a:r>
            <a:endParaRPr lang="en-US" sz="1100" dirty="0"/>
          </a:p>
        </p:txBody>
      </p:sp>
      <p:sp>
        <p:nvSpPr>
          <p:cNvPr id="3" name="Text 1"/>
          <p:cNvSpPr txBox="1"/>
          <p:nvPr/>
        </p:nvSpPr>
        <p:spPr>
          <a:xfrm>
            <a:off x="548640" y="411480"/>
            <a:ext cx="11064240" cy="822960"/>
          </a:xfrm>
          <a:prstGeom prst="rect">
            <a:avLst/>
          </a:prstGeom>
          <a:noFill/>
          <a:ln/>
        </p:spPr>
        <p:txBody>
          <a:bodyPr wrap="square" lIns="0" tIns="0" rIns="0" bIns="0" rtlCol="0" anchor="t"/>
          <a:lstStyle/>
          <a:p>
            <a:pPr indent="0" marL="0">
              <a:buNone/>
            </a:pPr>
            <a:r>
              <a:rPr lang="en-US" sz="2600" b="1" dirty="0">
                <a:solidFill>
                  <a:srgbClr val="10171F"/>
                </a:solidFill>
                <a:latin typeface="Cambria" pitchFamily="34" charset="0"/>
                <a:ea typeface="Cambria" pitchFamily="34" charset="-122"/>
                <a:cs typeface="Cambria" pitchFamily="34" charset="-120"/>
              </a:rPr>
              <a:t>Refer, approve and grade in a few taps</a:t>
            </a:r>
            <a:endParaRPr lang="en-US" sz="2600" dirty="0"/>
          </a:p>
        </p:txBody>
      </p:sp>
      <p:sp>
        <p:nvSpPr>
          <p:cNvPr id="4" name="Shape 2"/>
          <p:cNvSpPr/>
          <p:nvPr/>
        </p:nvSpPr>
        <p:spPr>
          <a:xfrm>
            <a:off x="548640" y="1417320"/>
            <a:ext cx="566928" cy="566928"/>
          </a:xfrm>
          <a:prstGeom prst="ellipse">
            <a:avLst/>
          </a:prstGeom>
          <a:solidFill>
            <a:srgbClr val="05437A"/>
          </a:solidFill>
          <a:ln w="12700">
            <a:solidFill>
              <a:srgbClr val="05437A"/>
            </a:solidFill>
            <a:prstDash val="solid"/>
          </a:ln>
        </p:spPr>
      </p:sp>
      <p:sp>
        <p:nvSpPr>
          <p:cNvPr id="5" name="Text 3"/>
          <p:cNvSpPr txBox="1"/>
          <p:nvPr/>
        </p:nvSpPr>
        <p:spPr>
          <a:xfrm>
            <a:off x="548640" y="14173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DC</a:t>
            </a:r>
            <a:endParaRPr lang="en-US" sz="1500" dirty="0"/>
          </a:p>
        </p:txBody>
      </p:sp>
      <p:sp>
        <p:nvSpPr>
          <p:cNvPr id="6" name="Text 4"/>
          <p:cNvSpPr txBox="1"/>
          <p:nvPr/>
        </p:nvSpPr>
        <p:spPr>
          <a:xfrm>
            <a:off x="1261872" y="1399032"/>
            <a:ext cx="3291840" cy="603504"/>
          </a:xfrm>
          <a:prstGeom prst="rect">
            <a:avLst/>
          </a:prstGeom>
          <a:noFill/>
          <a:ln/>
        </p:spPr>
        <p:txBody>
          <a:bodyPr wrap="square" lIns="0" tIns="0" rIns="0" bIns="0" rtlCol="0" anchor="ctr"/>
          <a:lstStyle/>
          <a:p>
            <a:pPr indent="0" marL="0">
              <a:buNone/>
            </a:pPr>
            <a:r>
              <a:rPr lang="en-US" sz="1500" b="1" dirty="0">
                <a:solidFill>
                  <a:srgbClr val="10171F"/>
                </a:solidFill>
                <a:latin typeface="Calibri" pitchFamily="34" charset="0"/>
                <a:ea typeface="Calibri" pitchFamily="34" charset="-122"/>
                <a:cs typeface="Calibri" pitchFamily="34" charset="-120"/>
              </a:rPr>
              <a:t>Daniel Carter</a:t>
            </a:r>
            <a:endParaRPr lang="en-US" sz="1500" dirty="0"/>
          </a:p>
          <a:p>
            <a:pPr indent="0" marL="0">
              <a:buNone/>
            </a:pPr>
            <a:r>
              <a:rPr lang="en-US" sz="1200" dirty="0">
                <a:solidFill>
                  <a:srgbClr val="616A75"/>
                </a:solidFill>
                <a:latin typeface="Calibri" pitchFamily="34" charset="0"/>
                <a:ea typeface="Calibri" pitchFamily="34" charset="-122"/>
                <a:cs typeface="Calibri" pitchFamily="34" charset="-120"/>
              </a:rPr>
              <a:t>Teacher</a:t>
            </a:r>
            <a:endParaRPr lang="en-US" sz="1500" dirty="0"/>
          </a:p>
        </p:txBody>
      </p:sp>
      <p:sp>
        <p:nvSpPr>
          <p:cNvPr id="7" name="Shape 5"/>
          <p:cNvSpPr/>
          <p:nvPr/>
        </p:nvSpPr>
        <p:spPr>
          <a:xfrm>
            <a:off x="548640" y="2331720"/>
            <a:ext cx="402336" cy="402336"/>
          </a:xfrm>
          <a:prstGeom prst="ellipse">
            <a:avLst/>
          </a:prstGeom>
          <a:solidFill>
            <a:srgbClr val="E3F0FF"/>
          </a:solidFill>
          <a:ln w="12700">
            <a:solidFill>
              <a:srgbClr val="E3F0FF"/>
            </a:solidFill>
            <a:prstDash val="solid"/>
          </a:ln>
        </p:spPr>
      </p:sp>
      <p:pic>
        <p:nvPicPr>
          <p:cNvPr id="8" name="Image 0" descr="preencoded.png">    </p:cNvPr>
          <p:cNvPicPr>
            <a:picLocks noChangeAspect="1"/>
          </p:cNvPicPr>
          <p:nvPr/>
        </p:nvPicPr>
        <p:blipFill>
          <a:blip r:embed="rId1"/>
          <a:stretch>
            <a:fillRect/>
          </a:stretch>
        </p:blipFill>
        <p:spPr>
          <a:xfrm>
            <a:off x="640080" y="2423160"/>
            <a:ext cx="219456" cy="219456"/>
          </a:xfrm>
          <a:prstGeom prst="rect">
            <a:avLst/>
          </a:prstGeom>
        </p:spPr>
      </p:pic>
      <p:sp>
        <p:nvSpPr>
          <p:cNvPr id="9" name="Text 6"/>
          <p:cNvSpPr txBox="1"/>
          <p:nvPr/>
        </p:nvSpPr>
        <p:spPr>
          <a:xfrm>
            <a:off x="1115568" y="2295144"/>
            <a:ext cx="3547872" cy="841248"/>
          </a:xfrm>
          <a:prstGeom prst="rect">
            <a:avLst/>
          </a:prstGeom>
          <a:noFill/>
          <a:ln/>
        </p:spPr>
        <p:txBody>
          <a:bodyPr wrap="square" lIns="0" tIns="0" rIns="0" bIns="0" rtlCol="0" anchor="t"/>
          <a:lstStyle/>
          <a:p>
            <a:pPr indent="0" marL="0">
              <a:spcAft>
                <a:spcPts val="200"/>
              </a:spcAft>
              <a:buNone/>
            </a:pPr>
            <a:r>
              <a:rPr lang="en-US" sz="1400" b="1" dirty="0">
                <a:solidFill>
                  <a:srgbClr val="10171F"/>
                </a:solidFill>
                <a:latin typeface="Calibri" pitchFamily="34" charset="0"/>
                <a:ea typeface="Calibri" pitchFamily="34" charset="-122"/>
                <a:cs typeface="Calibri" pitchFamily="34" charset="-120"/>
              </a:rPr>
              <a:t>Refer a student</a:t>
            </a:r>
            <a:endParaRPr lang="en-US" sz="1400" dirty="0"/>
          </a:p>
          <a:p>
            <a:pPr indent="0" marL="0">
              <a:spcAft>
                <a:spcPts val="200"/>
              </a:spcAft>
              <a:buNone/>
            </a:pPr>
            <a:r>
              <a:rPr lang="en-US" sz="1200" dirty="0">
                <a:solidFill>
                  <a:srgbClr val="616A75"/>
                </a:solidFill>
                <a:latin typeface="Calibri" pitchFamily="34" charset="0"/>
                <a:ea typeface="Calibri" pitchFamily="34" charset="-122"/>
                <a:cs typeface="Calibri" pitchFamily="34" charset="-120"/>
              </a:rPr>
              <a:t>Academic, behaviour, wellbeing or learning support, straight from Home.</a:t>
            </a:r>
            <a:endParaRPr lang="en-US" sz="1400" dirty="0"/>
          </a:p>
        </p:txBody>
      </p:sp>
      <p:sp>
        <p:nvSpPr>
          <p:cNvPr id="10" name="Shape 7"/>
          <p:cNvSpPr/>
          <p:nvPr/>
        </p:nvSpPr>
        <p:spPr>
          <a:xfrm>
            <a:off x="548640" y="3246120"/>
            <a:ext cx="402336" cy="402336"/>
          </a:xfrm>
          <a:prstGeom prst="ellipse">
            <a:avLst/>
          </a:prstGeom>
          <a:solidFill>
            <a:srgbClr val="E3F0FF"/>
          </a:solidFill>
          <a:ln w="12700">
            <a:solidFill>
              <a:srgbClr val="E3F0FF"/>
            </a:solidFill>
            <a:prstDash val="solid"/>
          </a:ln>
        </p:spPr>
      </p:sp>
      <p:pic>
        <p:nvPicPr>
          <p:cNvPr id="11" name="Image 1" descr="preencoded.png">    </p:cNvPr>
          <p:cNvPicPr>
            <a:picLocks noChangeAspect="1"/>
          </p:cNvPicPr>
          <p:nvPr/>
        </p:nvPicPr>
        <p:blipFill>
          <a:blip r:embed="rId2"/>
          <a:stretch>
            <a:fillRect/>
          </a:stretch>
        </p:blipFill>
        <p:spPr>
          <a:xfrm>
            <a:off x="640080" y="3337560"/>
            <a:ext cx="219456" cy="219456"/>
          </a:xfrm>
          <a:prstGeom prst="rect">
            <a:avLst/>
          </a:prstGeom>
        </p:spPr>
      </p:pic>
      <p:sp>
        <p:nvSpPr>
          <p:cNvPr id="12" name="Text 8"/>
          <p:cNvSpPr txBox="1"/>
          <p:nvPr/>
        </p:nvSpPr>
        <p:spPr>
          <a:xfrm>
            <a:off x="1115568" y="3209544"/>
            <a:ext cx="3547872" cy="841248"/>
          </a:xfrm>
          <a:prstGeom prst="rect">
            <a:avLst/>
          </a:prstGeom>
          <a:noFill/>
          <a:ln/>
        </p:spPr>
        <p:txBody>
          <a:bodyPr wrap="square" lIns="0" tIns="0" rIns="0" bIns="0" rtlCol="0" anchor="t"/>
          <a:lstStyle/>
          <a:p>
            <a:pPr indent="0" marL="0">
              <a:spcAft>
                <a:spcPts val="200"/>
              </a:spcAft>
              <a:buNone/>
            </a:pPr>
            <a:r>
              <a:rPr lang="en-US" sz="1400" b="1" dirty="0">
                <a:solidFill>
                  <a:srgbClr val="10171F"/>
                </a:solidFill>
                <a:latin typeface="Calibri" pitchFamily="34" charset="0"/>
                <a:ea typeface="Calibri" pitchFamily="34" charset="-122"/>
                <a:cs typeface="Calibri" pitchFamily="34" charset="-120"/>
              </a:rPr>
              <a:t>Raise a safeguarding concern</a:t>
            </a:r>
            <a:endParaRPr lang="en-US" sz="1400" dirty="0"/>
          </a:p>
          <a:p>
            <a:pPr indent="0" marL="0">
              <a:spcAft>
                <a:spcPts val="200"/>
              </a:spcAft>
              <a:buNone/>
            </a:pPr>
            <a:r>
              <a:rPr lang="en-US" sz="1200" dirty="0">
                <a:solidFill>
                  <a:srgbClr val="616A75"/>
                </a:solidFill>
                <a:latin typeface="Calibri" pitchFamily="34" charset="0"/>
                <a:ea typeface="Calibri" pitchFamily="34" charset="-122"/>
                <a:cs typeface="Calibri" pitchFamily="34" charset="-120"/>
              </a:rPr>
              <a:t>Always one click away. The DSL is alerted; details stay restricted.</a:t>
            </a:r>
            <a:endParaRPr lang="en-US" sz="1400" dirty="0"/>
          </a:p>
        </p:txBody>
      </p:sp>
      <p:sp>
        <p:nvSpPr>
          <p:cNvPr id="13" name="Shape 9"/>
          <p:cNvSpPr/>
          <p:nvPr/>
        </p:nvSpPr>
        <p:spPr>
          <a:xfrm>
            <a:off x="548640" y="4160520"/>
            <a:ext cx="402336" cy="402336"/>
          </a:xfrm>
          <a:prstGeom prst="ellipse">
            <a:avLst/>
          </a:prstGeom>
          <a:solidFill>
            <a:srgbClr val="E3F0FF"/>
          </a:solidFill>
          <a:ln w="12700">
            <a:solidFill>
              <a:srgbClr val="E3F0FF"/>
            </a:solidFill>
            <a:prstDash val="solid"/>
          </a:ln>
        </p:spPr>
      </p:sp>
      <p:pic>
        <p:nvPicPr>
          <p:cNvPr id="14" name="Image 2" descr="preencoded.png">    </p:cNvPr>
          <p:cNvPicPr>
            <a:picLocks noChangeAspect="1"/>
          </p:cNvPicPr>
          <p:nvPr/>
        </p:nvPicPr>
        <p:blipFill>
          <a:blip r:embed="rId3"/>
          <a:stretch>
            <a:fillRect/>
          </a:stretch>
        </p:blipFill>
        <p:spPr>
          <a:xfrm>
            <a:off x="640080" y="4251960"/>
            <a:ext cx="219456" cy="219456"/>
          </a:xfrm>
          <a:prstGeom prst="rect">
            <a:avLst/>
          </a:prstGeom>
        </p:spPr>
      </p:pic>
      <p:sp>
        <p:nvSpPr>
          <p:cNvPr id="15" name="Text 10"/>
          <p:cNvSpPr txBox="1"/>
          <p:nvPr/>
        </p:nvSpPr>
        <p:spPr>
          <a:xfrm>
            <a:off x="1115568" y="4123944"/>
            <a:ext cx="3547872" cy="841248"/>
          </a:xfrm>
          <a:prstGeom prst="rect">
            <a:avLst/>
          </a:prstGeom>
          <a:noFill/>
          <a:ln/>
        </p:spPr>
        <p:txBody>
          <a:bodyPr wrap="square" lIns="0" tIns="0" rIns="0" bIns="0" rtlCol="0" anchor="t"/>
          <a:lstStyle/>
          <a:p>
            <a:pPr indent="0" marL="0">
              <a:spcAft>
                <a:spcPts val="200"/>
              </a:spcAft>
              <a:buNone/>
            </a:pPr>
            <a:r>
              <a:rPr lang="en-US" sz="1400" b="1" dirty="0">
                <a:solidFill>
                  <a:srgbClr val="10171F"/>
                </a:solidFill>
                <a:latin typeface="Calibri" pitchFamily="34" charset="0"/>
                <a:ea typeface="Calibri" pitchFamily="34" charset="-122"/>
                <a:cs typeface="Calibri" pitchFamily="34" charset="-120"/>
              </a:rPr>
              <a:t>Approvals in context</a:t>
            </a:r>
            <a:endParaRPr lang="en-US" sz="1400" dirty="0"/>
          </a:p>
          <a:p>
            <a:pPr indent="0" marL="0">
              <a:spcAft>
                <a:spcPts val="200"/>
              </a:spcAft>
              <a:buNone/>
            </a:pPr>
            <a:r>
              <a:rPr lang="en-US" sz="1200" dirty="0">
                <a:solidFill>
                  <a:srgbClr val="616A75"/>
                </a:solidFill>
                <a:latin typeface="Calibri" pitchFamily="34" charset="0"/>
                <a:ea typeface="Calibri" pitchFamily="34" charset="-122"/>
                <a:cs typeface="Calibri" pitchFamily="34" charset="-120"/>
              </a:rPr>
              <a:t>Subject changes and requests arrive as steps in the workflow.</a:t>
            </a:r>
            <a:endParaRPr lang="en-US" sz="1400" dirty="0"/>
          </a:p>
        </p:txBody>
      </p:sp>
      <p:sp>
        <p:nvSpPr>
          <p:cNvPr id="16" name="Shape 11"/>
          <p:cNvSpPr/>
          <p:nvPr/>
        </p:nvSpPr>
        <p:spPr>
          <a:xfrm>
            <a:off x="548640" y="5074920"/>
            <a:ext cx="402336" cy="402336"/>
          </a:xfrm>
          <a:prstGeom prst="ellipse">
            <a:avLst/>
          </a:prstGeom>
          <a:solidFill>
            <a:srgbClr val="E3F0FF"/>
          </a:solidFill>
          <a:ln w="12700">
            <a:solidFill>
              <a:srgbClr val="E3F0FF"/>
            </a:solidFill>
            <a:prstDash val="solid"/>
          </a:ln>
        </p:spPr>
      </p:sp>
      <p:pic>
        <p:nvPicPr>
          <p:cNvPr id="17" name="Image 3" descr="preencoded.png">    </p:cNvPr>
          <p:cNvPicPr>
            <a:picLocks noChangeAspect="1"/>
          </p:cNvPicPr>
          <p:nvPr/>
        </p:nvPicPr>
        <p:blipFill>
          <a:blip r:embed="rId4"/>
          <a:stretch>
            <a:fillRect/>
          </a:stretch>
        </p:blipFill>
        <p:spPr>
          <a:xfrm>
            <a:off x="640080" y="5166360"/>
            <a:ext cx="219456" cy="219456"/>
          </a:xfrm>
          <a:prstGeom prst="rect">
            <a:avLst/>
          </a:prstGeom>
        </p:spPr>
      </p:pic>
      <p:sp>
        <p:nvSpPr>
          <p:cNvPr id="18" name="Text 12"/>
          <p:cNvSpPr txBox="1"/>
          <p:nvPr/>
        </p:nvSpPr>
        <p:spPr>
          <a:xfrm>
            <a:off x="1115568" y="5038344"/>
            <a:ext cx="3547872" cy="841248"/>
          </a:xfrm>
          <a:prstGeom prst="rect">
            <a:avLst/>
          </a:prstGeom>
          <a:noFill/>
          <a:ln/>
        </p:spPr>
        <p:txBody>
          <a:bodyPr wrap="square" lIns="0" tIns="0" rIns="0" bIns="0" rtlCol="0" anchor="t"/>
          <a:lstStyle/>
          <a:p>
            <a:pPr indent="0" marL="0">
              <a:spcAft>
                <a:spcPts val="200"/>
              </a:spcAft>
              <a:buNone/>
            </a:pPr>
            <a:r>
              <a:rPr lang="en-US" sz="1400" b="1" dirty="0">
                <a:solidFill>
                  <a:srgbClr val="10171F"/>
                </a:solidFill>
                <a:latin typeface="Calibri" pitchFamily="34" charset="0"/>
                <a:ea typeface="Calibri" pitchFamily="34" charset="-122"/>
                <a:cs typeface="Calibri" pitchFamily="34" charset="-120"/>
              </a:rPr>
              <a:t>Spreadsheet-style gradebook</a:t>
            </a:r>
            <a:endParaRPr lang="en-US" sz="1400" dirty="0"/>
          </a:p>
          <a:p>
            <a:pPr indent="0" marL="0">
              <a:spcAft>
                <a:spcPts val="200"/>
              </a:spcAft>
              <a:buNone/>
            </a:pPr>
            <a:r>
              <a:rPr lang="en-US" sz="1200" dirty="0">
                <a:solidFill>
                  <a:srgbClr val="616A75"/>
                </a:solidFill>
                <a:latin typeface="Calibri" pitchFamily="34" charset="0"/>
                <a:ea typeface="Calibri" pitchFamily="34" charset="-122"/>
                <a:cs typeface="Calibri" pitchFamily="34" charset="-120"/>
              </a:rPr>
              <a:t>Autosave, Excel paste, weighted averages and publishing to families.</a:t>
            </a:r>
            <a:endParaRPr lang="en-US" sz="1400" dirty="0"/>
          </a:p>
        </p:txBody>
      </p:sp>
      <p:sp>
        <p:nvSpPr>
          <p:cNvPr id="19" name="Shape 13"/>
          <p:cNvSpPr/>
          <p:nvPr/>
        </p:nvSpPr>
        <p:spPr>
          <a:xfrm>
            <a:off x="4983480" y="1417320"/>
            <a:ext cx="6675120" cy="4382262"/>
          </a:xfrm>
          <a:prstGeom prst="roundRect">
            <a:avLst>
              <a:gd name="adj" fmla="val 1461"/>
            </a:avLst>
          </a:prstGeom>
          <a:solidFill>
            <a:srgbClr val="FFFFFF"/>
          </a:solidFill>
          <a:ln w="9525">
            <a:solidFill>
              <a:srgbClr val="DFE3E8"/>
            </a:solidFill>
            <a:prstDash val="solid"/>
          </a:ln>
          <a:effectLst>
            <a:outerShdw sx="100000" sy="100000" kx="0" ky="0" algn="bl" rotWithShape="0" blurRad="177800" dist="63500" dir="5400000">
              <a:srgbClr val="0C182A">
                <a:alpha val="16000"/>
              </a:srgbClr>
            </a:outerShdw>
          </a:effectLst>
        </p:spPr>
      </p:sp>
      <p:sp>
        <p:nvSpPr>
          <p:cNvPr id="20" name="Shape 14"/>
          <p:cNvSpPr/>
          <p:nvPr/>
        </p:nvSpPr>
        <p:spPr>
          <a:xfrm>
            <a:off x="5093208" y="1485900"/>
            <a:ext cx="77724" cy="77724"/>
          </a:xfrm>
          <a:prstGeom prst="ellipse">
            <a:avLst/>
          </a:prstGeom>
          <a:solidFill>
            <a:srgbClr val="E5776E"/>
          </a:solidFill>
          <a:ln w="12700">
            <a:solidFill>
              <a:srgbClr val="E5776E"/>
            </a:solidFill>
            <a:prstDash val="solid"/>
          </a:ln>
        </p:spPr>
      </p:sp>
      <p:sp>
        <p:nvSpPr>
          <p:cNvPr id="21" name="Shape 15"/>
          <p:cNvSpPr/>
          <p:nvPr/>
        </p:nvSpPr>
        <p:spPr>
          <a:xfrm>
            <a:off x="5212080" y="1485900"/>
            <a:ext cx="77724" cy="77724"/>
          </a:xfrm>
          <a:prstGeom prst="ellipse">
            <a:avLst/>
          </a:prstGeom>
          <a:solidFill>
            <a:srgbClr val="E8C35A"/>
          </a:solidFill>
          <a:ln w="12700">
            <a:solidFill>
              <a:srgbClr val="E8C35A"/>
            </a:solidFill>
            <a:prstDash val="solid"/>
          </a:ln>
        </p:spPr>
      </p:sp>
      <p:sp>
        <p:nvSpPr>
          <p:cNvPr id="22" name="Shape 16"/>
          <p:cNvSpPr/>
          <p:nvPr/>
        </p:nvSpPr>
        <p:spPr>
          <a:xfrm>
            <a:off x="5330952" y="1485900"/>
            <a:ext cx="77724" cy="77724"/>
          </a:xfrm>
          <a:prstGeom prst="ellipse">
            <a:avLst/>
          </a:prstGeom>
          <a:solidFill>
            <a:srgbClr val="6CC08A"/>
          </a:solidFill>
          <a:ln w="12700">
            <a:solidFill>
              <a:srgbClr val="6CC08A"/>
            </a:solidFill>
            <a:prstDash val="solid"/>
          </a:ln>
        </p:spPr>
      </p:sp>
      <p:pic>
        <p:nvPicPr>
          <p:cNvPr id="23" name="Image 4" descr="/tmp/claude-0/-home-user-School/397e64b2-6645-56da-9972-e1722fae0ce6/scratchpad/sales/imgdeck/teacher-home-en.jpg">    </p:cNvPr>
          <p:cNvPicPr>
            <a:picLocks noChangeAspect="1"/>
          </p:cNvPicPr>
          <p:nvPr/>
        </p:nvPicPr>
        <p:blipFill>
          <a:blip r:embed="rId5"/>
          <a:stretch>
            <a:fillRect/>
          </a:stretch>
        </p:blipFill>
        <p:spPr>
          <a:xfrm>
            <a:off x="5020056" y="1636776"/>
            <a:ext cx="6601968" cy="4126230"/>
          </a:xfrm>
          <a:prstGeom prst="rect">
            <a:avLst/>
          </a:prstGeom>
        </p:spPr>
      </p:pic>
      <p:sp>
        <p:nvSpPr>
          <p:cNvPr id="24" name="Shape 17"/>
          <p:cNvSpPr/>
          <p:nvPr/>
        </p:nvSpPr>
        <p:spPr>
          <a:xfrm>
            <a:off x="8778240" y="3966210"/>
            <a:ext cx="3108960" cy="2153412"/>
          </a:xfrm>
          <a:prstGeom prst="roundRect">
            <a:avLst>
              <a:gd name="adj" fmla="val 2972"/>
            </a:avLst>
          </a:prstGeom>
          <a:solidFill>
            <a:srgbClr val="FFFFFF"/>
          </a:solidFill>
          <a:ln w="9525">
            <a:solidFill>
              <a:srgbClr val="DFE3E8"/>
            </a:solidFill>
            <a:prstDash val="solid"/>
          </a:ln>
          <a:effectLst>
            <a:outerShdw sx="100000" sy="100000" kx="0" ky="0" algn="bl" rotWithShape="0" blurRad="177800" dist="63500" dir="5400000">
              <a:srgbClr val="0C182A">
                <a:alpha val="16000"/>
              </a:srgbClr>
            </a:outerShdw>
          </a:effectLst>
        </p:spPr>
      </p:sp>
      <p:sp>
        <p:nvSpPr>
          <p:cNvPr id="25" name="Shape 18"/>
          <p:cNvSpPr/>
          <p:nvPr/>
        </p:nvSpPr>
        <p:spPr>
          <a:xfrm>
            <a:off x="8887968" y="4034790"/>
            <a:ext cx="77724" cy="77724"/>
          </a:xfrm>
          <a:prstGeom prst="ellipse">
            <a:avLst/>
          </a:prstGeom>
          <a:solidFill>
            <a:srgbClr val="E5776E"/>
          </a:solidFill>
          <a:ln w="12700">
            <a:solidFill>
              <a:srgbClr val="E5776E"/>
            </a:solidFill>
            <a:prstDash val="solid"/>
          </a:ln>
        </p:spPr>
      </p:sp>
      <p:sp>
        <p:nvSpPr>
          <p:cNvPr id="26" name="Shape 19"/>
          <p:cNvSpPr/>
          <p:nvPr/>
        </p:nvSpPr>
        <p:spPr>
          <a:xfrm>
            <a:off x="9006840" y="4034790"/>
            <a:ext cx="77724" cy="77724"/>
          </a:xfrm>
          <a:prstGeom prst="ellipse">
            <a:avLst/>
          </a:prstGeom>
          <a:solidFill>
            <a:srgbClr val="E8C35A"/>
          </a:solidFill>
          <a:ln w="12700">
            <a:solidFill>
              <a:srgbClr val="E8C35A"/>
            </a:solidFill>
            <a:prstDash val="solid"/>
          </a:ln>
        </p:spPr>
      </p:sp>
      <p:sp>
        <p:nvSpPr>
          <p:cNvPr id="27" name="Shape 20"/>
          <p:cNvSpPr/>
          <p:nvPr/>
        </p:nvSpPr>
        <p:spPr>
          <a:xfrm>
            <a:off x="9125712" y="4034790"/>
            <a:ext cx="77724" cy="77724"/>
          </a:xfrm>
          <a:prstGeom prst="ellipse">
            <a:avLst/>
          </a:prstGeom>
          <a:solidFill>
            <a:srgbClr val="6CC08A"/>
          </a:solidFill>
          <a:ln w="12700">
            <a:solidFill>
              <a:srgbClr val="6CC08A"/>
            </a:solidFill>
            <a:prstDash val="solid"/>
          </a:ln>
        </p:spPr>
      </p:sp>
      <p:pic>
        <p:nvPicPr>
          <p:cNvPr id="28" name="Image 5" descr="/tmp/claude-0/-home-user-School/397e64b2-6645-56da-9972-e1722fae0ce6/scratchpad/sales/imgdeck/teacher-grades-en.jpg">    </p:cNvPr>
          <p:cNvPicPr>
            <a:picLocks noChangeAspect="1"/>
          </p:cNvPicPr>
          <p:nvPr/>
        </p:nvPicPr>
        <p:blipFill>
          <a:blip r:embed="rId6"/>
          <a:stretch>
            <a:fillRect/>
          </a:stretch>
        </p:blipFill>
        <p:spPr>
          <a:xfrm>
            <a:off x="8814816" y="4185666"/>
            <a:ext cx="3035808" cy="1897380"/>
          </a:xfrm>
          <a:prstGeom prst="rect">
            <a:avLst/>
          </a:prstGeom>
        </p:spPr>
      </p:pic>
      <p:sp>
        <p:nvSpPr>
          <p:cNvPr id="29" name="Text 21"/>
          <p:cNvSpPr txBox="1"/>
          <p:nvPr/>
        </p:nvSpPr>
        <p:spPr>
          <a:xfrm>
            <a:off x="9814255" y="6473952"/>
            <a:ext cx="1828800" cy="201168"/>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Horizon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28600"/>
          </a:xfrm>
          <a:prstGeom prst="rect">
            <a:avLst/>
          </a:prstGeom>
          <a:noFill/>
          <a:ln/>
        </p:spPr>
        <p:txBody>
          <a:bodyPr wrap="square" lIns="0" tIns="0" rIns="0" bIns="0" rtlCol="0" anchor="ctr"/>
          <a:lstStyle/>
          <a:p>
            <a:pPr indent="0" marL="0">
              <a:buNone/>
            </a:pPr>
            <a:r>
              <a:rPr lang="en-US" sz="1100" b="1" spc="300" kern="0" dirty="0">
                <a:solidFill>
                  <a:srgbClr val="05437A"/>
                </a:solidFill>
                <a:latin typeface="Calibri" pitchFamily="34" charset="0"/>
                <a:ea typeface="Calibri" pitchFamily="34" charset="-122"/>
                <a:cs typeface="Calibri" pitchFamily="34" charset="-120"/>
              </a:rPr>
              <a:t>CAREER ADVISOR</a:t>
            </a:r>
            <a:endParaRPr lang="en-US" sz="1100" dirty="0"/>
          </a:p>
        </p:txBody>
      </p:sp>
      <p:sp>
        <p:nvSpPr>
          <p:cNvPr id="3" name="Text 1"/>
          <p:cNvSpPr txBox="1"/>
          <p:nvPr/>
        </p:nvSpPr>
        <p:spPr>
          <a:xfrm>
            <a:off x="548640" y="411480"/>
            <a:ext cx="11064240" cy="822960"/>
          </a:xfrm>
          <a:prstGeom prst="rect">
            <a:avLst/>
          </a:prstGeom>
          <a:noFill/>
          <a:ln/>
        </p:spPr>
        <p:txBody>
          <a:bodyPr wrap="square" lIns="0" tIns="0" rIns="0" bIns="0" rtlCol="0" anchor="t"/>
          <a:lstStyle/>
          <a:p>
            <a:pPr indent="0" marL="0">
              <a:buNone/>
            </a:pPr>
            <a:r>
              <a:rPr lang="en-US" sz="2600" b="1" dirty="0">
                <a:solidFill>
                  <a:srgbClr val="10171F"/>
                </a:solidFill>
                <a:latin typeface="Cambria" pitchFamily="34" charset="0"/>
                <a:ea typeface="Cambria" pitchFamily="34" charset="-122"/>
                <a:cs typeface="Cambria" pitchFamily="34" charset="-120"/>
              </a:rPr>
              <a:t>Every application and deadline on one board</a:t>
            </a:r>
            <a:endParaRPr lang="en-US" sz="2600" dirty="0"/>
          </a:p>
        </p:txBody>
      </p:sp>
      <p:sp>
        <p:nvSpPr>
          <p:cNvPr id="4" name="Shape 2"/>
          <p:cNvSpPr/>
          <p:nvPr/>
        </p:nvSpPr>
        <p:spPr>
          <a:xfrm>
            <a:off x="7498080" y="1417320"/>
            <a:ext cx="566928" cy="566928"/>
          </a:xfrm>
          <a:prstGeom prst="ellipse">
            <a:avLst/>
          </a:prstGeom>
          <a:solidFill>
            <a:srgbClr val="05437A"/>
          </a:solidFill>
          <a:ln w="12700">
            <a:solidFill>
              <a:srgbClr val="05437A"/>
            </a:solidFill>
            <a:prstDash val="solid"/>
          </a:ln>
        </p:spPr>
      </p:sp>
      <p:sp>
        <p:nvSpPr>
          <p:cNvPr id="5" name="Text 3"/>
          <p:cNvSpPr txBox="1"/>
          <p:nvPr/>
        </p:nvSpPr>
        <p:spPr>
          <a:xfrm>
            <a:off x="7498080" y="14173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LH</a:t>
            </a:r>
            <a:endParaRPr lang="en-US" sz="1500" dirty="0"/>
          </a:p>
        </p:txBody>
      </p:sp>
      <p:sp>
        <p:nvSpPr>
          <p:cNvPr id="6" name="Text 4"/>
          <p:cNvSpPr txBox="1"/>
          <p:nvPr/>
        </p:nvSpPr>
        <p:spPr>
          <a:xfrm>
            <a:off x="8211312" y="1399032"/>
            <a:ext cx="3291840" cy="603504"/>
          </a:xfrm>
          <a:prstGeom prst="rect">
            <a:avLst/>
          </a:prstGeom>
          <a:noFill/>
          <a:ln/>
        </p:spPr>
        <p:txBody>
          <a:bodyPr wrap="square" lIns="0" tIns="0" rIns="0" bIns="0" rtlCol="0" anchor="ctr"/>
          <a:lstStyle/>
          <a:p>
            <a:pPr indent="0" marL="0">
              <a:buNone/>
            </a:pPr>
            <a:r>
              <a:rPr lang="en-US" sz="1500" b="1" dirty="0">
                <a:solidFill>
                  <a:srgbClr val="10171F"/>
                </a:solidFill>
                <a:latin typeface="Calibri" pitchFamily="34" charset="0"/>
                <a:ea typeface="Calibri" pitchFamily="34" charset="-122"/>
                <a:cs typeface="Calibri" pitchFamily="34" charset="-120"/>
              </a:rPr>
              <a:t>Layla Hassan</a:t>
            </a:r>
            <a:endParaRPr lang="en-US" sz="1500" dirty="0"/>
          </a:p>
          <a:p>
            <a:pPr indent="0" marL="0">
              <a:buNone/>
            </a:pPr>
            <a:r>
              <a:rPr lang="en-US" sz="1200" dirty="0">
                <a:solidFill>
                  <a:srgbClr val="616A75"/>
                </a:solidFill>
                <a:latin typeface="Calibri" pitchFamily="34" charset="0"/>
                <a:ea typeface="Calibri" pitchFamily="34" charset="-122"/>
                <a:cs typeface="Calibri" pitchFamily="34" charset="-120"/>
              </a:rPr>
              <a:t>Career Advisor</a:t>
            </a:r>
            <a:endParaRPr lang="en-US" sz="1500" dirty="0"/>
          </a:p>
        </p:txBody>
      </p:sp>
      <p:sp>
        <p:nvSpPr>
          <p:cNvPr id="7" name="Shape 5"/>
          <p:cNvSpPr/>
          <p:nvPr/>
        </p:nvSpPr>
        <p:spPr>
          <a:xfrm>
            <a:off x="7498080" y="2331720"/>
            <a:ext cx="402336" cy="402336"/>
          </a:xfrm>
          <a:prstGeom prst="ellipse">
            <a:avLst/>
          </a:prstGeom>
          <a:solidFill>
            <a:srgbClr val="E3F0FF"/>
          </a:solidFill>
          <a:ln w="12700">
            <a:solidFill>
              <a:srgbClr val="E3F0FF"/>
            </a:solidFill>
            <a:prstDash val="solid"/>
          </a:ln>
        </p:spPr>
      </p:sp>
      <p:pic>
        <p:nvPicPr>
          <p:cNvPr id="8" name="Image 0" descr="preencoded.png">    </p:cNvPr>
          <p:cNvPicPr>
            <a:picLocks noChangeAspect="1"/>
          </p:cNvPicPr>
          <p:nvPr/>
        </p:nvPicPr>
        <p:blipFill>
          <a:blip r:embed="rId1"/>
          <a:stretch>
            <a:fillRect/>
          </a:stretch>
        </p:blipFill>
        <p:spPr>
          <a:xfrm>
            <a:off x="7589520" y="2423160"/>
            <a:ext cx="219456" cy="219456"/>
          </a:xfrm>
          <a:prstGeom prst="rect">
            <a:avLst/>
          </a:prstGeom>
        </p:spPr>
      </p:pic>
      <p:sp>
        <p:nvSpPr>
          <p:cNvPr id="9" name="Text 6"/>
          <p:cNvSpPr txBox="1"/>
          <p:nvPr/>
        </p:nvSpPr>
        <p:spPr>
          <a:xfrm>
            <a:off x="8065008" y="2295144"/>
            <a:ext cx="3547872" cy="841248"/>
          </a:xfrm>
          <a:prstGeom prst="rect">
            <a:avLst/>
          </a:prstGeom>
          <a:noFill/>
          <a:ln/>
        </p:spPr>
        <p:txBody>
          <a:bodyPr wrap="square" lIns="0" tIns="0" rIns="0" bIns="0" rtlCol="0" anchor="t"/>
          <a:lstStyle/>
          <a:p>
            <a:pPr indent="0" marL="0">
              <a:spcAft>
                <a:spcPts val="200"/>
              </a:spcAft>
              <a:buNone/>
            </a:pPr>
            <a:r>
              <a:rPr lang="en-US" sz="1400" b="1" dirty="0">
                <a:solidFill>
                  <a:srgbClr val="10171F"/>
                </a:solidFill>
                <a:latin typeface="Calibri" pitchFamily="34" charset="0"/>
                <a:ea typeface="Calibri" pitchFamily="34" charset="-122"/>
                <a:cs typeface="Calibri" pitchFamily="34" charset="-120"/>
              </a:rPr>
              <a:t>Assessment and matches</a:t>
            </a:r>
            <a:endParaRPr lang="en-US" sz="1400" dirty="0"/>
          </a:p>
          <a:p>
            <a:pPr indent="0" marL="0">
              <a:spcAft>
                <a:spcPts val="200"/>
              </a:spcAft>
              <a:buNone/>
            </a:pPr>
            <a:r>
              <a:rPr lang="en-US" sz="1200" dirty="0">
                <a:solidFill>
                  <a:srgbClr val="616A75"/>
                </a:solidFill>
                <a:latin typeface="Calibri" pitchFamily="34" charset="0"/>
                <a:ea typeface="Calibri" pitchFamily="34" charset="-122"/>
                <a:cs typeface="Calibri" pitchFamily="34" charset="-120"/>
              </a:rPr>
              <a:t>Students take an aptitude assessment and explore careers matched to their strengths.</a:t>
            </a:r>
            <a:endParaRPr lang="en-US" sz="1400" dirty="0"/>
          </a:p>
        </p:txBody>
      </p:sp>
      <p:sp>
        <p:nvSpPr>
          <p:cNvPr id="10" name="Shape 7"/>
          <p:cNvSpPr/>
          <p:nvPr/>
        </p:nvSpPr>
        <p:spPr>
          <a:xfrm>
            <a:off x="7498080" y="3246120"/>
            <a:ext cx="402336" cy="402336"/>
          </a:xfrm>
          <a:prstGeom prst="ellipse">
            <a:avLst/>
          </a:prstGeom>
          <a:solidFill>
            <a:srgbClr val="E3F0FF"/>
          </a:solidFill>
          <a:ln w="12700">
            <a:solidFill>
              <a:srgbClr val="E3F0FF"/>
            </a:solidFill>
            <a:prstDash val="solid"/>
          </a:ln>
        </p:spPr>
      </p:sp>
      <p:pic>
        <p:nvPicPr>
          <p:cNvPr id="11" name="Image 1" descr="preencoded.png">    </p:cNvPr>
          <p:cNvPicPr>
            <a:picLocks noChangeAspect="1"/>
          </p:cNvPicPr>
          <p:nvPr/>
        </p:nvPicPr>
        <p:blipFill>
          <a:blip r:embed="rId2"/>
          <a:stretch>
            <a:fillRect/>
          </a:stretch>
        </p:blipFill>
        <p:spPr>
          <a:xfrm>
            <a:off x="7589520" y="3337560"/>
            <a:ext cx="219456" cy="219456"/>
          </a:xfrm>
          <a:prstGeom prst="rect">
            <a:avLst/>
          </a:prstGeom>
        </p:spPr>
      </p:pic>
      <p:sp>
        <p:nvSpPr>
          <p:cNvPr id="12" name="Text 8"/>
          <p:cNvSpPr txBox="1"/>
          <p:nvPr/>
        </p:nvSpPr>
        <p:spPr>
          <a:xfrm>
            <a:off x="8065008" y="3209544"/>
            <a:ext cx="3547872" cy="841248"/>
          </a:xfrm>
          <a:prstGeom prst="rect">
            <a:avLst/>
          </a:prstGeom>
          <a:noFill/>
          <a:ln/>
        </p:spPr>
        <p:txBody>
          <a:bodyPr wrap="square" lIns="0" tIns="0" rIns="0" bIns="0" rtlCol="0" anchor="t"/>
          <a:lstStyle/>
          <a:p>
            <a:pPr indent="0" marL="0">
              <a:spcAft>
                <a:spcPts val="200"/>
              </a:spcAft>
              <a:buNone/>
            </a:pPr>
            <a:r>
              <a:rPr lang="en-US" sz="1400" b="1" dirty="0">
                <a:solidFill>
                  <a:srgbClr val="10171F"/>
                </a:solidFill>
                <a:latin typeface="Calibri" pitchFamily="34" charset="0"/>
                <a:ea typeface="Calibri" pitchFamily="34" charset="-122"/>
                <a:cs typeface="Calibri" pitchFamily="34" charset="-120"/>
              </a:rPr>
              <a:t>Application board</a:t>
            </a:r>
            <a:endParaRPr lang="en-US" sz="1400" dirty="0"/>
          </a:p>
          <a:p>
            <a:pPr indent="0" marL="0">
              <a:spcAft>
                <a:spcPts val="200"/>
              </a:spcAft>
              <a:buNone/>
            </a:pPr>
            <a:r>
              <a:rPr lang="en-US" sz="1200" dirty="0">
                <a:solidFill>
                  <a:srgbClr val="616A75"/>
                </a:solidFill>
                <a:latin typeface="Calibri" pitchFamily="34" charset="0"/>
                <a:ea typeface="Calibri" pitchFamily="34" charset="-122"/>
                <a:cs typeface="Calibri" pitchFamily="34" charset="-120"/>
              </a:rPr>
              <a:t>Applications by stage, with the next deadline and checklist progress on each card.</a:t>
            </a:r>
            <a:endParaRPr lang="en-US" sz="1400" dirty="0"/>
          </a:p>
        </p:txBody>
      </p:sp>
      <p:sp>
        <p:nvSpPr>
          <p:cNvPr id="13" name="Shape 9"/>
          <p:cNvSpPr/>
          <p:nvPr/>
        </p:nvSpPr>
        <p:spPr>
          <a:xfrm>
            <a:off x="7498080" y="4160520"/>
            <a:ext cx="402336" cy="402336"/>
          </a:xfrm>
          <a:prstGeom prst="ellipse">
            <a:avLst/>
          </a:prstGeom>
          <a:solidFill>
            <a:srgbClr val="E3F0FF"/>
          </a:solidFill>
          <a:ln w="12700">
            <a:solidFill>
              <a:srgbClr val="E3F0FF"/>
            </a:solidFill>
            <a:prstDash val="solid"/>
          </a:ln>
        </p:spPr>
      </p:sp>
      <p:pic>
        <p:nvPicPr>
          <p:cNvPr id="14" name="Image 2" descr="preencoded.png">    </p:cNvPr>
          <p:cNvPicPr>
            <a:picLocks noChangeAspect="1"/>
          </p:cNvPicPr>
          <p:nvPr/>
        </p:nvPicPr>
        <p:blipFill>
          <a:blip r:embed="rId3"/>
          <a:stretch>
            <a:fillRect/>
          </a:stretch>
        </p:blipFill>
        <p:spPr>
          <a:xfrm>
            <a:off x="7589520" y="4251960"/>
            <a:ext cx="219456" cy="219456"/>
          </a:xfrm>
          <a:prstGeom prst="rect">
            <a:avLst/>
          </a:prstGeom>
        </p:spPr>
      </p:pic>
      <p:sp>
        <p:nvSpPr>
          <p:cNvPr id="15" name="Text 10"/>
          <p:cNvSpPr txBox="1"/>
          <p:nvPr/>
        </p:nvSpPr>
        <p:spPr>
          <a:xfrm>
            <a:off x="8065008" y="4123944"/>
            <a:ext cx="3547872" cy="841248"/>
          </a:xfrm>
          <a:prstGeom prst="rect">
            <a:avLst/>
          </a:prstGeom>
          <a:noFill/>
          <a:ln/>
        </p:spPr>
        <p:txBody>
          <a:bodyPr wrap="square" lIns="0" tIns="0" rIns="0" bIns="0" rtlCol="0" anchor="t"/>
          <a:lstStyle/>
          <a:p>
            <a:pPr indent="0" marL="0">
              <a:spcAft>
                <a:spcPts val="200"/>
              </a:spcAft>
              <a:buNone/>
            </a:pPr>
            <a:r>
              <a:rPr lang="en-US" sz="1400" b="1" dirty="0">
                <a:solidFill>
                  <a:srgbClr val="10171F"/>
                </a:solidFill>
                <a:latin typeface="Calibri" pitchFamily="34" charset="0"/>
                <a:ea typeface="Calibri" pitchFamily="34" charset="-122"/>
                <a:cs typeface="Calibri" pitchFamily="34" charset="-120"/>
              </a:rPr>
              <a:t>Letters and tasks</a:t>
            </a:r>
            <a:endParaRPr lang="en-US" sz="1400" dirty="0"/>
          </a:p>
          <a:p>
            <a:pPr indent="0" marL="0">
              <a:spcAft>
                <a:spcPts val="200"/>
              </a:spcAft>
              <a:buNone/>
            </a:pPr>
            <a:r>
              <a:rPr lang="en-US" sz="1200" dirty="0">
                <a:solidFill>
                  <a:srgbClr val="616A75"/>
                </a:solidFill>
                <a:latin typeface="Calibri" pitchFamily="34" charset="0"/>
                <a:ea typeface="Calibri" pitchFamily="34" charset="-122"/>
                <a:cs typeface="Calibri" pitchFamily="34" charset="-120"/>
              </a:rPr>
              <a:t>Teacher recommendation letter requests and deadline-aware task plans.</a:t>
            </a:r>
            <a:endParaRPr lang="en-US" sz="1400" dirty="0"/>
          </a:p>
        </p:txBody>
      </p:sp>
      <p:sp>
        <p:nvSpPr>
          <p:cNvPr id="16" name="Shape 11"/>
          <p:cNvSpPr/>
          <p:nvPr/>
        </p:nvSpPr>
        <p:spPr>
          <a:xfrm>
            <a:off x="7498080" y="5074920"/>
            <a:ext cx="402336" cy="402336"/>
          </a:xfrm>
          <a:prstGeom prst="ellipse">
            <a:avLst/>
          </a:prstGeom>
          <a:solidFill>
            <a:srgbClr val="E3F0FF"/>
          </a:solidFill>
          <a:ln w="12700">
            <a:solidFill>
              <a:srgbClr val="E3F0FF"/>
            </a:solidFill>
            <a:prstDash val="solid"/>
          </a:ln>
        </p:spPr>
      </p:sp>
      <p:pic>
        <p:nvPicPr>
          <p:cNvPr id="17" name="Image 3" descr="preencoded.png">    </p:cNvPr>
          <p:cNvPicPr>
            <a:picLocks noChangeAspect="1"/>
          </p:cNvPicPr>
          <p:nvPr/>
        </p:nvPicPr>
        <p:blipFill>
          <a:blip r:embed="rId4"/>
          <a:stretch>
            <a:fillRect/>
          </a:stretch>
        </p:blipFill>
        <p:spPr>
          <a:xfrm>
            <a:off x="7589520" y="5166360"/>
            <a:ext cx="219456" cy="219456"/>
          </a:xfrm>
          <a:prstGeom prst="rect">
            <a:avLst/>
          </a:prstGeom>
        </p:spPr>
      </p:pic>
      <p:sp>
        <p:nvSpPr>
          <p:cNvPr id="18" name="Text 12"/>
          <p:cNvSpPr txBox="1"/>
          <p:nvPr/>
        </p:nvSpPr>
        <p:spPr>
          <a:xfrm>
            <a:off x="8065008" y="5038344"/>
            <a:ext cx="3547872" cy="841248"/>
          </a:xfrm>
          <a:prstGeom prst="rect">
            <a:avLst/>
          </a:prstGeom>
          <a:noFill/>
          <a:ln/>
        </p:spPr>
        <p:txBody>
          <a:bodyPr wrap="square" lIns="0" tIns="0" rIns="0" bIns="0" rtlCol="0" anchor="t"/>
          <a:lstStyle/>
          <a:p>
            <a:pPr indent="0" marL="0">
              <a:spcAft>
                <a:spcPts val="200"/>
              </a:spcAft>
              <a:buNone/>
            </a:pPr>
            <a:r>
              <a:rPr lang="en-US" sz="1400" b="1" dirty="0">
                <a:solidFill>
                  <a:srgbClr val="10171F"/>
                </a:solidFill>
                <a:latin typeface="Calibri" pitchFamily="34" charset="0"/>
                <a:ea typeface="Calibri" pitchFamily="34" charset="-122"/>
                <a:cs typeface="Calibri" pitchFamily="34" charset="-120"/>
              </a:rPr>
              <a:t>Requirement changes</a:t>
            </a:r>
            <a:endParaRPr lang="en-US" sz="1400" dirty="0"/>
          </a:p>
          <a:p>
            <a:pPr indent="0" marL="0">
              <a:spcAft>
                <a:spcPts val="200"/>
              </a:spcAft>
              <a:buNone/>
            </a:pPr>
            <a:r>
              <a:rPr lang="en-US" sz="1200" dirty="0">
                <a:solidFill>
                  <a:srgbClr val="616A75"/>
                </a:solidFill>
                <a:latin typeface="Calibri" pitchFamily="34" charset="0"/>
                <a:ea typeface="Calibri" pitchFamily="34" charset="-122"/>
                <a:cs typeface="Calibri" pitchFamily="34" charset="-120"/>
              </a:rPr>
              <a:t>When a university changes its entry rules, she sees the before, the after and who is affected.</a:t>
            </a:r>
            <a:endParaRPr lang="en-US" sz="1400" dirty="0"/>
          </a:p>
        </p:txBody>
      </p:sp>
      <p:sp>
        <p:nvSpPr>
          <p:cNvPr id="19" name="Shape 13"/>
          <p:cNvSpPr/>
          <p:nvPr/>
        </p:nvSpPr>
        <p:spPr>
          <a:xfrm>
            <a:off x="548640" y="1417320"/>
            <a:ext cx="6675120" cy="4382262"/>
          </a:xfrm>
          <a:prstGeom prst="roundRect">
            <a:avLst>
              <a:gd name="adj" fmla="val 1461"/>
            </a:avLst>
          </a:prstGeom>
          <a:solidFill>
            <a:srgbClr val="FFFFFF"/>
          </a:solidFill>
          <a:ln w="9525">
            <a:solidFill>
              <a:srgbClr val="DFE3E8"/>
            </a:solidFill>
            <a:prstDash val="solid"/>
          </a:ln>
          <a:effectLst>
            <a:outerShdw sx="100000" sy="100000" kx="0" ky="0" algn="bl" rotWithShape="0" blurRad="177800" dist="63500" dir="5400000">
              <a:srgbClr val="0C182A">
                <a:alpha val="16000"/>
              </a:srgbClr>
            </a:outerShdw>
          </a:effectLst>
        </p:spPr>
      </p:sp>
      <p:sp>
        <p:nvSpPr>
          <p:cNvPr id="20" name="Shape 14"/>
          <p:cNvSpPr/>
          <p:nvPr/>
        </p:nvSpPr>
        <p:spPr>
          <a:xfrm>
            <a:off x="658368" y="1485900"/>
            <a:ext cx="77724" cy="77724"/>
          </a:xfrm>
          <a:prstGeom prst="ellipse">
            <a:avLst/>
          </a:prstGeom>
          <a:solidFill>
            <a:srgbClr val="E5776E"/>
          </a:solidFill>
          <a:ln w="12700">
            <a:solidFill>
              <a:srgbClr val="E5776E"/>
            </a:solidFill>
            <a:prstDash val="solid"/>
          </a:ln>
        </p:spPr>
      </p:sp>
      <p:sp>
        <p:nvSpPr>
          <p:cNvPr id="21" name="Shape 15"/>
          <p:cNvSpPr/>
          <p:nvPr/>
        </p:nvSpPr>
        <p:spPr>
          <a:xfrm>
            <a:off x="777240" y="1485900"/>
            <a:ext cx="77724" cy="77724"/>
          </a:xfrm>
          <a:prstGeom prst="ellipse">
            <a:avLst/>
          </a:prstGeom>
          <a:solidFill>
            <a:srgbClr val="E8C35A"/>
          </a:solidFill>
          <a:ln w="12700">
            <a:solidFill>
              <a:srgbClr val="E8C35A"/>
            </a:solidFill>
            <a:prstDash val="solid"/>
          </a:ln>
        </p:spPr>
      </p:sp>
      <p:sp>
        <p:nvSpPr>
          <p:cNvPr id="22" name="Shape 16"/>
          <p:cNvSpPr/>
          <p:nvPr/>
        </p:nvSpPr>
        <p:spPr>
          <a:xfrm>
            <a:off x="896112" y="1485900"/>
            <a:ext cx="77724" cy="77724"/>
          </a:xfrm>
          <a:prstGeom prst="ellipse">
            <a:avLst/>
          </a:prstGeom>
          <a:solidFill>
            <a:srgbClr val="6CC08A"/>
          </a:solidFill>
          <a:ln w="12700">
            <a:solidFill>
              <a:srgbClr val="6CC08A"/>
            </a:solidFill>
            <a:prstDash val="solid"/>
          </a:ln>
        </p:spPr>
      </p:sp>
      <p:pic>
        <p:nvPicPr>
          <p:cNvPr id="23" name="Image 4" descr="/tmp/claude-0/-home-user-School/397e64b2-6645-56da-9972-e1722fae0ce6/scratchpad/sales/imgdeck/career-applications-en.jpg">    </p:cNvPr>
          <p:cNvPicPr>
            <a:picLocks noChangeAspect="1"/>
          </p:cNvPicPr>
          <p:nvPr/>
        </p:nvPicPr>
        <p:blipFill>
          <a:blip r:embed="rId5"/>
          <a:stretch>
            <a:fillRect/>
          </a:stretch>
        </p:blipFill>
        <p:spPr>
          <a:xfrm>
            <a:off x="585216" y="1636776"/>
            <a:ext cx="6601968" cy="4126230"/>
          </a:xfrm>
          <a:prstGeom prst="rect">
            <a:avLst/>
          </a:prstGeom>
        </p:spPr>
      </p:pic>
      <p:sp>
        <p:nvSpPr>
          <p:cNvPr id="24" name="Text 17"/>
          <p:cNvSpPr txBox="1"/>
          <p:nvPr/>
        </p:nvSpPr>
        <p:spPr>
          <a:xfrm>
            <a:off x="9814255" y="6473952"/>
            <a:ext cx="1828800" cy="201168"/>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Horizon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28600"/>
          </a:xfrm>
          <a:prstGeom prst="rect">
            <a:avLst/>
          </a:prstGeom>
          <a:noFill/>
          <a:ln/>
        </p:spPr>
        <p:txBody>
          <a:bodyPr wrap="square" lIns="0" tIns="0" rIns="0" bIns="0" rtlCol="0" anchor="ctr"/>
          <a:lstStyle/>
          <a:p>
            <a:pPr indent="0" marL="0">
              <a:buNone/>
            </a:pPr>
            <a:r>
              <a:rPr lang="en-US" sz="1100" b="1" spc="300" kern="0" dirty="0">
                <a:solidFill>
                  <a:srgbClr val="05437A"/>
                </a:solidFill>
                <a:latin typeface="Calibri" pitchFamily="34" charset="0"/>
                <a:ea typeface="Calibri" pitchFamily="34" charset="-122"/>
                <a:cs typeface="Calibri" pitchFamily="34" charset="-120"/>
              </a:rPr>
              <a:t>STUDENT AND PARENT</a:t>
            </a:r>
            <a:endParaRPr lang="en-US" sz="1100" dirty="0"/>
          </a:p>
        </p:txBody>
      </p:sp>
      <p:sp>
        <p:nvSpPr>
          <p:cNvPr id="3" name="Text 1"/>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000" b="1" dirty="0">
                <a:solidFill>
                  <a:srgbClr val="10171F"/>
                </a:solidFill>
                <a:latin typeface="Cambria" pitchFamily="34" charset="0"/>
                <a:ea typeface="Cambria" pitchFamily="34" charset="-122"/>
                <a:cs typeface="Cambria" pitchFamily="34" charset="-120"/>
              </a:rPr>
              <a:t>Students and families, served in their own language</a:t>
            </a:r>
            <a:endParaRPr lang="en-US" sz="3000" dirty="0"/>
          </a:p>
        </p:txBody>
      </p:sp>
      <p:sp>
        <p:nvSpPr>
          <p:cNvPr id="4" name="Shape 2"/>
          <p:cNvSpPr/>
          <p:nvPr/>
        </p:nvSpPr>
        <p:spPr>
          <a:xfrm>
            <a:off x="548640" y="1280160"/>
            <a:ext cx="5257800" cy="3496437"/>
          </a:xfrm>
          <a:prstGeom prst="roundRect">
            <a:avLst>
              <a:gd name="adj" fmla="val 1831"/>
            </a:avLst>
          </a:prstGeom>
          <a:solidFill>
            <a:srgbClr val="FFFFFF"/>
          </a:solidFill>
          <a:ln w="9525">
            <a:solidFill>
              <a:srgbClr val="DFE3E8"/>
            </a:solidFill>
            <a:prstDash val="solid"/>
          </a:ln>
          <a:effectLst>
            <a:outerShdw sx="100000" sy="100000" kx="0" ky="0" algn="bl" rotWithShape="0" blurRad="177800" dist="63500" dir="5400000">
              <a:srgbClr val="0C182A">
                <a:alpha val="16000"/>
              </a:srgbClr>
            </a:outerShdw>
          </a:effectLst>
        </p:spPr>
      </p:sp>
      <p:sp>
        <p:nvSpPr>
          <p:cNvPr id="5" name="Shape 3"/>
          <p:cNvSpPr/>
          <p:nvPr/>
        </p:nvSpPr>
        <p:spPr>
          <a:xfrm>
            <a:off x="658368" y="1348740"/>
            <a:ext cx="77724" cy="77724"/>
          </a:xfrm>
          <a:prstGeom prst="ellipse">
            <a:avLst/>
          </a:prstGeom>
          <a:solidFill>
            <a:srgbClr val="E5776E"/>
          </a:solidFill>
          <a:ln w="12700">
            <a:solidFill>
              <a:srgbClr val="E5776E"/>
            </a:solidFill>
            <a:prstDash val="solid"/>
          </a:ln>
        </p:spPr>
      </p:sp>
      <p:sp>
        <p:nvSpPr>
          <p:cNvPr id="6" name="Shape 4"/>
          <p:cNvSpPr/>
          <p:nvPr/>
        </p:nvSpPr>
        <p:spPr>
          <a:xfrm>
            <a:off x="777240" y="1348740"/>
            <a:ext cx="77724" cy="77724"/>
          </a:xfrm>
          <a:prstGeom prst="ellipse">
            <a:avLst/>
          </a:prstGeom>
          <a:solidFill>
            <a:srgbClr val="E8C35A"/>
          </a:solidFill>
          <a:ln w="12700">
            <a:solidFill>
              <a:srgbClr val="E8C35A"/>
            </a:solidFill>
            <a:prstDash val="solid"/>
          </a:ln>
        </p:spPr>
      </p:sp>
      <p:sp>
        <p:nvSpPr>
          <p:cNvPr id="7" name="Shape 5"/>
          <p:cNvSpPr/>
          <p:nvPr/>
        </p:nvSpPr>
        <p:spPr>
          <a:xfrm>
            <a:off x="896112" y="1348740"/>
            <a:ext cx="77724" cy="77724"/>
          </a:xfrm>
          <a:prstGeom prst="ellipse">
            <a:avLst/>
          </a:prstGeom>
          <a:solidFill>
            <a:srgbClr val="6CC08A"/>
          </a:solidFill>
          <a:ln w="12700">
            <a:solidFill>
              <a:srgbClr val="6CC08A"/>
            </a:solidFill>
            <a:prstDash val="solid"/>
          </a:ln>
        </p:spPr>
      </p:sp>
      <p:pic>
        <p:nvPicPr>
          <p:cNvPr id="8" name="Image 0" descr="/tmp/claude-0/-home-user-School/397e64b2-6645-56da-9972-e1722fae0ce6/scratchpad/sales/imgdeck/student-home-en.jpg">    </p:cNvPr>
          <p:cNvPicPr>
            <a:picLocks noChangeAspect="1"/>
          </p:cNvPicPr>
          <p:nvPr/>
        </p:nvPicPr>
        <p:blipFill>
          <a:blip r:embed="rId1"/>
          <a:stretch>
            <a:fillRect/>
          </a:stretch>
        </p:blipFill>
        <p:spPr>
          <a:xfrm>
            <a:off x="585216" y="1499616"/>
            <a:ext cx="5184648" cy="3240405"/>
          </a:xfrm>
          <a:prstGeom prst="rect">
            <a:avLst/>
          </a:prstGeom>
        </p:spPr>
      </p:pic>
      <p:sp>
        <p:nvSpPr>
          <p:cNvPr id="9" name="Shape 6"/>
          <p:cNvSpPr/>
          <p:nvPr/>
        </p:nvSpPr>
        <p:spPr>
          <a:xfrm>
            <a:off x="6382512" y="1280160"/>
            <a:ext cx="5257800" cy="3496437"/>
          </a:xfrm>
          <a:prstGeom prst="roundRect">
            <a:avLst>
              <a:gd name="adj" fmla="val 1831"/>
            </a:avLst>
          </a:prstGeom>
          <a:solidFill>
            <a:srgbClr val="FFFFFF"/>
          </a:solidFill>
          <a:ln w="9525">
            <a:solidFill>
              <a:srgbClr val="DFE3E8"/>
            </a:solidFill>
            <a:prstDash val="solid"/>
          </a:ln>
          <a:effectLst>
            <a:outerShdw sx="100000" sy="100000" kx="0" ky="0" algn="bl" rotWithShape="0" blurRad="177800" dist="63500" dir="5400000">
              <a:srgbClr val="0C182A">
                <a:alpha val="16000"/>
              </a:srgbClr>
            </a:outerShdw>
          </a:effectLst>
        </p:spPr>
      </p:sp>
      <p:sp>
        <p:nvSpPr>
          <p:cNvPr id="10" name="Shape 7"/>
          <p:cNvSpPr/>
          <p:nvPr/>
        </p:nvSpPr>
        <p:spPr>
          <a:xfrm>
            <a:off x="6492240" y="1348740"/>
            <a:ext cx="77724" cy="77724"/>
          </a:xfrm>
          <a:prstGeom prst="ellipse">
            <a:avLst/>
          </a:prstGeom>
          <a:solidFill>
            <a:srgbClr val="E5776E"/>
          </a:solidFill>
          <a:ln w="12700">
            <a:solidFill>
              <a:srgbClr val="E5776E"/>
            </a:solidFill>
            <a:prstDash val="solid"/>
          </a:ln>
        </p:spPr>
      </p:sp>
      <p:sp>
        <p:nvSpPr>
          <p:cNvPr id="11" name="Shape 8"/>
          <p:cNvSpPr/>
          <p:nvPr/>
        </p:nvSpPr>
        <p:spPr>
          <a:xfrm>
            <a:off x="6611112" y="1348740"/>
            <a:ext cx="77724" cy="77724"/>
          </a:xfrm>
          <a:prstGeom prst="ellipse">
            <a:avLst/>
          </a:prstGeom>
          <a:solidFill>
            <a:srgbClr val="E8C35A"/>
          </a:solidFill>
          <a:ln w="12700">
            <a:solidFill>
              <a:srgbClr val="E8C35A"/>
            </a:solidFill>
            <a:prstDash val="solid"/>
          </a:ln>
        </p:spPr>
      </p:sp>
      <p:sp>
        <p:nvSpPr>
          <p:cNvPr id="12" name="Shape 9"/>
          <p:cNvSpPr/>
          <p:nvPr/>
        </p:nvSpPr>
        <p:spPr>
          <a:xfrm>
            <a:off x="6729984" y="1348740"/>
            <a:ext cx="77724" cy="77724"/>
          </a:xfrm>
          <a:prstGeom prst="ellipse">
            <a:avLst/>
          </a:prstGeom>
          <a:solidFill>
            <a:srgbClr val="6CC08A"/>
          </a:solidFill>
          <a:ln w="12700">
            <a:solidFill>
              <a:srgbClr val="6CC08A"/>
            </a:solidFill>
            <a:prstDash val="solid"/>
          </a:ln>
        </p:spPr>
      </p:sp>
      <p:pic>
        <p:nvPicPr>
          <p:cNvPr id="13" name="Image 1" descr="/tmp/claude-0/-home-user-School/397e64b2-6645-56da-9972-e1722fae0ce6/scratchpad/sales/imgdeck/parent-home-ar.jpg">    </p:cNvPr>
          <p:cNvPicPr>
            <a:picLocks noChangeAspect="1"/>
          </p:cNvPicPr>
          <p:nvPr/>
        </p:nvPicPr>
        <p:blipFill>
          <a:blip r:embed="rId2"/>
          <a:stretch>
            <a:fillRect/>
          </a:stretch>
        </p:blipFill>
        <p:spPr>
          <a:xfrm>
            <a:off x="6419088" y="1499616"/>
            <a:ext cx="5184648" cy="3240405"/>
          </a:xfrm>
          <a:prstGeom prst="rect">
            <a:avLst/>
          </a:prstGeom>
        </p:spPr>
      </p:pic>
      <p:sp>
        <p:nvSpPr>
          <p:cNvPr id="14" name="Shape 10"/>
          <p:cNvSpPr/>
          <p:nvPr/>
        </p:nvSpPr>
        <p:spPr>
          <a:xfrm>
            <a:off x="548640" y="5029200"/>
            <a:ext cx="566928" cy="566928"/>
          </a:xfrm>
          <a:prstGeom prst="ellipse">
            <a:avLst/>
          </a:prstGeom>
          <a:solidFill>
            <a:srgbClr val="05437A"/>
          </a:solidFill>
          <a:ln w="12700">
            <a:solidFill>
              <a:srgbClr val="05437A"/>
            </a:solidFill>
            <a:prstDash val="solid"/>
          </a:ln>
        </p:spPr>
      </p:sp>
      <p:sp>
        <p:nvSpPr>
          <p:cNvPr id="15" name="Text 11"/>
          <p:cNvSpPr txBox="1"/>
          <p:nvPr/>
        </p:nvSpPr>
        <p:spPr>
          <a:xfrm>
            <a:off x="548640" y="502920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AN</a:t>
            </a:r>
            <a:endParaRPr lang="en-US" sz="1500" dirty="0"/>
          </a:p>
        </p:txBody>
      </p:sp>
      <p:sp>
        <p:nvSpPr>
          <p:cNvPr id="16" name="Text 12"/>
          <p:cNvSpPr txBox="1"/>
          <p:nvPr/>
        </p:nvSpPr>
        <p:spPr>
          <a:xfrm>
            <a:off x="1261872" y="5010912"/>
            <a:ext cx="3291840" cy="603504"/>
          </a:xfrm>
          <a:prstGeom prst="rect">
            <a:avLst/>
          </a:prstGeom>
          <a:noFill/>
          <a:ln/>
        </p:spPr>
        <p:txBody>
          <a:bodyPr wrap="square" lIns="0" tIns="0" rIns="0" bIns="0" rtlCol="0" anchor="ctr"/>
          <a:lstStyle/>
          <a:p>
            <a:pPr indent="0" marL="0">
              <a:buNone/>
            </a:pPr>
            <a:r>
              <a:rPr lang="en-US" sz="1500" b="1" dirty="0">
                <a:solidFill>
                  <a:srgbClr val="10171F"/>
                </a:solidFill>
                <a:latin typeface="Calibri" pitchFamily="34" charset="0"/>
                <a:ea typeface="Calibri" pitchFamily="34" charset="-122"/>
                <a:cs typeface="Calibri" pitchFamily="34" charset="-120"/>
              </a:rPr>
              <a:t>Adam Nasser</a:t>
            </a:r>
            <a:endParaRPr lang="en-US" sz="1500" dirty="0"/>
          </a:p>
          <a:p>
            <a:pPr indent="0" marL="0">
              <a:buNone/>
            </a:pPr>
            <a:r>
              <a:rPr lang="en-US" sz="1200" dirty="0">
                <a:solidFill>
                  <a:srgbClr val="616A75"/>
                </a:solidFill>
                <a:latin typeface="Calibri" pitchFamily="34" charset="0"/>
                <a:ea typeface="Calibri" pitchFamily="34" charset="-122"/>
                <a:cs typeface="Calibri" pitchFamily="34" charset="-120"/>
              </a:rPr>
              <a:t>Student, Grade 9</a:t>
            </a:r>
            <a:endParaRPr lang="en-US" sz="1500" dirty="0"/>
          </a:p>
        </p:txBody>
      </p:sp>
      <p:sp>
        <p:nvSpPr>
          <p:cNvPr id="17" name="Text 13"/>
          <p:cNvSpPr txBox="1"/>
          <p:nvPr/>
        </p:nvSpPr>
        <p:spPr>
          <a:xfrm>
            <a:off x="548640" y="5687568"/>
            <a:ext cx="5257800" cy="640080"/>
          </a:xfrm>
          <a:prstGeom prst="rect">
            <a:avLst/>
          </a:prstGeom>
          <a:noFill/>
          <a:ln/>
        </p:spPr>
        <p:txBody>
          <a:bodyPr wrap="square" lIns="0" tIns="0" rIns="0" bIns="0" rtlCol="0" anchor="t"/>
          <a:lstStyle/>
          <a:p>
            <a:pPr indent="0" marL="0">
              <a:buNone/>
            </a:pPr>
            <a:r>
              <a:rPr lang="en-US" sz="1250" dirty="0">
                <a:solidFill>
                  <a:srgbClr val="616A75"/>
                </a:solidFill>
                <a:latin typeface="Calibri" pitchFamily="34" charset="0"/>
                <a:ea typeface="Calibri" pitchFamily="34" charset="-122"/>
                <a:cs typeface="Calibri" pitchFamily="34" charset="-120"/>
              </a:rPr>
              <a:t>Requests, meetings, tasks, the career assessment and his university plan. Always sees the status of each request, step by step.</a:t>
            </a:r>
            <a:endParaRPr lang="en-US" sz="1250" dirty="0"/>
          </a:p>
        </p:txBody>
      </p:sp>
      <p:sp>
        <p:nvSpPr>
          <p:cNvPr id="18" name="Shape 14"/>
          <p:cNvSpPr/>
          <p:nvPr/>
        </p:nvSpPr>
        <p:spPr>
          <a:xfrm>
            <a:off x="6382512" y="5029200"/>
            <a:ext cx="566928" cy="566928"/>
          </a:xfrm>
          <a:prstGeom prst="ellipse">
            <a:avLst/>
          </a:prstGeom>
          <a:solidFill>
            <a:srgbClr val="05437A"/>
          </a:solidFill>
          <a:ln w="12700">
            <a:solidFill>
              <a:srgbClr val="05437A"/>
            </a:solidFill>
            <a:prstDash val="solid"/>
          </a:ln>
        </p:spPr>
      </p:sp>
      <p:sp>
        <p:nvSpPr>
          <p:cNvPr id="19" name="Text 15"/>
          <p:cNvSpPr txBox="1"/>
          <p:nvPr/>
        </p:nvSpPr>
        <p:spPr>
          <a:xfrm>
            <a:off x="6382512" y="502920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RN</a:t>
            </a:r>
            <a:endParaRPr lang="en-US" sz="1500" dirty="0"/>
          </a:p>
        </p:txBody>
      </p:sp>
      <p:sp>
        <p:nvSpPr>
          <p:cNvPr id="20" name="Text 16"/>
          <p:cNvSpPr txBox="1"/>
          <p:nvPr/>
        </p:nvSpPr>
        <p:spPr>
          <a:xfrm>
            <a:off x="7095744" y="5010912"/>
            <a:ext cx="3291840" cy="603504"/>
          </a:xfrm>
          <a:prstGeom prst="rect">
            <a:avLst/>
          </a:prstGeom>
          <a:noFill/>
          <a:ln/>
        </p:spPr>
        <p:txBody>
          <a:bodyPr wrap="square" lIns="0" tIns="0" rIns="0" bIns="0" rtlCol="0" anchor="ctr"/>
          <a:lstStyle/>
          <a:p>
            <a:pPr indent="0" marL="0">
              <a:buNone/>
            </a:pPr>
            <a:r>
              <a:rPr lang="en-US" sz="1500" b="1" dirty="0">
                <a:solidFill>
                  <a:srgbClr val="10171F"/>
                </a:solidFill>
                <a:latin typeface="Calibri" pitchFamily="34" charset="0"/>
                <a:ea typeface="Calibri" pitchFamily="34" charset="-122"/>
                <a:cs typeface="Calibri" pitchFamily="34" charset="-120"/>
              </a:rPr>
              <a:t>Rania Nasser</a:t>
            </a:r>
            <a:endParaRPr lang="en-US" sz="1500" dirty="0"/>
          </a:p>
          <a:p>
            <a:pPr indent="0" marL="0">
              <a:buNone/>
            </a:pPr>
            <a:r>
              <a:rPr lang="en-US" sz="1200" dirty="0">
                <a:solidFill>
                  <a:srgbClr val="616A75"/>
                </a:solidFill>
                <a:latin typeface="Calibri" pitchFamily="34" charset="0"/>
                <a:ea typeface="Calibri" pitchFamily="34" charset="-122"/>
                <a:cs typeface="Calibri" pitchFamily="34" charset="-120"/>
              </a:rPr>
              <a:t>Parent of Adam and Yara, in Arabic</a:t>
            </a:r>
            <a:endParaRPr lang="en-US" sz="1500" dirty="0"/>
          </a:p>
        </p:txBody>
      </p:sp>
      <p:sp>
        <p:nvSpPr>
          <p:cNvPr id="21" name="Text 17"/>
          <p:cNvSpPr txBox="1"/>
          <p:nvPr/>
        </p:nvSpPr>
        <p:spPr>
          <a:xfrm>
            <a:off x="6382512" y="5687568"/>
            <a:ext cx="5257800" cy="640080"/>
          </a:xfrm>
          <a:prstGeom prst="rect">
            <a:avLst/>
          </a:prstGeom>
          <a:noFill/>
          <a:ln/>
        </p:spPr>
        <p:txBody>
          <a:bodyPr wrap="square" lIns="0" tIns="0" rIns="0" bIns="0" rtlCol="0" anchor="t"/>
          <a:lstStyle/>
          <a:p>
            <a:pPr indent="0" marL="0">
              <a:buNone/>
            </a:pPr>
            <a:r>
              <a:rPr lang="en-US" sz="1250" dirty="0">
                <a:solidFill>
                  <a:srgbClr val="616A75"/>
                </a:solidFill>
                <a:latin typeface="Calibri" pitchFamily="34" charset="0"/>
                <a:ea typeface="Calibri" pitchFamily="34" charset="-122"/>
                <a:cs typeface="Calibri" pitchFamily="34" charset="-120"/>
              </a:rPr>
              <a:t>Both children in one account: approvals, letters, meetings, trips and exams. Joins with the school's family code.</a:t>
            </a:r>
            <a:endParaRPr lang="en-US" sz="1250" dirty="0"/>
          </a:p>
        </p:txBody>
      </p:sp>
      <p:sp>
        <p:nvSpPr>
          <p:cNvPr id="22" name="Text 18"/>
          <p:cNvSpPr txBox="1"/>
          <p:nvPr/>
        </p:nvSpPr>
        <p:spPr>
          <a:xfrm>
            <a:off x="9814255" y="6473952"/>
            <a:ext cx="1828800" cy="201168"/>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Horizon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182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28600"/>
          </a:xfrm>
          <a:prstGeom prst="rect">
            <a:avLst/>
          </a:prstGeom>
          <a:noFill/>
          <a:ln/>
        </p:spPr>
        <p:txBody>
          <a:bodyPr wrap="square" lIns="0" tIns="0" rIns="0" bIns="0" rtlCol="0" anchor="ctr"/>
          <a:lstStyle/>
          <a:p>
            <a:pPr indent="0" marL="0">
              <a:buNone/>
            </a:pPr>
            <a:r>
              <a:rPr lang="en-US" sz="1100" b="1" spc="300" kern="0" dirty="0">
                <a:solidFill>
                  <a:srgbClr val="C79E41"/>
                </a:solidFill>
                <a:latin typeface="Calibri" pitchFamily="34" charset="0"/>
                <a:ea typeface="Calibri" pitchFamily="34" charset="-122"/>
                <a:cs typeface="Calibri" pitchFamily="34" charset="-120"/>
              </a:rPr>
              <a:t>TRUST BY DESIGN</a:t>
            </a:r>
            <a:endParaRPr lang="en-US" sz="1100" dirty="0"/>
          </a:p>
        </p:txBody>
      </p:sp>
      <p:sp>
        <p:nvSpPr>
          <p:cNvPr id="3" name="Text 1"/>
          <p:cNvSpPr txBox="1"/>
          <p:nvPr/>
        </p:nvSpPr>
        <p:spPr>
          <a:xfrm>
            <a:off x="548640" y="411480"/>
            <a:ext cx="10972800" cy="7315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Safeguarding and privacy are enforced by the system</a:t>
            </a:r>
            <a:endParaRPr lang="en-US" sz="3000" dirty="0"/>
          </a:p>
        </p:txBody>
      </p:sp>
      <p:sp>
        <p:nvSpPr>
          <p:cNvPr id="4" name="Shape 2"/>
          <p:cNvSpPr/>
          <p:nvPr/>
        </p:nvSpPr>
        <p:spPr>
          <a:xfrm>
            <a:off x="548640" y="1463040"/>
            <a:ext cx="3566160" cy="2148840"/>
          </a:xfrm>
          <a:prstGeom prst="roundRect">
            <a:avLst>
              <a:gd name="adj" fmla="val 4255"/>
            </a:avLst>
          </a:prstGeom>
          <a:solidFill>
            <a:srgbClr val="192941"/>
          </a:solidFill>
          <a:ln w="9525">
            <a:solidFill>
              <a:srgbClr val="2E4466"/>
            </a:solidFill>
            <a:prstDash val="solid"/>
          </a:ln>
        </p:spPr>
      </p:sp>
      <p:sp>
        <p:nvSpPr>
          <p:cNvPr id="5" name="Shape 3"/>
          <p:cNvSpPr/>
          <p:nvPr/>
        </p:nvSpPr>
        <p:spPr>
          <a:xfrm>
            <a:off x="804672" y="1719072"/>
            <a:ext cx="512064" cy="512064"/>
          </a:xfrm>
          <a:prstGeom prst="ellipse">
            <a:avLst/>
          </a:prstGeom>
          <a:solidFill>
            <a:srgbClr val="C79E41"/>
          </a:solidFill>
          <a:ln w="12700">
            <a:solidFill>
              <a:srgbClr val="C79E41"/>
            </a:solidFill>
            <a:prstDash val="solid"/>
          </a:ln>
        </p:spPr>
      </p:sp>
      <p:pic>
        <p:nvPicPr>
          <p:cNvPr id="6" name="Image 0" descr="preencoded.png">    </p:cNvPr>
          <p:cNvPicPr>
            <a:picLocks noChangeAspect="1"/>
          </p:cNvPicPr>
          <p:nvPr/>
        </p:nvPicPr>
        <p:blipFill>
          <a:blip r:embed="rId1"/>
          <a:stretch>
            <a:fillRect/>
          </a:stretch>
        </p:blipFill>
        <p:spPr>
          <a:xfrm>
            <a:off x="932688" y="1847088"/>
            <a:ext cx="256032" cy="256032"/>
          </a:xfrm>
          <a:prstGeom prst="rect">
            <a:avLst/>
          </a:prstGeom>
        </p:spPr>
      </p:pic>
      <p:sp>
        <p:nvSpPr>
          <p:cNvPr id="7" name="Text 4"/>
          <p:cNvSpPr txBox="1"/>
          <p:nvPr/>
        </p:nvSpPr>
        <p:spPr>
          <a:xfrm>
            <a:off x="1463040" y="1719072"/>
            <a:ext cx="2468880" cy="51206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One access module</a:t>
            </a:r>
            <a:endParaRPr lang="en-US" sz="1500" dirty="0"/>
          </a:p>
        </p:txBody>
      </p:sp>
      <p:sp>
        <p:nvSpPr>
          <p:cNvPr id="8" name="Text 5"/>
          <p:cNvSpPr txBox="1"/>
          <p:nvPr/>
        </p:nvSpPr>
        <p:spPr>
          <a:xfrm>
            <a:off x="804672" y="2377440"/>
            <a:ext cx="3108960" cy="1143000"/>
          </a:xfrm>
          <a:prstGeom prst="rect">
            <a:avLst/>
          </a:prstGeom>
          <a:noFill/>
          <a:ln/>
        </p:spPr>
        <p:txBody>
          <a:bodyPr wrap="square" lIns="0" tIns="0" rIns="0" bIns="0" rtlCol="0" anchor="t"/>
          <a:lstStyle/>
          <a:p>
            <a:pPr indent="0" marL="0">
              <a:buNone/>
            </a:pPr>
            <a:r>
              <a:rPr lang="en-US" sz="1200" dirty="0">
                <a:solidFill>
                  <a:srgbClr val="E3E8EE"/>
                </a:solidFill>
                <a:latin typeface="Calibri" pitchFamily="34" charset="0"/>
                <a:ea typeface="Calibri" pitchFamily="34" charset="-122"/>
                <a:cs typeface="Calibri" pitchFamily="34" charset="-120"/>
              </a:rPr>
              <a:t>A single module decides who may see wellbeing and safeguarding cases. They never appear in search, dashboards, analytics or portals unless it allows it.</a:t>
            </a:r>
            <a:endParaRPr lang="en-US" sz="1200" dirty="0"/>
          </a:p>
        </p:txBody>
      </p:sp>
      <p:sp>
        <p:nvSpPr>
          <p:cNvPr id="9" name="Shape 6"/>
          <p:cNvSpPr/>
          <p:nvPr/>
        </p:nvSpPr>
        <p:spPr>
          <a:xfrm>
            <a:off x="4315968" y="1463040"/>
            <a:ext cx="3566160" cy="2148840"/>
          </a:xfrm>
          <a:prstGeom prst="roundRect">
            <a:avLst>
              <a:gd name="adj" fmla="val 4255"/>
            </a:avLst>
          </a:prstGeom>
          <a:solidFill>
            <a:srgbClr val="192941"/>
          </a:solidFill>
          <a:ln w="9525">
            <a:solidFill>
              <a:srgbClr val="2E4466"/>
            </a:solidFill>
            <a:prstDash val="solid"/>
          </a:ln>
        </p:spPr>
      </p:sp>
      <p:sp>
        <p:nvSpPr>
          <p:cNvPr id="10" name="Shape 7"/>
          <p:cNvSpPr/>
          <p:nvPr/>
        </p:nvSpPr>
        <p:spPr>
          <a:xfrm>
            <a:off x="4572000" y="1719072"/>
            <a:ext cx="512064" cy="512064"/>
          </a:xfrm>
          <a:prstGeom prst="ellipse">
            <a:avLst/>
          </a:prstGeom>
          <a:solidFill>
            <a:srgbClr val="C79E41"/>
          </a:solidFill>
          <a:ln w="12700">
            <a:solidFill>
              <a:srgbClr val="C79E41"/>
            </a:solidFill>
            <a:prstDash val="solid"/>
          </a:ln>
        </p:spPr>
      </p:sp>
      <p:pic>
        <p:nvPicPr>
          <p:cNvPr id="11" name="Image 1" descr="preencoded.png">    </p:cNvPr>
          <p:cNvPicPr>
            <a:picLocks noChangeAspect="1"/>
          </p:cNvPicPr>
          <p:nvPr/>
        </p:nvPicPr>
        <p:blipFill>
          <a:blip r:embed="rId2"/>
          <a:stretch>
            <a:fillRect/>
          </a:stretch>
        </p:blipFill>
        <p:spPr>
          <a:xfrm>
            <a:off x="4700016" y="1847088"/>
            <a:ext cx="256032" cy="256032"/>
          </a:xfrm>
          <a:prstGeom prst="rect">
            <a:avLst/>
          </a:prstGeom>
        </p:spPr>
      </p:pic>
      <p:sp>
        <p:nvSpPr>
          <p:cNvPr id="12" name="Text 8"/>
          <p:cNvSpPr txBox="1"/>
          <p:nvPr/>
        </p:nvSpPr>
        <p:spPr>
          <a:xfrm>
            <a:off x="5230368" y="1719072"/>
            <a:ext cx="2468880" cy="51206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Every view audited</a:t>
            </a:r>
            <a:endParaRPr lang="en-US" sz="1500" dirty="0"/>
          </a:p>
        </p:txBody>
      </p:sp>
      <p:sp>
        <p:nvSpPr>
          <p:cNvPr id="13" name="Text 9"/>
          <p:cNvSpPr txBox="1"/>
          <p:nvPr/>
        </p:nvSpPr>
        <p:spPr>
          <a:xfrm>
            <a:off x="4572000" y="2377440"/>
            <a:ext cx="3108960" cy="1143000"/>
          </a:xfrm>
          <a:prstGeom prst="rect">
            <a:avLst/>
          </a:prstGeom>
          <a:noFill/>
          <a:ln/>
        </p:spPr>
        <p:txBody>
          <a:bodyPr wrap="square" lIns="0" tIns="0" rIns="0" bIns="0" rtlCol="0" anchor="t"/>
          <a:lstStyle/>
          <a:p>
            <a:pPr indent="0" marL="0">
              <a:buNone/>
            </a:pPr>
            <a:r>
              <a:rPr lang="en-US" sz="1200" dirty="0">
                <a:solidFill>
                  <a:srgbClr val="E3E8EE"/>
                </a:solidFill>
                <a:latin typeface="Calibri" pitchFamily="34" charset="0"/>
                <a:ea typeface="Calibri" pitchFamily="34" charset="-122"/>
                <a:cs typeface="Calibri" pitchFamily="34" charset="-120"/>
              </a:rPr>
              <a:t>Opening a sensitive record writes an audit event. Audit entries cannot be edited or deleted from the app.</a:t>
            </a:r>
            <a:endParaRPr lang="en-US" sz="1200" dirty="0"/>
          </a:p>
        </p:txBody>
      </p:sp>
      <p:sp>
        <p:nvSpPr>
          <p:cNvPr id="14" name="Shape 10"/>
          <p:cNvSpPr/>
          <p:nvPr/>
        </p:nvSpPr>
        <p:spPr>
          <a:xfrm>
            <a:off x="8083296" y="1463040"/>
            <a:ext cx="3566160" cy="2148840"/>
          </a:xfrm>
          <a:prstGeom prst="roundRect">
            <a:avLst>
              <a:gd name="adj" fmla="val 4255"/>
            </a:avLst>
          </a:prstGeom>
          <a:solidFill>
            <a:srgbClr val="192941"/>
          </a:solidFill>
          <a:ln w="9525">
            <a:solidFill>
              <a:srgbClr val="2E4466"/>
            </a:solidFill>
            <a:prstDash val="solid"/>
          </a:ln>
        </p:spPr>
      </p:sp>
      <p:sp>
        <p:nvSpPr>
          <p:cNvPr id="15" name="Shape 11"/>
          <p:cNvSpPr/>
          <p:nvPr/>
        </p:nvSpPr>
        <p:spPr>
          <a:xfrm>
            <a:off x="8339328" y="1719072"/>
            <a:ext cx="512064" cy="512064"/>
          </a:xfrm>
          <a:prstGeom prst="ellipse">
            <a:avLst/>
          </a:prstGeom>
          <a:solidFill>
            <a:srgbClr val="C79E41"/>
          </a:solidFill>
          <a:ln w="12700">
            <a:solidFill>
              <a:srgbClr val="C79E41"/>
            </a:solidFill>
            <a:prstDash val="solid"/>
          </a:ln>
        </p:spPr>
      </p:sp>
      <p:pic>
        <p:nvPicPr>
          <p:cNvPr id="16" name="Image 2" descr="preencoded.png">    </p:cNvPr>
          <p:cNvPicPr>
            <a:picLocks noChangeAspect="1"/>
          </p:cNvPicPr>
          <p:nvPr/>
        </p:nvPicPr>
        <p:blipFill>
          <a:blip r:embed="rId3"/>
          <a:stretch>
            <a:fillRect/>
          </a:stretch>
        </p:blipFill>
        <p:spPr>
          <a:xfrm>
            <a:off x="8467344" y="1847088"/>
            <a:ext cx="256032" cy="256032"/>
          </a:xfrm>
          <a:prstGeom prst="rect">
            <a:avLst/>
          </a:prstGeom>
        </p:spPr>
      </p:pic>
      <p:sp>
        <p:nvSpPr>
          <p:cNvPr id="17" name="Text 12"/>
          <p:cNvSpPr txBox="1"/>
          <p:nvPr/>
        </p:nvSpPr>
        <p:spPr>
          <a:xfrm>
            <a:off x="8997696" y="1719072"/>
            <a:ext cx="2468880" cy="51206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Families never told automatically</a:t>
            </a:r>
            <a:endParaRPr lang="en-US" sz="1500" dirty="0"/>
          </a:p>
        </p:txBody>
      </p:sp>
      <p:sp>
        <p:nvSpPr>
          <p:cNvPr id="18" name="Text 13"/>
          <p:cNvSpPr txBox="1"/>
          <p:nvPr/>
        </p:nvSpPr>
        <p:spPr>
          <a:xfrm>
            <a:off x="8339328" y="2377440"/>
            <a:ext cx="3108960" cy="1143000"/>
          </a:xfrm>
          <a:prstGeom prst="rect">
            <a:avLst/>
          </a:prstGeom>
          <a:noFill/>
          <a:ln/>
        </p:spPr>
        <p:txBody>
          <a:bodyPr wrap="square" lIns="0" tIns="0" rIns="0" bIns="0" rtlCol="0" anchor="t"/>
          <a:lstStyle/>
          <a:p>
            <a:pPr indent="0" marL="0">
              <a:buNone/>
            </a:pPr>
            <a:r>
              <a:rPr lang="en-US" sz="1200" dirty="0">
                <a:solidFill>
                  <a:srgbClr val="E3E8EE"/>
                </a:solidFill>
                <a:latin typeface="Calibri" pitchFamily="34" charset="0"/>
                <a:ea typeface="Calibri" pitchFamily="34" charset="-122"/>
                <a:cs typeface="Calibri" pitchFamily="34" charset="-120"/>
              </a:rPr>
              <a:t>On wellbeing and safeguarding cases, notifying parents is a staff decision with a recorded reason.</a:t>
            </a:r>
            <a:endParaRPr lang="en-US" sz="1200" dirty="0"/>
          </a:p>
        </p:txBody>
      </p:sp>
      <p:sp>
        <p:nvSpPr>
          <p:cNvPr id="19" name="Shape 14"/>
          <p:cNvSpPr/>
          <p:nvPr/>
        </p:nvSpPr>
        <p:spPr>
          <a:xfrm>
            <a:off x="548640" y="3840480"/>
            <a:ext cx="3566160" cy="2148840"/>
          </a:xfrm>
          <a:prstGeom prst="roundRect">
            <a:avLst>
              <a:gd name="adj" fmla="val 4255"/>
            </a:avLst>
          </a:prstGeom>
          <a:solidFill>
            <a:srgbClr val="192941"/>
          </a:solidFill>
          <a:ln w="9525">
            <a:solidFill>
              <a:srgbClr val="2E4466"/>
            </a:solidFill>
            <a:prstDash val="solid"/>
          </a:ln>
        </p:spPr>
      </p:sp>
      <p:sp>
        <p:nvSpPr>
          <p:cNvPr id="20" name="Shape 15"/>
          <p:cNvSpPr/>
          <p:nvPr/>
        </p:nvSpPr>
        <p:spPr>
          <a:xfrm>
            <a:off x="804672" y="4096512"/>
            <a:ext cx="512064" cy="512064"/>
          </a:xfrm>
          <a:prstGeom prst="ellipse">
            <a:avLst/>
          </a:prstGeom>
          <a:solidFill>
            <a:srgbClr val="C79E41"/>
          </a:solidFill>
          <a:ln w="12700">
            <a:solidFill>
              <a:srgbClr val="C79E41"/>
            </a:solidFill>
            <a:prstDash val="solid"/>
          </a:ln>
        </p:spPr>
      </p:sp>
      <p:pic>
        <p:nvPicPr>
          <p:cNvPr id="21" name="Image 3" descr="preencoded.png">    </p:cNvPr>
          <p:cNvPicPr>
            <a:picLocks noChangeAspect="1"/>
          </p:cNvPicPr>
          <p:nvPr/>
        </p:nvPicPr>
        <p:blipFill>
          <a:blip r:embed="rId4"/>
          <a:stretch>
            <a:fillRect/>
          </a:stretch>
        </p:blipFill>
        <p:spPr>
          <a:xfrm>
            <a:off x="932688" y="4224528"/>
            <a:ext cx="256032" cy="256032"/>
          </a:xfrm>
          <a:prstGeom prst="rect">
            <a:avLst/>
          </a:prstGeom>
        </p:spPr>
      </p:pic>
      <p:sp>
        <p:nvSpPr>
          <p:cNvPr id="22" name="Text 16"/>
          <p:cNvSpPr txBox="1"/>
          <p:nvPr/>
        </p:nvSpPr>
        <p:spPr>
          <a:xfrm>
            <a:off x="1463040" y="4096512"/>
            <a:ext cx="2468880" cy="51206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AI drafts, people decide</a:t>
            </a:r>
            <a:endParaRPr lang="en-US" sz="1500" dirty="0"/>
          </a:p>
        </p:txBody>
      </p:sp>
      <p:sp>
        <p:nvSpPr>
          <p:cNvPr id="23" name="Text 17"/>
          <p:cNvSpPr txBox="1"/>
          <p:nvPr/>
        </p:nvSpPr>
        <p:spPr>
          <a:xfrm>
            <a:off x="804672" y="4754880"/>
            <a:ext cx="3108960" cy="1143000"/>
          </a:xfrm>
          <a:prstGeom prst="rect">
            <a:avLst/>
          </a:prstGeom>
          <a:noFill/>
          <a:ln/>
        </p:spPr>
        <p:txBody>
          <a:bodyPr wrap="square" lIns="0" tIns="0" rIns="0" bIns="0" rtlCol="0" anchor="t"/>
          <a:lstStyle/>
          <a:p>
            <a:pPr indent="0" marL="0">
              <a:buNone/>
            </a:pPr>
            <a:r>
              <a:rPr lang="en-US" sz="1200" dirty="0">
                <a:solidFill>
                  <a:srgbClr val="E3E8EE"/>
                </a:solidFill>
                <a:latin typeface="Calibri" pitchFamily="34" charset="0"/>
                <a:ea typeface="Calibri" pitchFamily="34" charset="-122"/>
                <a:cs typeface="Calibri" pitchFamily="34" charset="-120"/>
              </a:rPr>
              <a:t>Sensitive data is never sent to AI unless the school enables it. AI output on sensitive matters is always a draft for human approval.</a:t>
            </a:r>
            <a:endParaRPr lang="en-US" sz="1200" dirty="0"/>
          </a:p>
        </p:txBody>
      </p:sp>
      <p:sp>
        <p:nvSpPr>
          <p:cNvPr id="24" name="Shape 18"/>
          <p:cNvSpPr/>
          <p:nvPr/>
        </p:nvSpPr>
        <p:spPr>
          <a:xfrm>
            <a:off x="4315968" y="3840480"/>
            <a:ext cx="3566160" cy="2148840"/>
          </a:xfrm>
          <a:prstGeom prst="roundRect">
            <a:avLst>
              <a:gd name="adj" fmla="val 4255"/>
            </a:avLst>
          </a:prstGeom>
          <a:solidFill>
            <a:srgbClr val="192941"/>
          </a:solidFill>
          <a:ln w="9525">
            <a:solidFill>
              <a:srgbClr val="2E4466"/>
            </a:solidFill>
            <a:prstDash val="solid"/>
          </a:ln>
        </p:spPr>
      </p:sp>
      <p:sp>
        <p:nvSpPr>
          <p:cNvPr id="25" name="Shape 19"/>
          <p:cNvSpPr/>
          <p:nvPr/>
        </p:nvSpPr>
        <p:spPr>
          <a:xfrm>
            <a:off x="4572000" y="4096512"/>
            <a:ext cx="512064" cy="512064"/>
          </a:xfrm>
          <a:prstGeom prst="ellipse">
            <a:avLst/>
          </a:prstGeom>
          <a:solidFill>
            <a:srgbClr val="C79E41"/>
          </a:solidFill>
          <a:ln w="12700">
            <a:solidFill>
              <a:srgbClr val="C79E41"/>
            </a:solidFill>
            <a:prstDash val="solid"/>
          </a:ln>
        </p:spPr>
      </p:sp>
      <p:pic>
        <p:nvPicPr>
          <p:cNvPr id="26" name="Image 4" descr="preencoded.png">    </p:cNvPr>
          <p:cNvPicPr>
            <a:picLocks noChangeAspect="1"/>
          </p:cNvPicPr>
          <p:nvPr/>
        </p:nvPicPr>
        <p:blipFill>
          <a:blip r:embed="rId5"/>
          <a:stretch>
            <a:fillRect/>
          </a:stretch>
        </p:blipFill>
        <p:spPr>
          <a:xfrm>
            <a:off x="4700016" y="4224528"/>
            <a:ext cx="256032" cy="256032"/>
          </a:xfrm>
          <a:prstGeom prst="rect">
            <a:avLst/>
          </a:prstGeom>
        </p:spPr>
      </p:pic>
      <p:sp>
        <p:nvSpPr>
          <p:cNvPr id="27" name="Text 20"/>
          <p:cNvSpPr txBox="1"/>
          <p:nvPr/>
        </p:nvSpPr>
        <p:spPr>
          <a:xfrm>
            <a:off x="5230368" y="4096512"/>
            <a:ext cx="2468880" cy="51206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Tenant isolation</a:t>
            </a:r>
            <a:endParaRPr lang="en-US" sz="1500" dirty="0"/>
          </a:p>
        </p:txBody>
      </p:sp>
      <p:sp>
        <p:nvSpPr>
          <p:cNvPr id="28" name="Text 21"/>
          <p:cNvSpPr txBox="1"/>
          <p:nvPr/>
        </p:nvSpPr>
        <p:spPr>
          <a:xfrm>
            <a:off x="4572000" y="4754880"/>
            <a:ext cx="3108960" cy="1143000"/>
          </a:xfrm>
          <a:prstGeom prst="rect">
            <a:avLst/>
          </a:prstGeom>
          <a:noFill/>
          <a:ln/>
        </p:spPr>
        <p:txBody>
          <a:bodyPr wrap="square" lIns="0" tIns="0" rIns="0" bIns="0" rtlCol="0" anchor="t"/>
          <a:lstStyle/>
          <a:p>
            <a:pPr indent="0" marL="0">
              <a:buNone/>
            </a:pPr>
            <a:r>
              <a:rPr lang="en-US" sz="1200" dirty="0">
                <a:solidFill>
                  <a:srgbClr val="E3E8EE"/>
                </a:solidFill>
                <a:latin typeface="Calibri" pitchFamily="34" charset="0"/>
                <a:ea typeface="Calibri" pitchFamily="34" charset="-122"/>
                <a:cs typeface="Calibri" pitchFamily="34" charset="-120"/>
              </a:rPr>
              <a:t>Each school's data is isolated by row-level security in the database. The app connects as a restricted, non-owner role.</a:t>
            </a:r>
            <a:endParaRPr lang="en-US" sz="1200" dirty="0"/>
          </a:p>
        </p:txBody>
      </p:sp>
      <p:sp>
        <p:nvSpPr>
          <p:cNvPr id="29" name="Shape 22"/>
          <p:cNvSpPr/>
          <p:nvPr/>
        </p:nvSpPr>
        <p:spPr>
          <a:xfrm>
            <a:off x="8083296" y="3840480"/>
            <a:ext cx="3566160" cy="2148840"/>
          </a:xfrm>
          <a:prstGeom prst="roundRect">
            <a:avLst>
              <a:gd name="adj" fmla="val 4255"/>
            </a:avLst>
          </a:prstGeom>
          <a:solidFill>
            <a:srgbClr val="192941"/>
          </a:solidFill>
          <a:ln w="9525">
            <a:solidFill>
              <a:srgbClr val="2E4466"/>
            </a:solidFill>
            <a:prstDash val="solid"/>
          </a:ln>
        </p:spPr>
      </p:sp>
      <p:sp>
        <p:nvSpPr>
          <p:cNvPr id="30" name="Shape 23"/>
          <p:cNvSpPr/>
          <p:nvPr/>
        </p:nvSpPr>
        <p:spPr>
          <a:xfrm>
            <a:off x="8339328" y="4096512"/>
            <a:ext cx="512064" cy="512064"/>
          </a:xfrm>
          <a:prstGeom prst="ellipse">
            <a:avLst/>
          </a:prstGeom>
          <a:solidFill>
            <a:srgbClr val="C79E41"/>
          </a:solidFill>
          <a:ln w="12700">
            <a:solidFill>
              <a:srgbClr val="C79E41"/>
            </a:solidFill>
            <a:prstDash val="solid"/>
          </a:ln>
        </p:spPr>
      </p:sp>
      <p:pic>
        <p:nvPicPr>
          <p:cNvPr id="31" name="Image 5" descr="preencoded.png">    </p:cNvPr>
          <p:cNvPicPr>
            <a:picLocks noChangeAspect="1"/>
          </p:cNvPicPr>
          <p:nvPr/>
        </p:nvPicPr>
        <p:blipFill>
          <a:blip r:embed="rId6"/>
          <a:stretch>
            <a:fillRect/>
          </a:stretch>
        </p:blipFill>
        <p:spPr>
          <a:xfrm>
            <a:off x="8467344" y="4224528"/>
            <a:ext cx="256032" cy="256032"/>
          </a:xfrm>
          <a:prstGeom prst="rect">
            <a:avLst/>
          </a:prstGeom>
        </p:spPr>
      </p:pic>
      <p:sp>
        <p:nvSpPr>
          <p:cNvPr id="32" name="Text 24"/>
          <p:cNvSpPr txBox="1"/>
          <p:nvPr/>
        </p:nvSpPr>
        <p:spPr>
          <a:xfrm>
            <a:off x="8997696" y="4096512"/>
            <a:ext cx="2468880" cy="51206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UAE PDPL controls</a:t>
            </a:r>
            <a:endParaRPr lang="en-US" sz="1500" dirty="0"/>
          </a:p>
        </p:txBody>
      </p:sp>
      <p:sp>
        <p:nvSpPr>
          <p:cNvPr id="33" name="Text 25"/>
          <p:cNvSpPr txBox="1"/>
          <p:nvPr/>
        </p:nvSpPr>
        <p:spPr>
          <a:xfrm>
            <a:off x="8339328" y="4754880"/>
            <a:ext cx="3108960" cy="1143000"/>
          </a:xfrm>
          <a:prstGeom prst="rect">
            <a:avLst/>
          </a:prstGeom>
          <a:noFill/>
          <a:ln/>
        </p:spPr>
        <p:txBody>
          <a:bodyPr wrap="square" lIns="0" tIns="0" rIns="0" bIns="0" rtlCol="0" anchor="t"/>
          <a:lstStyle/>
          <a:p>
            <a:pPr indent="0" marL="0">
              <a:buNone/>
            </a:pPr>
            <a:r>
              <a:rPr lang="en-US" sz="1200" dirty="0">
                <a:solidFill>
                  <a:srgbClr val="E3E8EE"/>
                </a:solidFill>
                <a:latin typeface="Calibri" pitchFamily="34" charset="0"/>
                <a:ea typeface="Calibri" pitchFamily="34" charset="-122"/>
                <a:cs typeface="Calibri" pitchFamily="34" charset="-120"/>
              </a:rPr>
              <a:t>Purposes and consent, data subject requests, retention, incident log, and encrypted Emirates ID and passport numbers with audited reveal.</a:t>
            </a:r>
            <a:endParaRPr lang="en-US" sz="1200" dirty="0"/>
          </a:p>
        </p:txBody>
      </p:sp>
      <p:sp>
        <p:nvSpPr>
          <p:cNvPr id="34" name="Text 26"/>
          <p:cNvSpPr txBox="1"/>
          <p:nvPr/>
        </p:nvSpPr>
        <p:spPr>
          <a:xfrm>
            <a:off x="9814255" y="6473952"/>
            <a:ext cx="1828800" cy="201168"/>
          </a:xfrm>
          <a:prstGeom prst="rect">
            <a:avLst/>
          </a:prstGeom>
          <a:noFill/>
          <a:ln/>
        </p:spPr>
        <p:txBody>
          <a:bodyPr wrap="square" lIns="0" tIns="0" rIns="0" bIns="0" rtlCol="0" anchor="ctr"/>
          <a:lstStyle/>
          <a:p>
            <a:pPr algn="r" indent="0" marL="0">
              <a:buNone/>
            </a:pPr>
            <a:r>
              <a:rPr lang="en-US" sz="900" dirty="0">
                <a:solidFill>
                  <a:srgbClr val="8C9AAB"/>
                </a:solidFill>
                <a:latin typeface="Calibri" pitchFamily="34" charset="0"/>
                <a:ea typeface="Calibri" pitchFamily="34" charset="-122"/>
                <a:cs typeface="Calibri" pitchFamily="34" charset="-120"/>
              </a:rPr>
              <a:t>Horizon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28600"/>
          </a:xfrm>
          <a:prstGeom prst="rect">
            <a:avLst/>
          </a:prstGeom>
          <a:noFill/>
          <a:ln/>
        </p:spPr>
        <p:txBody>
          <a:bodyPr wrap="square" lIns="0" tIns="0" rIns="0" bIns="0" rtlCol="0" anchor="ctr"/>
          <a:lstStyle/>
          <a:p>
            <a:pPr indent="0" marL="0">
              <a:buNone/>
            </a:pPr>
            <a:r>
              <a:rPr lang="en-US" sz="1100" b="1" spc="300" kern="0" dirty="0">
                <a:solidFill>
                  <a:srgbClr val="05437A"/>
                </a:solidFill>
                <a:latin typeface="Calibri" pitchFamily="34" charset="0"/>
                <a:ea typeface="Calibri" pitchFamily="34" charset="-122"/>
                <a:cs typeface="Calibri" pitchFamily="34" charset="-120"/>
              </a:rPr>
              <a:t>ARABIC AND ENGLISH</a:t>
            </a:r>
            <a:endParaRPr lang="en-US" sz="1100" dirty="0"/>
          </a:p>
        </p:txBody>
      </p:sp>
      <p:sp>
        <p:nvSpPr>
          <p:cNvPr id="3" name="Text 1"/>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000" b="1" dirty="0">
                <a:solidFill>
                  <a:srgbClr val="10171F"/>
                </a:solidFill>
                <a:latin typeface="Cambria" pitchFamily="34" charset="0"/>
                <a:ea typeface="Cambria" pitchFamily="34" charset="-122"/>
                <a:cs typeface="Cambria" pitchFamily="34" charset="-120"/>
              </a:rPr>
              <a:t>Fully bilingual, fully right to left</a:t>
            </a:r>
            <a:endParaRPr lang="en-US" sz="3000" dirty="0"/>
          </a:p>
        </p:txBody>
      </p:sp>
      <p:sp>
        <p:nvSpPr>
          <p:cNvPr id="4" name="Shape 2"/>
          <p:cNvSpPr/>
          <p:nvPr/>
        </p:nvSpPr>
        <p:spPr>
          <a:xfrm>
            <a:off x="548640" y="1280160"/>
            <a:ext cx="5257800" cy="3496437"/>
          </a:xfrm>
          <a:prstGeom prst="roundRect">
            <a:avLst>
              <a:gd name="adj" fmla="val 1831"/>
            </a:avLst>
          </a:prstGeom>
          <a:solidFill>
            <a:srgbClr val="FFFFFF"/>
          </a:solidFill>
          <a:ln w="9525">
            <a:solidFill>
              <a:srgbClr val="DFE3E8"/>
            </a:solidFill>
            <a:prstDash val="solid"/>
          </a:ln>
          <a:effectLst>
            <a:outerShdw sx="100000" sy="100000" kx="0" ky="0" algn="bl" rotWithShape="0" blurRad="177800" dist="63500" dir="5400000">
              <a:srgbClr val="0C182A">
                <a:alpha val="16000"/>
              </a:srgbClr>
            </a:outerShdw>
          </a:effectLst>
        </p:spPr>
      </p:sp>
      <p:sp>
        <p:nvSpPr>
          <p:cNvPr id="5" name="Shape 3"/>
          <p:cNvSpPr/>
          <p:nvPr/>
        </p:nvSpPr>
        <p:spPr>
          <a:xfrm>
            <a:off x="658368" y="1348740"/>
            <a:ext cx="77724" cy="77724"/>
          </a:xfrm>
          <a:prstGeom prst="ellipse">
            <a:avLst/>
          </a:prstGeom>
          <a:solidFill>
            <a:srgbClr val="E5776E"/>
          </a:solidFill>
          <a:ln w="12700">
            <a:solidFill>
              <a:srgbClr val="E5776E"/>
            </a:solidFill>
            <a:prstDash val="solid"/>
          </a:ln>
        </p:spPr>
      </p:sp>
      <p:sp>
        <p:nvSpPr>
          <p:cNvPr id="6" name="Shape 4"/>
          <p:cNvSpPr/>
          <p:nvPr/>
        </p:nvSpPr>
        <p:spPr>
          <a:xfrm>
            <a:off x="777240" y="1348740"/>
            <a:ext cx="77724" cy="77724"/>
          </a:xfrm>
          <a:prstGeom prst="ellipse">
            <a:avLst/>
          </a:prstGeom>
          <a:solidFill>
            <a:srgbClr val="E8C35A"/>
          </a:solidFill>
          <a:ln w="12700">
            <a:solidFill>
              <a:srgbClr val="E8C35A"/>
            </a:solidFill>
            <a:prstDash val="solid"/>
          </a:ln>
        </p:spPr>
      </p:sp>
      <p:sp>
        <p:nvSpPr>
          <p:cNvPr id="7" name="Shape 5"/>
          <p:cNvSpPr/>
          <p:nvPr/>
        </p:nvSpPr>
        <p:spPr>
          <a:xfrm>
            <a:off x="896112" y="1348740"/>
            <a:ext cx="77724" cy="77724"/>
          </a:xfrm>
          <a:prstGeom prst="ellipse">
            <a:avLst/>
          </a:prstGeom>
          <a:solidFill>
            <a:srgbClr val="6CC08A"/>
          </a:solidFill>
          <a:ln w="12700">
            <a:solidFill>
              <a:srgbClr val="6CC08A"/>
            </a:solidFill>
            <a:prstDash val="solid"/>
          </a:ln>
        </p:spPr>
      </p:sp>
      <p:pic>
        <p:nvPicPr>
          <p:cNvPr id="8" name="Image 0" descr="/tmp/claude-0/-home-user-School/397e64b2-6645-56da-9972-e1722fae0ce6/scratchpad/sales/imgdeck/student-pathways-en.jpg">    </p:cNvPr>
          <p:cNvPicPr>
            <a:picLocks noChangeAspect="1"/>
          </p:cNvPicPr>
          <p:nvPr/>
        </p:nvPicPr>
        <p:blipFill>
          <a:blip r:embed="rId1"/>
          <a:stretch>
            <a:fillRect/>
          </a:stretch>
        </p:blipFill>
        <p:spPr>
          <a:xfrm>
            <a:off x="585216" y="1499616"/>
            <a:ext cx="5184648" cy="3240405"/>
          </a:xfrm>
          <a:prstGeom prst="rect">
            <a:avLst/>
          </a:prstGeom>
        </p:spPr>
      </p:pic>
      <p:sp>
        <p:nvSpPr>
          <p:cNvPr id="9" name="Shape 6"/>
          <p:cNvSpPr/>
          <p:nvPr/>
        </p:nvSpPr>
        <p:spPr>
          <a:xfrm>
            <a:off x="6382512" y="1280160"/>
            <a:ext cx="5257800" cy="3496437"/>
          </a:xfrm>
          <a:prstGeom prst="roundRect">
            <a:avLst>
              <a:gd name="adj" fmla="val 1831"/>
            </a:avLst>
          </a:prstGeom>
          <a:solidFill>
            <a:srgbClr val="FFFFFF"/>
          </a:solidFill>
          <a:ln w="9525">
            <a:solidFill>
              <a:srgbClr val="DFE3E8"/>
            </a:solidFill>
            <a:prstDash val="solid"/>
          </a:ln>
          <a:effectLst>
            <a:outerShdw sx="100000" sy="100000" kx="0" ky="0" algn="bl" rotWithShape="0" blurRad="177800" dist="63500" dir="5400000">
              <a:srgbClr val="0C182A">
                <a:alpha val="16000"/>
              </a:srgbClr>
            </a:outerShdw>
          </a:effectLst>
        </p:spPr>
      </p:sp>
      <p:sp>
        <p:nvSpPr>
          <p:cNvPr id="10" name="Shape 7"/>
          <p:cNvSpPr/>
          <p:nvPr/>
        </p:nvSpPr>
        <p:spPr>
          <a:xfrm>
            <a:off x="6492240" y="1348740"/>
            <a:ext cx="77724" cy="77724"/>
          </a:xfrm>
          <a:prstGeom prst="ellipse">
            <a:avLst/>
          </a:prstGeom>
          <a:solidFill>
            <a:srgbClr val="E5776E"/>
          </a:solidFill>
          <a:ln w="12700">
            <a:solidFill>
              <a:srgbClr val="E5776E"/>
            </a:solidFill>
            <a:prstDash val="solid"/>
          </a:ln>
        </p:spPr>
      </p:sp>
      <p:sp>
        <p:nvSpPr>
          <p:cNvPr id="11" name="Shape 8"/>
          <p:cNvSpPr/>
          <p:nvPr/>
        </p:nvSpPr>
        <p:spPr>
          <a:xfrm>
            <a:off x="6611112" y="1348740"/>
            <a:ext cx="77724" cy="77724"/>
          </a:xfrm>
          <a:prstGeom prst="ellipse">
            <a:avLst/>
          </a:prstGeom>
          <a:solidFill>
            <a:srgbClr val="E8C35A"/>
          </a:solidFill>
          <a:ln w="12700">
            <a:solidFill>
              <a:srgbClr val="E8C35A"/>
            </a:solidFill>
            <a:prstDash val="solid"/>
          </a:ln>
        </p:spPr>
      </p:sp>
      <p:sp>
        <p:nvSpPr>
          <p:cNvPr id="12" name="Shape 9"/>
          <p:cNvSpPr/>
          <p:nvPr/>
        </p:nvSpPr>
        <p:spPr>
          <a:xfrm>
            <a:off x="6729984" y="1348740"/>
            <a:ext cx="77724" cy="77724"/>
          </a:xfrm>
          <a:prstGeom prst="ellipse">
            <a:avLst/>
          </a:prstGeom>
          <a:solidFill>
            <a:srgbClr val="6CC08A"/>
          </a:solidFill>
          <a:ln w="12700">
            <a:solidFill>
              <a:srgbClr val="6CC08A"/>
            </a:solidFill>
            <a:prstDash val="solid"/>
          </a:ln>
        </p:spPr>
      </p:sp>
      <p:pic>
        <p:nvPicPr>
          <p:cNvPr id="13" name="Image 1" descr="/tmp/claude-0/-home-user-School/397e64b2-6645-56da-9972-e1722fae0ce6/scratchpad/sales/imgdeck/student-pathways-ar.jpg">    </p:cNvPr>
          <p:cNvPicPr>
            <a:picLocks noChangeAspect="1"/>
          </p:cNvPicPr>
          <p:nvPr/>
        </p:nvPicPr>
        <p:blipFill>
          <a:blip r:embed="rId2"/>
          <a:stretch>
            <a:fillRect/>
          </a:stretch>
        </p:blipFill>
        <p:spPr>
          <a:xfrm>
            <a:off x="6419088" y="1499616"/>
            <a:ext cx="5184648" cy="3240405"/>
          </a:xfrm>
          <a:prstGeom prst="rect">
            <a:avLst/>
          </a:prstGeom>
        </p:spPr>
      </p:pic>
      <p:sp>
        <p:nvSpPr>
          <p:cNvPr id="14" name="Shape 10"/>
          <p:cNvSpPr/>
          <p:nvPr/>
        </p:nvSpPr>
        <p:spPr>
          <a:xfrm>
            <a:off x="548640" y="5230368"/>
            <a:ext cx="402336" cy="402336"/>
          </a:xfrm>
          <a:prstGeom prst="ellipse">
            <a:avLst/>
          </a:prstGeom>
          <a:solidFill>
            <a:srgbClr val="E3F0FF"/>
          </a:solidFill>
          <a:ln w="12700">
            <a:solidFill>
              <a:srgbClr val="E3F0FF"/>
            </a:solidFill>
            <a:prstDash val="solid"/>
          </a:ln>
        </p:spPr>
      </p:sp>
      <p:pic>
        <p:nvPicPr>
          <p:cNvPr id="15" name="Image 2" descr="preencoded.png">    </p:cNvPr>
          <p:cNvPicPr>
            <a:picLocks noChangeAspect="1"/>
          </p:cNvPicPr>
          <p:nvPr/>
        </p:nvPicPr>
        <p:blipFill>
          <a:blip r:embed="rId3"/>
          <a:stretch>
            <a:fillRect/>
          </a:stretch>
        </p:blipFill>
        <p:spPr>
          <a:xfrm>
            <a:off x="640080" y="5321808"/>
            <a:ext cx="219456" cy="219456"/>
          </a:xfrm>
          <a:prstGeom prst="rect">
            <a:avLst/>
          </a:prstGeom>
        </p:spPr>
      </p:pic>
      <p:sp>
        <p:nvSpPr>
          <p:cNvPr id="16" name="Text 11"/>
          <p:cNvSpPr txBox="1"/>
          <p:nvPr/>
        </p:nvSpPr>
        <p:spPr>
          <a:xfrm>
            <a:off x="1060704" y="5193792"/>
            <a:ext cx="2194560" cy="1097280"/>
          </a:xfrm>
          <a:prstGeom prst="rect">
            <a:avLst/>
          </a:prstGeom>
          <a:noFill/>
          <a:ln/>
        </p:spPr>
        <p:txBody>
          <a:bodyPr wrap="square" lIns="0" tIns="0" rIns="0" bIns="0" rtlCol="0" anchor="t"/>
          <a:lstStyle/>
          <a:p>
            <a:pPr indent="0" marL="0">
              <a:buNone/>
            </a:pPr>
            <a:r>
              <a:rPr lang="en-US" sz="1300" b="1" dirty="0">
                <a:solidFill>
                  <a:srgbClr val="10171F"/>
                </a:solidFill>
                <a:latin typeface="Calibri" pitchFamily="34" charset="0"/>
                <a:ea typeface="Calibri" pitchFamily="34" charset="-122"/>
                <a:cs typeface="Calibri" pitchFamily="34" charset="-120"/>
              </a:rPr>
              <a:t>Per-user language</a:t>
            </a:r>
            <a:endParaRPr lang="en-US" sz="1300" dirty="0"/>
          </a:p>
          <a:p>
            <a:pPr indent="0" marL="0">
              <a:buNone/>
            </a:pPr>
            <a:r>
              <a:rPr lang="en-US" sz="1150" dirty="0">
                <a:solidFill>
                  <a:srgbClr val="616A75"/>
                </a:solidFill>
                <a:latin typeface="Calibri" pitchFamily="34" charset="0"/>
                <a:ea typeface="Calibri" pitchFamily="34" charset="-122"/>
                <a:cs typeface="Calibri" pitchFamily="34" charset="-120"/>
              </a:rPr>
              <a:t>Each person picks Arabic or English; the school sets the default.</a:t>
            </a:r>
            <a:endParaRPr lang="en-US" sz="1300" dirty="0"/>
          </a:p>
        </p:txBody>
      </p:sp>
      <p:sp>
        <p:nvSpPr>
          <p:cNvPr id="17" name="Shape 12"/>
          <p:cNvSpPr/>
          <p:nvPr/>
        </p:nvSpPr>
        <p:spPr>
          <a:xfrm>
            <a:off x="3364992" y="5230368"/>
            <a:ext cx="402336" cy="402336"/>
          </a:xfrm>
          <a:prstGeom prst="ellipse">
            <a:avLst/>
          </a:prstGeom>
          <a:solidFill>
            <a:srgbClr val="E3F0FF"/>
          </a:solidFill>
          <a:ln w="12700">
            <a:solidFill>
              <a:srgbClr val="E3F0FF"/>
            </a:solidFill>
            <a:prstDash val="solid"/>
          </a:ln>
        </p:spPr>
      </p:sp>
      <p:pic>
        <p:nvPicPr>
          <p:cNvPr id="18" name="Image 3" descr="preencoded.png">    </p:cNvPr>
          <p:cNvPicPr>
            <a:picLocks noChangeAspect="1"/>
          </p:cNvPicPr>
          <p:nvPr/>
        </p:nvPicPr>
        <p:blipFill>
          <a:blip r:embed="rId4"/>
          <a:stretch>
            <a:fillRect/>
          </a:stretch>
        </p:blipFill>
        <p:spPr>
          <a:xfrm>
            <a:off x="3456432" y="5321808"/>
            <a:ext cx="219456" cy="219456"/>
          </a:xfrm>
          <a:prstGeom prst="rect">
            <a:avLst/>
          </a:prstGeom>
        </p:spPr>
      </p:pic>
      <p:sp>
        <p:nvSpPr>
          <p:cNvPr id="19" name="Text 13"/>
          <p:cNvSpPr txBox="1"/>
          <p:nvPr/>
        </p:nvSpPr>
        <p:spPr>
          <a:xfrm>
            <a:off x="3877056" y="5193792"/>
            <a:ext cx="2194560" cy="1097280"/>
          </a:xfrm>
          <a:prstGeom prst="rect">
            <a:avLst/>
          </a:prstGeom>
          <a:noFill/>
          <a:ln/>
        </p:spPr>
        <p:txBody>
          <a:bodyPr wrap="square" lIns="0" tIns="0" rIns="0" bIns="0" rtlCol="0" anchor="t"/>
          <a:lstStyle/>
          <a:p>
            <a:pPr indent="0" marL="0">
              <a:buNone/>
            </a:pPr>
            <a:r>
              <a:rPr lang="en-US" sz="1300" b="1" dirty="0">
                <a:solidFill>
                  <a:srgbClr val="10171F"/>
                </a:solidFill>
                <a:latin typeface="Calibri" pitchFamily="34" charset="0"/>
                <a:ea typeface="Calibri" pitchFamily="34" charset="-122"/>
                <a:cs typeface="Calibri" pitchFamily="34" charset="-120"/>
              </a:rPr>
              <a:t>Bilingual letters</a:t>
            </a:r>
            <a:endParaRPr lang="en-US" sz="1300" dirty="0"/>
          </a:p>
          <a:p>
            <a:pPr indent="0" marL="0">
              <a:buNone/>
            </a:pPr>
            <a:r>
              <a:rPr lang="en-US" sz="1150" dirty="0">
                <a:solidFill>
                  <a:srgbClr val="616A75"/>
                </a:solidFill>
                <a:latin typeface="Calibri" pitchFamily="34" charset="0"/>
                <a:ea typeface="Calibri" pitchFamily="34" charset="-122"/>
                <a:cs typeface="Calibri" pitchFamily="34" charset="-120"/>
              </a:rPr>
              <a:t>Arabic, English or side-by-side PDFs with correct Arabic shaping.</a:t>
            </a:r>
            <a:endParaRPr lang="en-US" sz="1300" dirty="0"/>
          </a:p>
        </p:txBody>
      </p:sp>
      <p:sp>
        <p:nvSpPr>
          <p:cNvPr id="20" name="Shape 14"/>
          <p:cNvSpPr/>
          <p:nvPr/>
        </p:nvSpPr>
        <p:spPr>
          <a:xfrm>
            <a:off x="6181344" y="5230368"/>
            <a:ext cx="402336" cy="402336"/>
          </a:xfrm>
          <a:prstGeom prst="ellipse">
            <a:avLst/>
          </a:prstGeom>
          <a:solidFill>
            <a:srgbClr val="E3F0FF"/>
          </a:solidFill>
          <a:ln w="12700">
            <a:solidFill>
              <a:srgbClr val="E3F0FF"/>
            </a:solidFill>
            <a:prstDash val="solid"/>
          </a:ln>
        </p:spPr>
      </p:sp>
      <p:pic>
        <p:nvPicPr>
          <p:cNvPr id="21" name="Image 4" descr="preencoded.png">    </p:cNvPr>
          <p:cNvPicPr>
            <a:picLocks noChangeAspect="1"/>
          </p:cNvPicPr>
          <p:nvPr/>
        </p:nvPicPr>
        <p:blipFill>
          <a:blip r:embed="rId5"/>
          <a:stretch>
            <a:fillRect/>
          </a:stretch>
        </p:blipFill>
        <p:spPr>
          <a:xfrm>
            <a:off x="6272784" y="5321808"/>
            <a:ext cx="219456" cy="219456"/>
          </a:xfrm>
          <a:prstGeom prst="rect">
            <a:avLst/>
          </a:prstGeom>
        </p:spPr>
      </p:pic>
      <p:sp>
        <p:nvSpPr>
          <p:cNvPr id="22" name="Text 15"/>
          <p:cNvSpPr txBox="1"/>
          <p:nvPr/>
        </p:nvSpPr>
        <p:spPr>
          <a:xfrm>
            <a:off x="6693408" y="5193792"/>
            <a:ext cx="2194560" cy="1097280"/>
          </a:xfrm>
          <a:prstGeom prst="rect">
            <a:avLst/>
          </a:prstGeom>
          <a:noFill/>
          <a:ln/>
        </p:spPr>
        <p:txBody>
          <a:bodyPr wrap="square" lIns="0" tIns="0" rIns="0" bIns="0" rtlCol="0" anchor="t"/>
          <a:lstStyle/>
          <a:p>
            <a:pPr indent="0" marL="0">
              <a:buNone/>
            </a:pPr>
            <a:r>
              <a:rPr lang="en-US" sz="1300" b="1" dirty="0">
                <a:solidFill>
                  <a:srgbClr val="10171F"/>
                </a:solidFill>
                <a:latin typeface="Calibri" pitchFamily="34" charset="0"/>
                <a:ea typeface="Calibri" pitchFamily="34" charset="-122"/>
                <a:cs typeface="Calibri" pitchFamily="34" charset="-120"/>
              </a:rPr>
              <a:t>Local formats</a:t>
            </a:r>
            <a:endParaRPr lang="en-US" sz="1300" dirty="0"/>
          </a:p>
          <a:p>
            <a:pPr indent="0" marL="0">
              <a:buNone/>
            </a:pPr>
            <a:r>
              <a:rPr lang="en-US" sz="1150" dirty="0">
                <a:solidFill>
                  <a:srgbClr val="616A75"/>
                </a:solidFill>
                <a:latin typeface="Calibri" pitchFamily="34" charset="0"/>
                <a:ea typeface="Calibri" pitchFamily="34" charset="-122"/>
                <a:cs typeface="Calibri" pitchFamily="34" charset="-120"/>
              </a:rPr>
              <a:t>Optional Hijri dates and Arabic-Indic numerals, Dubai time zone.</a:t>
            </a:r>
            <a:endParaRPr lang="en-US" sz="1300" dirty="0"/>
          </a:p>
        </p:txBody>
      </p:sp>
      <p:sp>
        <p:nvSpPr>
          <p:cNvPr id="23" name="Shape 16"/>
          <p:cNvSpPr/>
          <p:nvPr/>
        </p:nvSpPr>
        <p:spPr>
          <a:xfrm>
            <a:off x="8997696" y="5230368"/>
            <a:ext cx="402336" cy="402336"/>
          </a:xfrm>
          <a:prstGeom prst="ellipse">
            <a:avLst/>
          </a:prstGeom>
          <a:solidFill>
            <a:srgbClr val="E3F0FF"/>
          </a:solidFill>
          <a:ln w="12700">
            <a:solidFill>
              <a:srgbClr val="E3F0FF"/>
            </a:solidFill>
            <a:prstDash val="solid"/>
          </a:ln>
        </p:spPr>
      </p:sp>
      <p:pic>
        <p:nvPicPr>
          <p:cNvPr id="24" name="Image 5" descr="preencoded.png">    </p:cNvPr>
          <p:cNvPicPr>
            <a:picLocks noChangeAspect="1"/>
          </p:cNvPicPr>
          <p:nvPr/>
        </p:nvPicPr>
        <p:blipFill>
          <a:blip r:embed="rId6"/>
          <a:stretch>
            <a:fillRect/>
          </a:stretch>
        </p:blipFill>
        <p:spPr>
          <a:xfrm>
            <a:off x="9089136" y="5321808"/>
            <a:ext cx="219456" cy="219456"/>
          </a:xfrm>
          <a:prstGeom prst="rect">
            <a:avLst/>
          </a:prstGeom>
        </p:spPr>
      </p:pic>
      <p:sp>
        <p:nvSpPr>
          <p:cNvPr id="25" name="Text 17"/>
          <p:cNvSpPr txBox="1"/>
          <p:nvPr/>
        </p:nvSpPr>
        <p:spPr>
          <a:xfrm>
            <a:off x="9509760" y="5193792"/>
            <a:ext cx="2194560" cy="1097280"/>
          </a:xfrm>
          <a:prstGeom prst="rect">
            <a:avLst/>
          </a:prstGeom>
          <a:noFill/>
          <a:ln/>
        </p:spPr>
        <p:txBody>
          <a:bodyPr wrap="square" lIns="0" tIns="0" rIns="0" bIns="0" rtlCol="0" anchor="t"/>
          <a:lstStyle/>
          <a:p>
            <a:pPr indent="0" marL="0">
              <a:buNone/>
            </a:pPr>
            <a:r>
              <a:rPr lang="en-US" sz="1300" b="1" dirty="0">
                <a:solidFill>
                  <a:srgbClr val="10171F"/>
                </a:solidFill>
                <a:latin typeface="Calibri" pitchFamily="34" charset="0"/>
                <a:ea typeface="Calibri" pitchFamily="34" charset="-122"/>
                <a:cs typeface="Calibri" pitchFamily="34" charset="-120"/>
              </a:rPr>
              <a:t>Bilingual records</a:t>
            </a:r>
            <a:endParaRPr lang="en-US" sz="1300" dirty="0"/>
          </a:p>
          <a:p>
            <a:pPr indent="0" marL="0">
              <a:buNone/>
            </a:pPr>
            <a:r>
              <a:rPr lang="en-US" sz="1150" dirty="0">
                <a:solidFill>
                  <a:srgbClr val="616A75"/>
                </a:solidFill>
                <a:latin typeface="Calibri" pitchFamily="34" charset="0"/>
                <a:ea typeface="Calibri" pitchFamily="34" charset="-122"/>
                <a:cs typeface="Calibri" pitchFamily="34" charset="-120"/>
              </a:rPr>
              <a:t>Names in both languages; search matches either.</a:t>
            </a:r>
            <a:endParaRPr lang="en-US" sz="1300" dirty="0"/>
          </a:p>
        </p:txBody>
      </p:sp>
      <p:sp>
        <p:nvSpPr>
          <p:cNvPr id="26" name="Text 18"/>
          <p:cNvSpPr txBox="1"/>
          <p:nvPr/>
        </p:nvSpPr>
        <p:spPr>
          <a:xfrm>
            <a:off x="9814255" y="6473952"/>
            <a:ext cx="1828800" cy="201168"/>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Horizon  |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28600"/>
          </a:xfrm>
          <a:prstGeom prst="rect">
            <a:avLst/>
          </a:prstGeom>
          <a:noFill/>
          <a:ln/>
        </p:spPr>
        <p:txBody>
          <a:bodyPr wrap="square" lIns="0" tIns="0" rIns="0" bIns="0" rtlCol="0" anchor="ctr"/>
          <a:lstStyle/>
          <a:p>
            <a:pPr indent="0" marL="0">
              <a:buNone/>
            </a:pPr>
            <a:r>
              <a:rPr lang="en-US" sz="1100" b="1" spc="300" kern="0" dirty="0">
                <a:solidFill>
                  <a:srgbClr val="05437A"/>
                </a:solidFill>
                <a:latin typeface="Calibri" pitchFamily="34" charset="0"/>
                <a:ea typeface="Calibri" pitchFamily="34" charset="-122"/>
                <a:cs typeface="Calibri" pitchFamily="34" charset="-120"/>
              </a:rPr>
              <a:t>UNIVERSITY PATHWAYS ENGINE</a:t>
            </a:r>
            <a:endParaRPr lang="en-US" sz="1100" dirty="0"/>
          </a:p>
        </p:txBody>
      </p:sp>
      <p:sp>
        <p:nvSpPr>
          <p:cNvPr id="3" name="Text 1"/>
          <p:cNvSpPr txBox="1"/>
          <p:nvPr/>
        </p:nvSpPr>
        <p:spPr>
          <a:xfrm>
            <a:off x="548640" y="411480"/>
            <a:ext cx="10972800" cy="731520"/>
          </a:xfrm>
          <a:prstGeom prst="rect">
            <a:avLst/>
          </a:prstGeom>
          <a:noFill/>
          <a:ln/>
        </p:spPr>
        <p:txBody>
          <a:bodyPr wrap="square" lIns="0" tIns="0" rIns="0" bIns="0" rtlCol="0" anchor="t"/>
          <a:lstStyle/>
          <a:p>
            <a:pPr indent="0" marL="0">
              <a:buNone/>
            </a:pPr>
            <a:r>
              <a:rPr lang="en-US" sz="3000" b="1" dirty="0">
                <a:solidFill>
                  <a:srgbClr val="10171F"/>
                </a:solidFill>
                <a:latin typeface="Cambria" pitchFamily="34" charset="0"/>
                <a:ea typeface="Cambria" pitchFamily="34" charset="-122"/>
                <a:cs typeface="Cambria" pitchFamily="34" charset="-120"/>
              </a:rPr>
              <a:t>University guidance grounded in official pages</a:t>
            </a:r>
            <a:endParaRPr lang="en-US" sz="3000" dirty="0"/>
          </a:p>
        </p:txBody>
      </p:sp>
      <p:sp>
        <p:nvSpPr>
          <p:cNvPr id="4" name="Shape 2"/>
          <p:cNvSpPr/>
          <p:nvPr/>
        </p:nvSpPr>
        <p:spPr>
          <a:xfrm>
            <a:off x="548640" y="1280160"/>
            <a:ext cx="4846320" cy="4790542"/>
          </a:xfrm>
          <a:prstGeom prst="roundRect">
            <a:avLst>
              <a:gd name="adj" fmla="val 1336"/>
            </a:avLst>
          </a:prstGeom>
          <a:solidFill>
            <a:srgbClr val="FFFFFF"/>
          </a:solidFill>
          <a:ln w="9525">
            <a:solidFill>
              <a:srgbClr val="DFE3E8"/>
            </a:solidFill>
            <a:prstDash val="solid"/>
          </a:ln>
          <a:effectLst>
            <a:outerShdw sx="100000" sy="100000" kx="0" ky="0" algn="bl" rotWithShape="0" blurRad="177800" dist="63500" dir="5400000">
              <a:srgbClr val="0C182A">
                <a:alpha val="16000"/>
              </a:srgbClr>
            </a:outerShdw>
          </a:effectLst>
        </p:spPr>
      </p:sp>
      <p:sp>
        <p:nvSpPr>
          <p:cNvPr id="5" name="Shape 3"/>
          <p:cNvSpPr/>
          <p:nvPr/>
        </p:nvSpPr>
        <p:spPr>
          <a:xfrm>
            <a:off x="658368" y="1348740"/>
            <a:ext cx="77724" cy="77724"/>
          </a:xfrm>
          <a:prstGeom prst="ellipse">
            <a:avLst/>
          </a:prstGeom>
          <a:solidFill>
            <a:srgbClr val="E5776E"/>
          </a:solidFill>
          <a:ln w="12700">
            <a:solidFill>
              <a:srgbClr val="E5776E"/>
            </a:solidFill>
            <a:prstDash val="solid"/>
          </a:ln>
        </p:spPr>
      </p:sp>
      <p:sp>
        <p:nvSpPr>
          <p:cNvPr id="6" name="Shape 4"/>
          <p:cNvSpPr/>
          <p:nvPr/>
        </p:nvSpPr>
        <p:spPr>
          <a:xfrm>
            <a:off x="777240" y="1348740"/>
            <a:ext cx="77724" cy="77724"/>
          </a:xfrm>
          <a:prstGeom prst="ellipse">
            <a:avLst/>
          </a:prstGeom>
          <a:solidFill>
            <a:srgbClr val="E8C35A"/>
          </a:solidFill>
          <a:ln w="12700">
            <a:solidFill>
              <a:srgbClr val="E8C35A"/>
            </a:solidFill>
            <a:prstDash val="solid"/>
          </a:ln>
        </p:spPr>
      </p:sp>
      <p:sp>
        <p:nvSpPr>
          <p:cNvPr id="7" name="Shape 5"/>
          <p:cNvSpPr/>
          <p:nvPr/>
        </p:nvSpPr>
        <p:spPr>
          <a:xfrm>
            <a:off x="896112" y="1348740"/>
            <a:ext cx="77724" cy="77724"/>
          </a:xfrm>
          <a:prstGeom prst="ellipse">
            <a:avLst/>
          </a:prstGeom>
          <a:solidFill>
            <a:srgbClr val="6CC08A"/>
          </a:solidFill>
          <a:ln w="12700">
            <a:solidFill>
              <a:srgbClr val="6CC08A"/>
            </a:solidFill>
            <a:prstDash val="solid"/>
          </a:ln>
        </p:spPr>
      </p:sp>
      <p:pic>
        <p:nvPicPr>
          <p:cNvPr id="8" name="Image 0" descr="/tmp/claude-0/-home-user-School/397e64b2-6645-56da-9972-e1722fae0ce6/scratchpad/sales/imgdeck/c-program.jpg">    </p:cNvPr>
          <p:cNvPicPr>
            <a:picLocks noChangeAspect="1"/>
          </p:cNvPicPr>
          <p:nvPr/>
        </p:nvPicPr>
        <p:blipFill>
          <a:blip r:embed="rId1"/>
          <a:stretch>
            <a:fillRect/>
          </a:stretch>
        </p:blipFill>
        <p:spPr>
          <a:xfrm>
            <a:off x="585216" y="1499616"/>
            <a:ext cx="4773168" cy="4534510"/>
          </a:xfrm>
          <a:prstGeom prst="rect">
            <a:avLst/>
          </a:prstGeom>
        </p:spPr>
      </p:pic>
      <p:sp>
        <p:nvSpPr>
          <p:cNvPr id="9" name="Shape 6"/>
          <p:cNvSpPr/>
          <p:nvPr/>
        </p:nvSpPr>
        <p:spPr>
          <a:xfrm>
            <a:off x="5806440" y="1325880"/>
            <a:ext cx="402336" cy="402336"/>
          </a:xfrm>
          <a:prstGeom prst="ellipse">
            <a:avLst/>
          </a:prstGeom>
          <a:solidFill>
            <a:srgbClr val="E3F0FF"/>
          </a:solidFill>
          <a:ln w="12700">
            <a:solidFill>
              <a:srgbClr val="E3F0FF"/>
            </a:solidFill>
            <a:prstDash val="solid"/>
          </a:ln>
        </p:spPr>
      </p:sp>
      <p:pic>
        <p:nvPicPr>
          <p:cNvPr id="10" name="Image 1" descr="preencoded.png">    </p:cNvPr>
          <p:cNvPicPr>
            <a:picLocks noChangeAspect="1"/>
          </p:cNvPicPr>
          <p:nvPr/>
        </p:nvPicPr>
        <p:blipFill>
          <a:blip r:embed="rId2"/>
          <a:stretch>
            <a:fillRect/>
          </a:stretch>
        </p:blipFill>
        <p:spPr>
          <a:xfrm>
            <a:off x="5897880" y="1417320"/>
            <a:ext cx="219456" cy="219456"/>
          </a:xfrm>
          <a:prstGeom prst="rect">
            <a:avLst/>
          </a:prstGeom>
        </p:spPr>
      </p:pic>
      <p:sp>
        <p:nvSpPr>
          <p:cNvPr id="11" name="Text 7"/>
          <p:cNvSpPr txBox="1"/>
          <p:nvPr/>
        </p:nvSpPr>
        <p:spPr>
          <a:xfrm>
            <a:off x="6373368" y="1289304"/>
            <a:ext cx="5285232" cy="822960"/>
          </a:xfrm>
          <a:prstGeom prst="rect">
            <a:avLst/>
          </a:prstGeom>
          <a:noFill/>
          <a:ln/>
        </p:spPr>
        <p:txBody>
          <a:bodyPr wrap="square" lIns="0" tIns="0" rIns="0" bIns="0" rtlCol="0" anchor="t"/>
          <a:lstStyle/>
          <a:p>
            <a:pPr indent="0" marL="0">
              <a:spcAft>
                <a:spcPts val="200"/>
              </a:spcAft>
              <a:buNone/>
            </a:pPr>
            <a:r>
              <a:rPr lang="en-US" sz="1400" b="1" dirty="0">
                <a:solidFill>
                  <a:srgbClr val="10171F"/>
                </a:solidFill>
                <a:latin typeface="Calibri" pitchFamily="34" charset="0"/>
                <a:ea typeface="Calibri" pitchFamily="34" charset="-122"/>
                <a:cs typeface="Calibri" pitchFamily="34" charset="-120"/>
              </a:rPr>
              <a:t>Word for word from official pages</a:t>
            </a:r>
            <a:endParaRPr lang="en-US" sz="1400" dirty="0"/>
          </a:p>
          <a:p>
            <a:pPr indent="0" marL="0">
              <a:spcAft>
                <a:spcPts val="200"/>
              </a:spcAft>
              <a:buNone/>
            </a:pPr>
            <a:r>
              <a:rPr lang="en-US" sz="1200" dirty="0">
                <a:solidFill>
                  <a:srgbClr val="616A75"/>
                </a:solidFill>
                <a:latin typeface="Calibri" pitchFamily="34" charset="0"/>
                <a:ea typeface="Calibri" pitchFamily="34" charset="-122"/>
                <a:cs typeface="Calibri" pitchFamily="34" charset="-120"/>
              </a:rPr>
              <a:t>Every requirement is taken from the university's official page, quoted exactly, with the source link and the date it was checked.</a:t>
            </a:r>
            <a:endParaRPr lang="en-US" sz="1400" dirty="0"/>
          </a:p>
        </p:txBody>
      </p:sp>
      <p:sp>
        <p:nvSpPr>
          <p:cNvPr id="12" name="Shape 8"/>
          <p:cNvSpPr/>
          <p:nvPr/>
        </p:nvSpPr>
        <p:spPr>
          <a:xfrm>
            <a:off x="5806440" y="2221992"/>
            <a:ext cx="402336" cy="402336"/>
          </a:xfrm>
          <a:prstGeom prst="ellipse">
            <a:avLst/>
          </a:prstGeom>
          <a:solidFill>
            <a:srgbClr val="E3F0FF"/>
          </a:solidFill>
          <a:ln w="12700">
            <a:solidFill>
              <a:srgbClr val="E3F0FF"/>
            </a:solidFill>
            <a:prstDash val="solid"/>
          </a:ln>
        </p:spPr>
      </p:sp>
      <p:pic>
        <p:nvPicPr>
          <p:cNvPr id="13" name="Image 2" descr="preencoded.png">    </p:cNvPr>
          <p:cNvPicPr>
            <a:picLocks noChangeAspect="1"/>
          </p:cNvPicPr>
          <p:nvPr/>
        </p:nvPicPr>
        <p:blipFill>
          <a:blip r:embed="rId3"/>
          <a:stretch>
            <a:fillRect/>
          </a:stretch>
        </p:blipFill>
        <p:spPr>
          <a:xfrm>
            <a:off x="5897880" y="2313432"/>
            <a:ext cx="219456" cy="219456"/>
          </a:xfrm>
          <a:prstGeom prst="rect">
            <a:avLst/>
          </a:prstGeom>
        </p:spPr>
      </p:pic>
      <p:sp>
        <p:nvSpPr>
          <p:cNvPr id="14" name="Text 9"/>
          <p:cNvSpPr txBox="1"/>
          <p:nvPr/>
        </p:nvSpPr>
        <p:spPr>
          <a:xfrm>
            <a:off x="6373368" y="2185416"/>
            <a:ext cx="5285232" cy="822960"/>
          </a:xfrm>
          <a:prstGeom prst="rect">
            <a:avLst/>
          </a:prstGeom>
          <a:noFill/>
          <a:ln/>
        </p:spPr>
        <p:txBody>
          <a:bodyPr wrap="square" lIns="0" tIns="0" rIns="0" bIns="0" rtlCol="0" anchor="t"/>
          <a:lstStyle/>
          <a:p>
            <a:pPr indent="0" marL="0">
              <a:spcAft>
                <a:spcPts val="200"/>
              </a:spcAft>
              <a:buNone/>
            </a:pPr>
            <a:r>
              <a:rPr lang="en-US" sz="1400" b="1" dirty="0">
                <a:solidFill>
                  <a:srgbClr val="10171F"/>
                </a:solidFill>
                <a:latin typeface="Calibri" pitchFamily="34" charset="0"/>
                <a:ea typeface="Calibri" pitchFamily="34" charset="-122"/>
                <a:cs typeface="Calibri" pitchFamily="34" charset="-120"/>
              </a:rPr>
              <a:t>Rules decide, not AI</a:t>
            </a:r>
            <a:endParaRPr lang="en-US" sz="1400" dirty="0"/>
          </a:p>
          <a:p>
            <a:pPr indent="0" marL="0">
              <a:spcAft>
                <a:spcPts val="200"/>
              </a:spcAft>
              <a:buNone/>
            </a:pPr>
            <a:r>
              <a:rPr lang="en-US" sz="1200" dirty="0">
                <a:solidFill>
                  <a:srgbClr val="616A75"/>
                </a:solidFill>
                <a:latin typeface="Calibri" pitchFamily="34" charset="0"/>
                <a:ea typeface="Calibri" pitchFamily="34" charset="-122"/>
                <a:cs typeface="Calibri" pitchFamily="34" charset="-120"/>
              </a:rPr>
              <a:t>Each line is met, not met or unknown for the student's curriculum: British, IB, American, UAE MoE, Indian or Tawjihi.</a:t>
            </a:r>
            <a:endParaRPr lang="en-US" sz="1400" dirty="0"/>
          </a:p>
        </p:txBody>
      </p:sp>
      <p:sp>
        <p:nvSpPr>
          <p:cNvPr id="15" name="Shape 10"/>
          <p:cNvSpPr/>
          <p:nvPr/>
        </p:nvSpPr>
        <p:spPr>
          <a:xfrm>
            <a:off x="5806440" y="3118104"/>
            <a:ext cx="402336" cy="402336"/>
          </a:xfrm>
          <a:prstGeom prst="ellipse">
            <a:avLst/>
          </a:prstGeom>
          <a:solidFill>
            <a:srgbClr val="E3F0FF"/>
          </a:solidFill>
          <a:ln w="12700">
            <a:solidFill>
              <a:srgbClr val="E3F0FF"/>
            </a:solidFill>
            <a:prstDash val="solid"/>
          </a:ln>
        </p:spPr>
      </p:sp>
      <p:pic>
        <p:nvPicPr>
          <p:cNvPr id="16" name="Image 3" descr="preencoded.png">    </p:cNvPr>
          <p:cNvPicPr>
            <a:picLocks noChangeAspect="1"/>
          </p:cNvPicPr>
          <p:nvPr/>
        </p:nvPicPr>
        <p:blipFill>
          <a:blip r:embed="rId4"/>
          <a:stretch>
            <a:fillRect/>
          </a:stretch>
        </p:blipFill>
        <p:spPr>
          <a:xfrm>
            <a:off x="5897880" y="3209544"/>
            <a:ext cx="219456" cy="219456"/>
          </a:xfrm>
          <a:prstGeom prst="rect">
            <a:avLst/>
          </a:prstGeom>
        </p:spPr>
      </p:pic>
      <p:sp>
        <p:nvSpPr>
          <p:cNvPr id="17" name="Text 11"/>
          <p:cNvSpPr txBox="1"/>
          <p:nvPr/>
        </p:nvSpPr>
        <p:spPr>
          <a:xfrm>
            <a:off x="6373368" y="3081528"/>
            <a:ext cx="5285232" cy="822960"/>
          </a:xfrm>
          <a:prstGeom prst="rect">
            <a:avLst/>
          </a:prstGeom>
          <a:noFill/>
          <a:ln/>
        </p:spPr>
        <p:txBody>
          <a:bodyPr wrap="square" lIns="0" tIns="0" rIns="0" bIns="0" rtlCol="0" anchor="t"/>
          <a:lstStyle/>
          <a:p>
            <a:pPr indent="0" marL="0">
              <a:spcAft>
                <a:spcPts val="200"/>
              </a:spcAft>
              <a:buNone/>
            </a:pPr>
            <a:r>
              <a:rPr lang="en-US" sz="1400" b="1" dirty="0">
                <a:solidFill>
                  <a:srgbClr val="10171F"/>
                </a:solidFill>
                <a:latin typeface="Calibri" pitchFamily="34" charset="0"/>
                <a:ea typeface="Calibri" pitchFamily="34" charset="-122"/>
                <a:cs typeface="Calibri" pitchFamily="34" charset="-120"/>
              </a:rPr>
              <a:t>Plans and what-if</a:t>
            </a:r>
            <a:endParaRPr lang="en-US" sz="1400" dirty="0"/>
          </a:p>
          <a:p>
            <a:pPr indent="0" marL="0">
              <a:spcAft>
                <a:spcPts val="200"/>
              </a:spcAft>
              <a:buNone/>
            </a:pPr>
            <a:r>
              <a:rPr lang="en-US" sz="1200" dirty="0">
                <a:solidFill>
                  <a:srgbClr val="616A75"/>
                </a:solidFill>
                <a:latin typeface="Calibri" pitchFamily="34" charset="0"/>
                <a:ea typeface="Calibri" pitchFamily="34" charset="-122"/>
                <a:cs typeface="Calibri" pitchFamily="34" charset="-120"/>
              </a:rPr>
              <a:t>A Grade 9 to 12 course plan approved by the counselor, and what-if to see which programmes move when a class or grade changes.</a:t>
            </a:r>
            <a:endParaRPr lang="en-US" sz="1400" dirty="0"/>
          </a:p>
        </p:txBody>
      </p:sp>
      <p:sp>
        <p:nvSpPr>
          <p:cNvPr id="18" name="Shape 12"/>
          <p:cNvSpPr/>
          <p:nvPr/>
        </p:nvSpPr>
        <p:spPr>
          <a:xfrm>
            <a:off x="5806440" y="4041648"/>
            <a:ext cx="5833872" cy="2286000"/>
          </a:xfrm>
          <a:prstGeom prst="roundRect">
            <a:avLst>
              <a:gd name="adj" fmla="val 4000"/>
            </a:avLst>
          </a:prstGeom>
          <a:solidFill>
            <a:srgbClr val="0C182A"/>
          </a:solidFill>
          <a:ln w="12700">
            <a:solidFill>
              <a:srgbClr val="0C182A"/>
            </a:solidFill>
            <a:prstDash val="solid"/>
          </a:ln>
        </p:spPr>
      </p:sp>
      <p:sp>
        <p:nvSpPr>
          <p:cNvPr id="19" name="Shape 13"/>
          <p:cNvSpPr/>
          <p:nvPr/>
        </p:nvSpPr>
        <p:spPr>
          <a:xfrm>
            <a:off x="6080760" y="4270248"/>
            <a:ext cx="402336" cy="402336"/>
          </a:xfrm>
          <a:prstGeom prst="ellipse">
            <a:avLst/>
          </a:prstGeom>
          <a:solidFill>
            <a:srgbClr val="C79E41"/>
          </a:solidFill>
          <a:ln w="12700">
            <a:solidFill>
              <a:srgbClr val="C79E41"/>
            </a:solidFill>
            <a:prstDash val="solid"/>
          </a:ln>
        </p:spPr>
      </p:sp>
      <p:pic>
        <p:nvPicPr>
          <p:cNvPr id="20" name="Image 4" descr="preencoded.png">    </p:cNvPr>
          <p:cNvPicPr>
            <a:picLocks noChangeAspect="1"/>
          </p:cNvPicPr>
          <p:nvPr/>
        </p:nvPicPr>
        <p:blipFill>
          <a:blip r:embed="rId5"/>
          <a:stretch>
            <a:fillRect/>
          </a:stretch>
        </p:blipFill>
        <p:spPr>
          <a:xfrm>
            <a:off x="6172200" y="4361688"/>
            <a:ext cx="219456" cy="219456"/>
          </a:xfrm>
          <a:prstGeom prst="rect">
            <a:avLst/>
          </a:prstGeom>
        </p:spPr>
      </p:pic>
      <p:sp>
        <p:nvSpPr>
          <p:cNvPr id="21" name="Text 14"/>
          <p:cNvSpPr txBox="1"/>
          <p:nvPr/>
        </p:nvSpPr>
        <p:spPr>
          <a:xfrm>
            <a:off x="6629400" y="4242816"/>
            <a:ext cx="4828032"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Year-on-year changes flagged for review</a:t>
            </a:r>
            <a:endParaRPr lang="en-US" sz="1500" dirty="0"/>
          </a:p>
        </p:txBody>
      </p:sp>
      <p:sp>
        <p:nvSpPr>
          <p:cNvPr id="22" name="Text 15"/>
          <p:cNvSpPr txBox="1"/>
          <p:nvPr/>
        </p:nvSpPr>
        <p:spPr>
          <a:xfrm>
            <a:off x="6080760" y="4818888"/>
            <a:ext cx="3840480" cy="29260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University of Birmingham  </a:t>
            </a:r>
            <a:pPr indent="0" marL="0">
              <a:buNone/>
            </a:pPr>
            <a:r>
              <a:rPr lang="en-US" sz="1200" dirty="0">
                <a:solidFill>
                  <a:srgbClr val="8C9AAB"/>
                </a:solidFill>
                <a:latin typeface="Calibri" pitchFamily="34" charset="0"/>
                <a:ea typeface="Calibri" pitchFamily="34" charset="-122"/>
                <a:cs typeface="Calibri" pitchFamily="34" charset="-120"/>
              </a:rPr>
              <a:t>Medicine MBChB</a:t>
            </a:r>
            <a:endParaRPr lang="en-US" sz="1200" dirty="0"/>
          </a:p>
        </p:txBody>
      </p:sp>
      <p:sp>
        <p:nvSpPr>
          <p:cNvPr id="23" name="Text 16"/>
          <p:cNvSpPr txBox="1"/>
          <p:nvPr/>
        </p:nvSpPr>
        <p:spPr>
          <a:xfrm>
            <a:off x="9921240" y="4818888"/>
            <a:ext cx="1463040" cy="292608"/>
          </a:xfrm>
          <a:prstGeom prst="rect">
            <a:avLst/>
          </a:prstGeom>
          <a:noFill/>
          <a:ln/>
        </p:spPr>
        <p:txBody>
          <a:bodyPr wrap="square" lIns="0" tIns="0" rIns="0" bIns="0" rtlCol="0" anchor="ctr"/>
          <a:lstStyle/>
          <a:p>
            <a:pPr algn="r" indent="0" marL="0">
              <a:buNone/>
            </a:pPr>
            <a:r>
              <a:rPr lang="en-US" sz="1200" b="1" dirty="0">
                <a:solidFill>
                  <a:srgbClr val="C79E41"/>
                </a:solidFill>
                <a:latin typeface="Calibri" pitchFamily="34" charset="0"/>
                <a:ea typeface="Calibri" pitchFamily="34" charset="-122"/>
                <a:cs typeface="Calibri" pitchFamily="34" charset="-120"/>
              </a:rPr>
              <a:t>A*AA to AAA</a:t>
            </a:r>
            <a:endParaRPr lang="en-US" sz="1200" dirty="0"/>
          </a:p>
        </p:txBody>
      </p:sp>
      <p:sp>
        <p:nvSpPr>
          <p:cNvPr id="24" name="Text 17"/>
          <p:cNvSpPr txBox="1"/>
          <p:nvPr/>
        </p:nvSpPr>
        <p:spPr>
          <a:xfrm>
            <a:off x="6080760" y="5148072"/>
            <a:ext cx="3840480" cy="29260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Durham University  </a:t>
            </a:r>
            <a:pPr indent="0" marL="0">
              <a:buNone/>
            </a:pPr>
            <a:r>
              <a:rPr lang="en-US" sz="1200" dirty="0">
                <a:solidFill>
                  <a:srgbClr val="8C9AAB"/>
                </a:solidFill>
                <a:latin typeface="Calibri" pitchFamily="34" charset="0"/>
                <a:ea typeface="Calibri" pitchFamily="34" charset="-122"/>
                <a:cs typeface="Calibri" pitchFamily="34" charset="-120"/>
              </a:rPr>
              <a:t>Law LLB (Hons)</a:t>
            </a:r>
            <a:endParaRPr lang="en-US" sz="1200" dirty="0"/>
          </a:p>
        </p:txBody>
      </p:sp>
      <p:sp>
        <p:nvSpPr>
          <p:cNvPr id="25" name="Text 18"/>
          <p:cNvSpPr txBox="1"/>
          <p:nvPr/>
        </p:nvSpPr>
        <p:spPr>
          <a:xfrm>
            <a:off x="9921240" y="5148072"/>
            <a:ext cx="1463040" cy="292608"/>
          </a:xfrm>
          <a:prstGeom prst="rect">
            <a:avLst/>
          </a:prstGeom>
          <a:noFill/>
          <a:ln/>
        </p:spPr>
        <p:txBody>
          <a:bodyPr wrap="square" lIns="0" tIns="0" rIns="0" bIns="0" rtlCol="0" anchor="ctr"/>
          <a:lstStyle/>
          <a:p>
            <a:pPr algn="r" indent="0" marL="0">
              <a:buNone/>
            </a:pPr>
            <a:r>
              <a:rPr lang="en-US" sz="1200" b="1" dirty="0">
                <a:solidFill>
                  <a:srgbClr val="C79E41"/>
                </a:solidFill>
                <a:latin typeface="Calibri" pitchFamily="34" charset="0"/>
                <a:ea typeface="Calibri" pitchFamily="34" charset="-122"/>
                <a:cs typeface="Calibri" pitchFamily="34" charset="-120"/>
              </a:rPr>
              <a:t>IB 38 to 37</a:t>
            </a:r>
            <a:endParaRPr lang="en-US" sz="1200" dirty="0"/>
          </a:p>
        </p:txBody>
      </p:sp>
      <p:sp>
        <p:nvSpPr>
          <p:cNvPr id="26" name="Text 19"/>
          <p:cNvSpPr txBox="1"/>
          <p:nvPr/>
        </p:nvSpPr>
        <p:spPr>
          <a:xfrm>
            <a:off x="6080760" y="5477256"/>
            <a:ext cx="3840480" cy="29260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Australian National University  </a:t>
            </a:r>
            <a:pPr indent="0" marL="0">
              <a:buNone/>
            </a:pPr>
            <a:r>
              <a:rPr lang="en-US" sz="1200" dirty="0">
                <a:solidFill>
                  <a:srgbClr val="8C9AAB"/>
                </a:solidFill>
                <a:latin typeface="Calibri" pitchFamily="34" charset="0"/>
                <a:ea typeface="Calibri" pitchFamily="34" charset="-122"/>
                <a:cs typeface="Calibri" pitchFamily="34" charset="-120"/>
              </a:rPr>
              <a:t>BComp</a:t>
            </a:r>
            <a:endParaRPr lang="en-US" sz="1200" dirty="0"/>
          </a:p>
        </p:txBody>
      </p:sp>
      <p:sp>
        <p:nvSpPr>
          <p:cNvPr id="27" name="Text 20"/>
          <p:cNvSpPr txBox="1"/>
          <p:nvPr/>
        </p:nvSpPr>
        <p:spPr>
          <a:xfrm>
            <a:off x="9921240" y="5477256"/>
            <a:ext cx="1463040" cy="292608"/>
          </a:xfrm>
          <a:prstGeom prst="rect">
            <a:avLst/>
          </a:prstGeom>
          <a:noFill/>
          <a:ln/>
        </p:spPr>
        <p:txBody>
          <a:bodyPr wrap="square" lIns="0" tIns="0" rIns="0" bIns="0" rtlCol="0" anchor="ctr"/>
          <a:lstStyle/>
          <a:p>
            <a:pPr algn="r" indent="0" marL="0">
              <a:buNone/>
            </a:pPr>
            <a:r>
              <a:rPr lang="en-US" sz="1200" b="1" dirty="0">
                <a:solidFill>
                  <a:srgbClr val="C79E41"/>
                </a:solidFill>
                <a:latin typeface="Calibri" pitchFamily="34" charset="0"/>
                <a:ea typeface="Calibri" pitchFamily="34" charset="-122"/>
                <a:cs typeface="Calibri" pitchFamily="34" charset="-120"/>
              </a:rPr>
              <a:t>IB 30 to 31</a:t>
            </a:r>
            <a:endParaRPr lang="en-US" sz="1200" dirty="0"/>
          </a:p>
        </p:txBody>
      </p:sp>
      <p:sp>
        <p:nvSpPr>
          <p:cNvPr id="28" name="Text 21"/>
          <p:cNvSpPr txBox="1"/>
          <p:nvPr/>
        </p:nvSpPr>
        <p:spPr>
          <a:xfrm>
            <a:off x="6080760" y="5824728"/>
            <a:ext cx="5285232" cy="411480"/>
          </a:xfrm>
          <a:prstGeom prst="rect">
            <a:avLst/>
          </a:prstGeom>
          <a:noFill/>
          <a:ln/>
        </p:spPr>
        <p:txBody>
          <a:bodyPr wrap="square" lIns="0" tIns="0" rIns="0" bIns="0" rtlCol="0" anchor="t"/>
          <a:lstStyle/>
          <a:p>
            <a:pPr indent="0" marL="0">
              <a:buNone/>
            </a:pPr>
            <a:r>
              <a:rPr lang="en-US" sz="1000" dirty="0">
                <a:solidFill>
                  <a:srgbClr val="8C9AAB"/>
                </a:solidFill>
                <a:latin typeface="Calibri" pitchFamily="34" charset="0"/>
                <a:ea typeface="Calibri" pitchFamily="34" charset="-122"/>
                <a:cs typeface="Calibri" pitchFamily="34" charset="-120"/>
              </a:rPr>
              <a:t>Each university's current page is compared with last year's archived copy. Staff review each change; families are never notified automatically.</a:t>
            </a:r>
            <a:endParaRPr lang="en-US" sz="1000" dirty="0"/>
          </a:p>
        </p:txBody>
      </p:sp>
      <p:sp>
        <p:nvSpPr>
          <p:cNvPr id="29" name="Text 22"/>
          <p:cNvSpPr txBox="1"/>
          <p:nvPr/>
        </p:nvSpPr>
        <p:spPr>
          <a:xfrm>
            <a:off x="9814255" y="6473952"/>
            <a:ext cx="1828800" cy="201168"/>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Horizon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28600"/>
          </a:xfrm>
          <a:prstGeom prst="rect">
            <a:avLst/>
          </a:prstGeom>
          <a:noFill/>
          <a:ln/>
        </p:spPr>
        <p:txBody>
          <a:bodyPr wrap="square" lIns="0" tIns="0" rIns="0" bIns="0" rtlCol="0" anchor="ctr"/>
          <a:lstStyle/>
          <a:p>
            <a:pPr indent="0" marL="0">
              <a:buNone/>
            </a:pPr>
            <a:r>
              <a:rPr lang="en-US" sz="1100" b="1" spc="300" kern="0" dirty="0">
                <a:solidFill>
                  <a:srgbClr val="05437A"/>
                </a:solidFill>
                <a:latin typeface="Calibri" pitchFamily="34" charset="0"/>
                <a:ea typeface="Calibri" pitchFamily="34" charset="-122"/>
                <a:cs typeface="Calibri" pitchFamily="34" charset="-120"/>
              </a:rPr>
              <a:t>ONBOARDING</a:t>
            </a:r>
            <a:endParaRPr lang="en-US" sz="1100" dirty="0"/>
          </a:p>
        </p:txBody>
      </p:sp>
      <p:sp>
        <p:nvSpPr>
          <p:cNvPr id="3" name="Text 1"/>
          <p:cNvSpPr txBox="1"/>
          <p:nvPr/>
        </p:nvSpPr>
        <p:spPr>
          <a:xfrm>
            <a:off x="548640" y="411480"/>
            <a:ext cx="10972800" cy="731520"/>
          </a:xfrm>
          <a:prstGeom prst="rect">
            <a:avLst/>
          </a:prstGeom>
          <a:noFill/>
          <a:ln/>
        </p:spPr>
        <p:txBody>
          <a:bodyPr wrap="square" lIns="0" tIns="0" rIns="0" bIns="0" rtlCol="0" anchor="t"/>
          <a:lstStyle/>
          <a:p>
            <a:pPr indent="0" marL="0">
              <a:buNone/>
            </a:pPr>
            <a:r>
              <a:rPr lang="en-US" sz="3000" b="1" dirty="0">
                <a:solidFill>
                  <a:srgbClr val="10171F"/>
                </a:solidFill>
                <a:latin typeface="Cambria" pitchFamily="34" charset="0"/>
                <a:ea typeface="Cambria" pitchFamily="34" charset="-122"/>
                <a:cs typeface="Cambria" pitchFamily="34" charset="-120"/>
              </a:rPr>
              <a:t>Live in a day, set up by the school itself</a:t>
            </a:r>
            <a:endParaRPr lang="en-US" sz="3000" dirty="0"/>
          </a:p>
        </p:txBody>
      </p:sp>
      <p:sp>
        <p:nvSpPr>
          <p:cNvPr id="4" name="Shape 2"/>
          <p:cNvSpPr/>
          <p:nvPr/>
        </p:nvSpPr>
        <p:spPr>
          <a:xfrm>
            <a:off x="548640" y="1234440"/>
            <a:ext cx="384048" cy="384048"/>
          </a:xfrm>
          <a:prstGeom prst="ellipse">
            <a:avLst/>
          </a:prstGeom>
          <a:solidFill>
            <a:srgbClr val="E3F0FF"/>
          </a:solidFill>
          <a:ln w="12700">
            <a:solidFill>
              <a:srgbClr val="E3F0FF"/>
            </a:solidFill>
            <a:prstDash val="solid"/>
          </a:ln>
        </p:spPr>
      </p:sp>
      <p:pic>
        <p:nvPicPr>
          <p:cNvPr id="5" name="Image 0" descr="preencoded.png">    </p:cNvPr>
          <p:cNvPicPr>
            <a:picLocks noChangeAspect="1"/>
          </p:cNvPicPr>
          <p:nvPr/>
        </p:nvPicPr>
        <p:blipFill>
          <a:blip r:embed="rId1"/>
          <a:stretch>
            <a:fillRect/>
          </a:stretch>
        </p:blipFill>
        <p:spPr>
          <a:xfrm>
            <a:off x="640080" y="1325880"/>
            <a:ext cx="201168" cy="201168"/>
          </a:xfrm>
          <a:prstGeom prst="rect">
            <a:avLst/>
          </a:prstGeom>
        </p:spPr>
      </p:pic>
      <p:sp>
        <p:nvSpPr>
          <p:cNvPr id="6" name="Text 3"/>
          <p:cNvSpPr txBox="1"/>
          <p:nvPr/>
        </p:nvSpPr>
        <p:spPr>
          <a:xfrm>
            <a:off x="1051560" y="1197864"/>
            <a:ext cx="2999232" cy="868680"/>
          </a:xfrm>
          <a:prstGeom prst="rect">
            <a:avLst/>
          </a:prstGeom>
          <a:noFill/>
          <a:ln/>
        </p:spPr>
        <p:txBody>
          <a:bodyPr wrap="square" lIns="0" tIns="0" rIns="0" bIns="0" rtlCol="0" anchor="t"/>
          <a:lstStyle/>
          <a:p>
            <a:pPr indent="0" marL="0">
              <a:buNone/>
            </a:pPr>
            <a:r>
              <a:rPr lang="en-US" sz="1300" b="1" dirty="0">
                <a:solidFill>
                  <a:srgbClr val="10171F"/>
                </a:solidFill>
                <a:latin typeface="Calibri" pitchFamily="34" charset="0"/>
                <a:ea typeface="Calibri" pitchFamily="34" charset="-122"/>
                <a:cs typeface="Calibri" pitchFamily="34" charset="-120"/>
              </a:rPr>
              <a:t>Self-serve sign-up</a:t>
            </a:r>
            <a:endParaRPr lang="en-US" sz="1300" dirty="0"/>
          </a:p>
          <a:p>
            <a:pPr indent="0" marL="0">
              <a:buNone/>
            </a:pPr>
            <a:r>
              <a:rPr lang="en-US" sz="1050" dirty="0">
                <a:solidFill>
                  <a:srgbClr val="616A75"/>
                </a:solidFill>
                <a:latin typeface="Calibri" pitchFamily="34" charset="0"/>
                <a:ea typeface="Calibri" pitchFamily="34" charset="-122"/>
                <a:cs typeface="Calibri" pitchFamily="34" charset="-120"/>
              </a:rPr>
              <a:t>Names in English and Arabic, emirate and curricula. A complete working school is created instantly.</a:t>
            </a:r>
            <a:endParaRPr lang="en-US" sz="1300" dirty="0"/>
          </a:p>
        </p:txBody>
      </p:sp>
      <p:sp>
        <p:nvSpPr>
          <p:cNvPr id="7" name="Shape 4"/>
          <p:cNvSpPr/>
          <p:nvPr/>
        </p:nvSpPr>
        <p:spPr>
          <a:xfrm>
            <a:off x="4320540" y="1234440"/>
            <a:ext cx="384048" cy="384048"/>
          </a:xfrm>
          <a:prstGeom prst="ellipse">
            <a:avLst/>
          </a:prstGeom>
          <a:solidFill>
            <a:srgbClr val="E3F0FF"/>
          </a:solidFill>
          <a:ln w="12700">
            <a:solidFill>
              <a:srgbClr val="E3F0FF"/>
            </a:solidFill>
            <a:prstDash val="solid"/>
          </a:ln>
        </p:spPr>
      </p:sp>
      <p:pic>
        <p:nvPicPr>
          <p:cNvPr id="8" name="Image 1" descr="preencoded.png">    </p:cNvPr>
          <p:cNvPicPr>
            <a:picLocks noChangeAspect="1"/>
          </p:cNvPicPr>
          <p:nvPr/>
        </p:nvPicPr>
        <p:blipFill>
          <a:blip r:embed="rId2"/>
          <a:stretch>
            <a:fillRect/>
          </a:stretch>
        </p:blipFill>
        <p:spPr>
          <a:xfrm>
            <a:off x="4411980" y="1325880"/>
            <a:ext cx="201168" cy="201168"/>
          </a:xfrm>
          <a:prstGeom prst="rect">
            <a:avLst/>
          </a:prstGeom>
        </p:spPr>
      </p:pic>
      <p:sp>
        <p:nvSpPr>
          <p:cNvPr id="9" name="Text 5"/>
          <p:cNvSpPr txBox="1"/>
          <p:nvPr/>
        </p:nvSpPr>
        <p:spPr>
          <a:xfrm>
            <a:off x="4823460" y="1197864"/>
            <a:ext cx="2999232" cy="868680"/>
          </a:xfrm>
          <a:prstGeom prst="rect">
            <a:avLst/>
          </a:prstGeom>
          <a:noFill/>
          <a:ln/>
        </p:spPr>
        <p:txBody>
          <a:bodyPr wrap="square" lIns="0" tIns="0" rIns="0" bIns="0" rtlCol="0" anchor="t"/>
          <a:lstStyle/>
          <a:p>
            <a:pPr indent="0" marL="0">
              <a:buNone/>
            </a:pPr>
            <a:r>
              <a:rPr lang="en-US" sz="1300" b="1" dirty="0">
                <a:solidFill>
                  <a:srgbClr val="10171F"/>
                </a:solidFill>
                <a:latin typeface="Calibri" pitchFamily="34" charset="0"/>
                <a:ea typeface="Calibri" pitchFamily="34" charset="-122"/>
                <a:cs typeface="Calibri" pitchFamily="34" charset="-120"/>
              </a:rPr>
              <a:t>Setup wizard and brand</a:t>
            </a:r>
            <a:endParaRPr lang="en-US" sz="1300" dirty="0"/>
          </a:p>
          <a:p>
            <a:pPr indent="0" marL="0">
              <a:buNone/>
            </a:pPr>
            <a:r>
              <a:rPr lang="en-US" sz="1050" dirty="0">
                <a:solidFill>
                  <a:srgbClr val="616A75"/>
                </a:solidFill>
                <a:latin typeface="Calibri" pitchFamily="34" charset="0"/>
                <a:ea typeface="Calibri" pitchFamily="34" charset="-122"/>
                <a:cs typeface="Calibri" pitchFamily="34" charset="-120"/>
              </a:rPr>
              <a:t>Seven short steps, skip and resume any time. Logo and colors change the whole app live.</a:t>
            </a:r>
            <a:endParaRPr lang="en-US" sz="1300" dirty="0"/>
          </a:p>
        </p:txBody>
      </p:sp>
      <p:sp>
        <p:nvSpPr>
          <p:cNvPr id="10" name="Shape 6"/>
          <p:cNvSpPr/>
          <p:nvPr/>
        </p:nvSpPr>
        <p:spPr>
          <a:xfrm>
            <a:off x="8092440" y="1234440"/>
            <a:ext cx="384048" cy="384048"/>
          </a:xfrm>
          <a:prstGeom prst="ellipse">
            <a:avLst/>
          </a:prstGeom>
          <a:solidFill>
            <a:srgbClr val="E3F0FF"/>
          </a:solidFill>
          <a:ln w="12700">
            <a:solidFill>
              <a:srgbClr val="E3F0FF"/>
            </a:solidFill>
            <a:prstDash val="solid"/>
          </a:ln>
        </p:spPr>
      </p:sp>
      <p:pic>
        <p:nvPicPr>
          <p:cNvPr id="11" name="Image 2" descr="preencoded.png">    </p:cNvPr>
          <p:cNvPicPr>
            <a:picLocks noChangeAspect="1"/>
          </p:cNvPicPr>
          <p:nvPr/>
        </p:nvPicPr>
        <p:blipFill>
          <a:blip r:embed="rId3"/>
          <a:stretch>
            <a:fillRect/>
          </a:stretch>
        </p:blipFill>
        <p:spPr>
          <a:xfrm>
            <a:off x="8183880" y="1325880"/>
            <a:ext cx="201168" cy="201168"/>
          </a:xfrm>
          <a:prstGeom prst="rect">
            <a:avLst/>
          </a:prstGeom>
        </p:spPr>
      </p:pic>
      <p:sp>
        <p:nvSpPr>
          <p:cNvPr id="12" name="Text 7"/>
          <p:cNvSpPr txBox="1"/>
          <p:nvPr/>
        </p:nvSpPr>
        <p:spPr>
          <a:xfrm>
            <a:off x="8595360" y="1197864"/>
            <a:ext cx="2999232" cy="868680"/>
          </a:xfrm>
          <a:prstGeom prst="rect">
            <a:avLst/>
          </a:prstGeom>
          <a:noFill/>
          <a:ln/>
        </p:spPr>
        <p:txBody>
          <a:bodyPr wrap="square" lIns="0" tIns="0" rIns="0" bIns="0" rtlCol="0" anchor="t"/>
          <a:lstStyle/>
          <a:p>
            <a:pPr indent="0" marL="0">
              <a:buNone/>
            </a:pPr>
            <a:r>
              <a:rPr lang="en-US" sz="1300" b="1" dirty="0">
                <a:solidFill>
                  <a:srgbClr val="10171F"/>
                </a:solidFill>
                <a:latin typeface="Calibri" pitchFamily="34" charset="0"/>
                <a:ea typeface="Calibri" pitchFamily="34" charset="-122"/>
                <a:cs typeface="Calibri" pitchFamily="34" charset="-120"/>
              </a:rPr>
              <a:t>Import center</a:t>
            </a:r>
            <a:endParaRPr lang="en-US" sz="1300" dirty="0"/>
          </a:p>
          <a:p>
            <a:pPr indent="0" marL="0">
              <a:buNone/>
            </a:pPr>
            <a:r>
              <a:rPr lang="en-US" sz="1050" dirty="0">
                <a:solidFill>
                  <a:srgbClr val="616A75"/>
                </a:solidFill>
                <a:latin typeface="Calibri" pitchFamily="34" charset="0"/>
                <a:ea typeface="Calibri" pitchFamily="34" charset="-122"/>
                <a:cs typeface="Calibri" pitchFamily="34" charset="-120"/>
              </a:rPr>
              <a:t>Staff, students and guardians, classes, enrollments and subject choices from CSV or Excel, with bilingual templates.</a:t>
            </a:r>
            <a:endParaRPr lang="en-US" sz="1300" dirty="0"/>
          </a:p>
        </p:txBody>
      </p:sp>
      <p:sp>
        <p:nvSpPr>
          <p:cNvPr id="13" name="Shape 8"/>
          <p:cNvSpPr/>
          <p:nvPr/>
        </p:nvSpPr>
        <p:spPr>
          <a:xfrm>
            <a:off x="548640" y="2148840"/>
            <a:ext cx="384048" cy="384048"/>
          </a:xfrm>
          <a:prstGeom prst="ellipse">
            <a:avLst/>
          </a:prstGeom>
          <a:solidFill>
            <a:srgbClr val="E3F0FF"/>
          </a:solidFill>
          <a:ln w="12700">
            <a:solidFill>
              <a:srgbClr val="E3F0FF"/>
            </a:solidFill>
            <a:prstDash val="solid"/>
          </a:ln>
        </p:spPr>
      </p:sp>
      <p:pic>
        <p:nvPicPr>
          <p:cNvPr id="14" name="Image 3" descr="preencoded.png">    </p:cNvPr>
          <p:cNvPicPr>
            <a:picLocks noChangeAspect="1"/>
          </p:cNvPicPr>
          <p:nvPr/>
        </p:nvPicPr>
        <p:blipFill>
          <a:blip r:embed="rId4"/>
          <a:stretch>
            <a:fillRect/>
          </a:stretch>
        </p:blipFill>
        <p:spPr>
          <a:xfrm>
            <a:off x="640080" y="2240280"/>
            <a:ext cx="201168" cy="201168"/>
          </a:xfrm>
          <a:prstGeom prst="rect">
            <a:avLst/>
          </a:prstGeom>
        </p:spPr>
      </p:pic>
      <p:sp>
        <p:nvSpPr>
          <p:cNvPr id="15" name="Text 9"/>
          <p:cNvSpPr txBox="1"/>
          <p:nvPr/>
        </p:nvSpPr>
        <p:spPr>
          <a:xfrm>
            <a:off x="1051560" y="2112264"/>
            <a:ext cx="2999232" cy="868680"/>
          </a:xfrm>
          <a:prstGeom prst="rect">
            <a:avLst/>
          </a:prstGeom>
          <a:noFill/>
          <a:ln/>
        </p:spPr>
        <p:txBody>
          <a:bodyPr wrap="square" lIns="0" tIns="0" rIns="0" bIns="0" rtlCol="0" anchor="t"/>
          <a:lstStyle/>
          <a:p>
            <a:pPr indent="0" marL="0">
              <a:buNone/>
            </a:pPr>
            <a:r>
              <a:rPr lang="en-US" sz="1300" b="1" dirty="0">
                <a:solidFill>
                  <a:srgbClr val="10171F"/>
                </a:solidFill>
                <a:latin typeface="Calibri" pitchFamily="34" charset="0"/>
                <a:ea typeface="Calibri" pitchFamily="34" charset="-122"/>
                <a:cs typeface="Calibri" pitchFamily="34" charset="-120"/>
              </a:rPr>
              <a:t>Checked before saving</a:t>
            </a:r>
            <a:endParaRPr lang="en-US" sz="1300" dirty="0"/>
          </a:p>
          <a:p>
            <a:pPr indent="0" marL="0">
              <a:buNone/>
            </a:pPr>
            <a:r>
              <a:rPr lang="en-US" sz="1050" dirty="0">
                <a:solidFill>
                  <a:srgbClr val="616A75"/>
                </a:solidFill>
                <a:latin typeface="Calibri" pitchFamily="34" charset="0"/>
                <a:ea typeface="Calibri" pitchFamily="34" charset="-122"/>
                <a:cs typeface="Calibri" pitchFamily="34" charset="-120"/>
              </a:rPr>
              <a:t>Every row is previewed with its errors first. Re-imports update and never duplicate, and never remove staff roles.</a:t>
            </a:r>
            <a:endParaRPr lang="en-US" sz="1300" dirty="0"/>
          </a:p>
        </p:txBody>
      </p:sp>
      <p:sp>
        <p:nvSpPr>
          <p:cNvPr id="16" name="Shape 10"/>
          <p:cNvSpPr/>
          <p:nvPr/>
        </p:nvSpPr>
        <p:spPr>
          <a:xfrm>
            <a:off x="4320540" y="2148840"/>
            <a:ext cx="384048" cy="384048"/>
          </a:xfrm>
          <a:prstGeom prst="ellipse">
            <a:avLst/>
          </a:prstGeom>
          <a:solidFill>
            <a:srgbClr val="E3F0FF"/>
          </a:solidFill>
          <a:ln w="12700">
            <a:solidFill>
              <a:srgbClr val="E3F0FF"/>
            </a:solidFill>
            <a:prstDash val="solid"/>
          </a:ln>
        </p:spPr>
      </p:sp>
      <p:pic>
        <p:nvPicPr>
          <p:cNvPr id="17" name="Image 4" descr="preencoded.png">    </p:cNvPr>
          <p:cNvPicPr>
            <a:picLocks noChangeAspect="1"/>
          </p:cNvPicPr>
          <p:nvPr/>
        </p:nvPicPr>
        <p:blipFill>
          <a:blip r:embed="rId5"/>
          <a:stretch>
            <a:fillRect/>
          </a:stretch>
        </p:blipFill>
        <p:spPr>
          <a:xfrm>
            <a:off x="4411980" y="2240280"/>
            <a:ext cx="201168" cy="201168"/>
          </a:xfrm>
          <a:prstGeom prst="rect">
            <a:avLst/>
          </a:prstGeom>
        </p:spPr>
      </p:pic>
      <p:sp>
        <p:nvSpPr>
          <p:cNvPr id="18" name="Text 11"/>
          <p:cNvSpPr txBox="1"/>
          <p:nvPr/>
        </p:nvSpPr>
        <p:spPr>
          <a:xfrm>
            <a:off x="4823460" y="2112264"/>
            <a:ext cx="2999232" cy="868680"/>
          </a:xfrm>
          <a:prstGeom prst="rect">
            <a:avLst/>
          </a:prstGeom>
          <a:noFill/>
          <a:ln/>
        </p:spPr>
        <p:txBody>
          <a:bodyPr wrap="square" lIns="0" tIns="0" rIns="0" bIns="0" rtlCol="0" anchor="t"/>
          <a:lstStyle/>
          <a:p>
            <a:pPr indent="0" marL="0">
              <a:buNone/>
            </a:pPr>
            <a:r>
              <a:rPr lang="en-US" sz="1300" b="1" dirty="0">
                <a:solidFill>
                  <a:srgbClr val="10171F"/>
                </a:solidFill>
                <a:latin typeface="Calibri" pitchFamily="34" charset="0"/>
                <a:ea typeface="Calibri" pitchFamily="34" charset="-122"/>
                <a:cs typeface="Calibri" pitchFamily="34" charset="-120"/>
              </a:rPr>
              <a:t>Sign-in your way</a:t>
            </a:r>
            <a:endParaRPr lang="en-US" sz="1300" dirty="0"/>
          </a:p>
          <a:p>
            <a:pPr indent="0" marL="0">
              <a:buNone/>
            </a:pPr>
            <a:r>
              <a:rPr lang="en-US" sz="1050" dirty="0">
                <a:solidFill>
                  <a:srgbClr val="616A75"/>
                </a:solidFill>
                <a:latin typeface="Calibri" pitchFamily="34" charset="0"/>
                <a:ea typeface="Calibri" pitchFamily="34" charset="-122"/>
                <a:cs typeface="Calibri" pitchFamily="34" charset="-120"/>
              </a:rPr>
              <a:t>Email and password, plus Google or Microsoft 365 when the school turns them on.</a:t>
            </a:r>
            <a:endParaRPr lang="en-US" sz="1300" dirty="0"/>
          </a:p>
        </p:txBody>
      </p:sp>
      <p:sp>
        <p:nvSpPr>
          <p:cNvPr id="19" name="Shape 12"/>
          <p:cNvSpPr/>
          <p:nvPr/>
        </p:nvSpPr>
        <p:spPr>
          <a:xfrm>
            <a:off x="8092440" y="2148840"/>
            <a:ext cx="384048" cy="384048"/>
          </a:xfrm>
          <a:prstGeom prst="ellipse">
            <a:avLst/>
          </a:prstGeom>
          <a:solidFill>
            <a:srgbClr val="E3F0FF"/>
          </a:solidFill>
          <a:ln w="12700">
            <a:solidFill>
              <a:srgbClr val="E3F0FF"/>
            </a:solidFill>
            <a:prstDash val="solid"/>
          </a:ln>
        </p:spPr>
      </p:sp>
      <p:pic>
        <p:nvPicPr>
          <p:cNvPr id="20" name="Image 5" descr="preencoded.png">    </p:cNvPr>
          <p:cNvPicPr>
            <a:picLocks noChangeAspect="1"/>
          </p:cNvPicPr>
          <p:nvPr/>
        </p:nvPicPr>
        <p:blipFill>
          <a:blip r:embed="rId6"/>
          <a:stretch>
            <a:fillRect/>
          </a:stretch>
        </p:blipFill>
        <p:spPr>
          <a:xfrm>
            <a:off x="8183880" y="2240280"/>
            <a:ext cx="201168" cy="201168"/>
          </a:xfrm>
          <a:prstGeom prst="rect">
            <a:avLst/>
          </a:prstGeom>
        </p:spPr>
      </p:pic>
      <p:sp>
        <p:nvSpPr>
          <p:cNvPr id="21" name="Text 13"/>
          <p:cNvSpPr txBox="1"/>
          <p:nvPr/>
        </p:nvSpPr>
        <p:spPr>
          <a:xfrm>
            <a:off x="8595360" y="2112264"/>
            <a:ext cx="2999232" cy="868680"/>
          </a:xfrm>
          <a:prstGeom prst="rect">
            <a:avLst/>
          </a:prstGeom>
          <a:noFill/>
          <a:ln/>
        </p:spPr>
        <p:txBody>
          <a:bodyPr wrap="square" lIns="0" tIns="0" rIns="0" bIns="0" rtlCol="0" anchor="t"/>
          <a:lstStyle/>
          <a:p>
            <a:pPr indent="0" marL="0">
              <a:buNone/>
            </a:pPr>
            <a:r>
              <a:rPr lang="en-US" sz="1300" b="1" dirty="0">
                <a:solidFill>
                  <a:srgbClr val="10171F"/>
                </a:solidFill>
                <a:latin typeface="Calibri" pitchFamily="34" charset="0"/>
                <a:ea typeface="Calibri" pitchFamily="34" charset="-122"/>
                <a:cs typeface="Calibri" pitchFamily="34" charset="-120"/>
              </a:rPr>
              <a:t>Family join code</a:t>
            </a:r>
            <a:endParaRPr lang="en-US" sz="1300" dirty="0"/>
          </a:p>
          <a:p>
            <a:pPr indent="0" marL="0">
              <a:buNone/>
            </a:pPr>
            <a:r>
              <a:rPr lang="en-US" sz="1050" dirty="0">
                <a:solidFill>
                  <a:srgbClr val="616A75"/>
                </a:solidFill>
                <a:latin typeface="Calibri" pitchFamily="34" charset="0"/>
                <a:ea typeface="Calibri" pitchFamily="34" charset="-122"/>
                <a:cs typeface="Calibri" pitchFamily="34" charset="-120"/>
              </a:rPr>
              <a:t>A printable poster with a QR code. Parents verify each child with student number and date of birth.</a:t>
            </a:r>
            <a:endParaRPr lang="en-US" sz="1300" dirty="0"/>
          </a:p>
        </p:txBody>
      </p:sp>
      <p:sp>
        <p:nvSpPr>
          <p:cNvPr id="22" name="Shape 14"/>
          <p:cNvSpPr/>
          <p:nvPr/>
        </p:nvSpPr>
        <p:spPr>
          <a:xfrm>
            <a:off x="548640" y="3200400"/>
            <a:ext cx="5943600" cy="3117875"/>
          </a:xfrm>
          <a:prstGeom prst="roundRect">
            <a:avLst>
              <a:gd name="adj" fmla="val 2053"/>
            </a:avLst>
          </a:prstGeom>
          <a:solidFill>
            <a:srgbClr val="FFFFFF"/>
          </a:solidFill>
          <a:ln w="9525">
            <a:solidFill>
              <a:srgbClr val="DFE3E8"/>
            </a:solidFill>
            <a:prstDash val="solid"/>
          </a:ln>
          <a:effectLst>
            <a:outerShdw sx="100000" sy="100000" kx="0" ky="0" algn="bl" rotWithShape="0" blurRad="177800" dist="63500" dir="5400000">
              <a:srgbClr val="0C182A">
                <a:alpha val="16000"/>
              </a:srgbClr>
            </a:outerShdw>
          </a:effectLst>
        </p:spPr>
      </p:sp>
      <p:sp>
        <p:nvSpPr>
          <p:cNvPr id="23" name="Shape 15"/>
          <p:cNvSpPr/>
          <p:nvPr/>
        </p:nvSpPr>
        <p:spPr>
          <a:xfrm>
            <a:off x="658368" y="3268980"/>
            <a:ext cx="77724" cy="77724"/>
          </a:xfrm>
          <a:prstGeom prst="ellipse">
            <a:avLst/>
          </a:prstGeom>
          <a:solidFill>
            <a:srgbClr val="E5776E"/>
          </a:solidFill>
          <a:ln w="12700">
            <a:solidFill>
              <a:srgbClr val="E5776E"/>
            </a:solidFill>
            <a:prstDash val="solid"/>
          </a:ln>
        </p:spPr>
      </p:sp>
      <p:sp>
        <p:nvSpPr>
          <p:cNvPr id="24" name="Shape 16"/>
          <p:cNvSpPr/>
          <p:nvPr/>
        </p:nvSpPr>
        <p:spPr>
          <a:xfrm>
            <a:off x="777240" y="3268980"/>
            <a:ext cx="77724" cy="77724"/>
          </a:xfrm>
          <a:prstGeom prst="ellipse">
            <a:avLst/>
          </a:prstGeom>
          <a:solidFill>
            <a:srgbClr val="E8C35A"/>
          </a:solidFill>
          <a:ln w="12700">
            <a:solidFill>
              <a:srgbClr val="E8C35A"/>
            </a:solidFill>
            <a:prstDash val="solid"/>
          </a:ln>
        </p:spPr>
      </p:sp>
      <p:sp>
        <p:nvSpPr>
          <p:cNvPr id="25" name="Shape 17"/>
          <p:cNvSpPr/>
          <p:nvPr/>
        </p:nvSpPr>
        <p:spPr>
          <a:xfrm>
            <a:off x="896112" y="3268980"/>
            <a:ext cx="77724" cy="77724"/>
          </a:xfrm>
          <a:prstGeom prst="ellipse">
            <a:avLst/>
          </a:prstGeom>
          <a:solidFill>
            <a:srgbClr val="6CC08A"/>
          </a:solidFill>
          <a:ln w="12700">
            <a:solidFill>
              <a:srgbClr val="6CC08A"/>
            </a:solidFill>
            <a:prstDash val="solid"/>
          </a:ln>
        </p:spPr>
      </p:sp>
      <p:pic>
        <p:nvPicPr>
          <p:cNvPr id="26" name="Image 6" descr="/tmp/claude-0/-home-user-School/397e64b2-6645-56da-9972-e1722fae0ce6/scratchpad/sales/imgdeck/c-import.jpg">    </p:cNvPr>
          <p:cNvPicPr>
            <a:picLocks noChangeAspect="1"/>
          </p:cNvPicPr>
          <p:nvPr/>
        </p:nvPicPr>
        <p:blipFill>
          <a:blip r:embed="rId7"/>
          <a:stretch>
            <a:fillRect/>
          </a:stretch>
        </p:blipFill>
        <p:spPr>
          <a:xfrm>
            <a:off x="585216" y="3419856"/>
            <a:ext cx="5870448" cy="2861843"/>
          </a:xfrm>
          <a:prstGeom prst="rect">
            <a:avLst/>
          </a:prstGeom>
        </p:spPr>
      </p:pic>
      <p:sp>
        <p:nvSpPr>
          <p:cNvPr id="27" name="Text 18"/>
          <p:cNvSpPr txBox="1"/>
          <p:nvPr/>
        </p:nvSpPr>
        <p:spPr>
          <a:xfrm>
            <a:off x="548640" y="6355080"/>
            <a:ext cx="5943600" cy="228600"/>
          </a:xfrm>
          <a:prstGeom prst="rect">
            <a:avLst/>
          </a:prstGeom>
          <a:noFill/>
          <a:ln/>
        </p:spPr>
        <p:txBody>
          <a:bodyPr wrap="square" lIns="0" tIns="0" rIns="0" bIns="0" rtlCol="0" anchor="ctr"/>
          <a:lstStyle/>
          <a:p>
            <a:pPr indent="0" marL="0">
              <a:buNone/>
            </a:pPr>
            <a:r>
              <a:rPr lang="en-US" sz="1000" i="1" dirty="0">
                <a:solidFill>
                  <a:srgbClr val="616A75"/>
                </a:solidFill>
                <a:latin typeface="Calibri" pitchFamily="34" charset="0"/>
                <a:ea typeface="Calibri" pitchFamily="34" charset="-122"/>
                <a:cs typeface="Calibri" pitchFamily="34" charset="-120"/>
              </a:rPr>
              <a:t>Import preview: new, updated and invalid rows before anything is saved.</a:t>
            </a:r>
            <a:endParaRPr lang="en-US" sz="1000" dirty="0"/>
          </a:p>
        </p:txBody>
      </p:sp>
      <p:sp>
        <p:nvSpPr>
          <p:cNvPr id="28" name="Shape 19"/>
          <p:cNvSpPr/>
          <p:nvPr/>
        </p:nvSpPr>
        <p:spPr>
          <a:xfrm>
            <a:off x="6812280" y="3200400"/>
            <a:ext cx="2204386" cy="3118104"/>
          </a:xfrm>
          <a:prstGeom prst="rect">
            <a:avLst/>
          </a:prstGeom>
          <a:solidFill>
            <a:srgbClr val="FFFFFF"/>
          </a:solidFill>
          <a:ln w="9525">
            <a:solidFill>
              <a:srgbClr val="DFE3E8"/>
            </a:solidFill>
            <a:prstDash val="solid"/>
          </a:ln>
          <a:effectLst>
            <a:outerShdw sx="100000" sy="100000" kx="0" ky="0" algn="bl" rotWithShape="0" blurRad="127000" dist="50800" dir="5400000">
              <a:srgbClr val="0C182A">
                <a:alpha val="16000"/>
              </a:srgbClr>
            </a:outerShdw>
          </a:effectLst>
        </p:spPr>
      </p:sp>
      <p:pic>
        <p:nvPicPr>
          <p:cNvPr id="29" name="Image 7" descr="/tmp/claude-0/-home-user-School/397e64b2-6645-56da-9972-e1722fae0ce6/scratchpad/sales/imgdeck/letter.jpg">    </p:cNvPr>
          <p:cNvPicPr>
            <a:picLocks noChangeAspect="1"/>
          </p:cNvPicPr>
          <p:nvPr/>
        </p:nvPicPr>
        <p:blipFill>
          <a:blip r:embed="rId8"/>
          <a:stretch>
            <a:fillRect/>
          </a:stretch>
        </p:blipFill>
        <p:spPr>
          <a:xfrm>
            <a:off x="6812280" y="3200400"/>
            <a:ext cx="2204386" cy="3118104"/>
          </a:xfrm>
          <a:prstGeom prst="rect">
            <a:avLst/>
          </a:prstGeom>
        </p:spPr>
      </p:pic>
      <p:pic>
        <p:nvPicPr>
          <p:cNvPr id="30" name="Image 8" descr="preencoded.png">    </p:cNvPr>
          <p:cNvPicPr>
            <a:picLocks noChangeAspect="1"/>
          </p:cNvPicPr>
          <p:nvPr/>
        </p:nvPicPr>
        <p:blipFill>
          <a:blip r:embed="rId9"/>
          <a:stretch>
            <a:fillRect/>
          </a:stretch>
        </p:blipFill>
        <p:spPr>
          <a:xfrm>
            <a:off x="9336706" y="3246120"/>
            <a:ext cx="329184" cy="329184"/>
          </a:xfrm>
          <a:prstGeom prst="rect">
            <a:avLst/>
          </a:prstGeom>
        </p:spPr>
      </p:pic>
      <p:sp>
        <p:nvSpPr>
          <p:cNvPr id="31" name="Text 20"/>
          <p:cNvSpPr txBox="1"/>
          <p:nvPr/>
        </p:nvSpPr>
        <p:spPr>
          <a:xfrm>
            <a:off x="9336706" y="3703320"/>
            <a:ext cx="2303606" cy="2194560"/>
          </a:xfrm>
          <a:prstGeom prst="rect">
            <a:avLst/>
          </a:prstGeom>
          <a:noFill/>
          <a:ln/>
        </p:spPr>
        <p:txBody>
          <a:bodyPr wrap="square" lIns="0" tIns="0" rIns="0" bIns="0" rtlCol="0" anchor="t"/>
          <a:lstStyle/>
          <a:p>
            <a:pPr indent="0" marL="0">
              <a:spcAft>
                <a:spcPts val="400"/>
              </a:spcAft>
              <a:buNone/>
            </a:pPr>
            <a:r>
              <a:rPr lang="en-US" sz="1400" b="1" dirty="0">
                <a:solidFill>
                  <a:srgbClr val="10171F"/>
                </a:solidFill>
                <a:latin typeface="Calibri" pitchFamily="34" charset="0"/>
                <a:ea typeface="Calibri" pitchFamily="34" charset="-122"/>
                <a:cs typeface="Calibri" pitchFamily="34" charset="-120"/>
              </a:rPr>
              <a:t>Your school's identity on every document</a:t>
            </a:r>
            <a:endParaRPr lang="en-US" sz="1400" dirty="0"/>
          </a:p>
          <a:p>
            <a:pPr indent="0" marL="0">
              <a:spcAft>
                <a:spcPts val="400"/>
              </a:spcAft>
              <a:buNone/>
            </a:pPr>
            <a:r>
              <a:rPr lang="en-US" sz="1150" dirty="0">
                <a:solidFill>
                  <a:srgbClr val="616A75"/>
                </a:solidFill>
                <a:latin typeface="Calibri" pitchFamily="34" charset="0"/>
                <a:ea typeface="Calibri" pitchFamily="34" charset="-122"/>
                <a:cs typeface="Calibri" pitchFamily="34" charset="-120"/>
              </a:rPr>
              <a:t>The school's logo, name, address and seal on letters, report cards, exam timetables and the family join poster, in Arabic and English.</a:t>
            </a:r>
            <a:endParaRPr lang="en-US" sz="1400" dirty="0"/>
          </a:p>
        </p:txBody>
      </p:sp>
      <p:sp>
        <p:nvSpPr>
          <p:cNvPr id="32" name="Text 21"/>
          <p:cNvSpPr txBox="1"/>
          <p:nvPr/>
        </p:nvSpPr>
        <p:spPr>
          <a:xfrm>
            <a:off x="9814255" y="6473952"/>
            <a:ext cx="1828800" cy="201168"/>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Horizon  |  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28600"/>
          </a:xfrm>
          <a:prstGeom prst="rect">
            <a:avLst/>
          </a:prstGeom>
          <a:noFill/>
          <a:ln/>
        </p:spPr>
        <p:txBody>
          <a:bodyPr wrap="square" lIns="0" tIns="0" rIns="0" bIns="0" rtlCol="0" anchor="ctr"/>
          <a:lstStyle/>
          <a:p>
            <a:pPr indent="0" marL="0">
              <a:buNone/>
            </a:pPr>
            <a:r>
              <a:rPr lang="en-US" sz="1100" b="1" spc="300" kern="0" dirty="0">
                <a:solidFill>
                  <a:srgbClr val="05437A"/>
                </a:solidFill>
                <a:latin typeface="Calibri" pitchFamily="34" charset="0"/>
                <a:ea typeface="Calibri" pitchFamily="34" charset="-122"/>
                <a:cs typeface="Calibri" pitchFamily="34" charset="-120"/>
              </a:rPr>
              <a:t>LIGHT TO RUN</a:t>
            </a:r>
            <a:endParaRPr lang="en-US" sz="1100" dirty="0"/>
          </a:p>
        </p:txBody>
      </p:sp>
      <p:sp>
        <p:nvSpPr>
          <p:cNvPr id="3" name="Text 1"/>
          <p:cNvSpPr txBox="1"/>
          <p:nvPr/>
        </p:nvSpPr>
        <p:spPr>
          <a:xfrm>
            <a:off x="548640" y="411480"/>
            <a:ext cx="10972800" cy="731520"/>
          </a:xfrm>
          <a:prstGeom prst="rect">
            <a:avLst/>
          </a:prstGeom>
          <a:noFill/>
          <a:ln/>
        </p:spPr>
        <p:txBody>
          <a:bodyPr wrap="square" lIns="0" tIns="0" rIns="0" bIns="0" rtlCol="0" anchor="t"/>
          <a:lstStyle/>
          <a:p>
            <a:pPr indent="0" marL="0">
              <a:buNone/>
            </a:pPr>
            <a:r>
              <a:rPr lang="en-US" sz="3000" b="1" dirty="0">
                <a:solidFill>
                  <a:srgbClr val="10171F"/>
                </a:solidFill>
                <a:latin typeface="Cambria" pitchFamily="34" charset="0"/>
                <a:ea typeface="Cambria" pitchFamily="34" charset="-122"/>
                <a:cs typeface="Cambria" pitchFamily="34" charset="-120"/>
              </a:rPr>
              <a:t>Little for your IT team to maintain</a:t>
            </a:r>
            <a:endParaRPr lang="en-US" sz="3000" dirty="0"/>
          </a:p>
        </p:txBody>
      </p:sp>
      <p:sp>
        <p:nvSpPr>
          <p:cNvPr id="4" name="Shape 2"/>
          <p:cNvSpPr/>
          <p:nvPr/>
        </p:nvSpPr>
        <p:spPr>
          <a:xfrm>
            <a:off x="548640" y="1463040"/>
            <a:ext cx="3566160" cy="2240280"/>
          </a:xfrm>
          <a:prstGeom prst="roundRect">
            <a:avLst>
              <a:gd name="adj" fmla="val 4082"/>
            </a:avLst>
          </a:prstGeom>
          <a:solidFill>
            <a:srgbClr val="FFFFFF"/>
          </a:solidFill>
          <a:ln w="9525">
            <a:solidFill>
              <a:srgbClr val="DFE3E8"/>
            </a:solidFill>
            <a:prstDash val="solid"/>
          </a:ln>
        </p:spPr>
      </p:sp>
      <p:sp>
        <p:nvSpPr>
          <p:cNvPr id="5" name="Text 3"/>
          <p:cNvSpPr txBox="1"/>
          <p:nvPr/>
        </p:nvSpPr>
        <p:spPr>
          <a:xfrm>
            <a:off x="868680" y="1645920"/>
            <a:ext cx="3017520" cy="868680"/>
          </a:xfrm>
          <a:prstGeom prst="rect">
            <a:avLst/>
          </a:prstGeom>
          <a:noFill/>
          <a:ln/>
        </p:spPr>
        <p:txBody>
          <a:bodyPr wrap="square" lIns="0" tIns="0" rIns="0" bIns="0" rtlCol="0" anchor="ctr"/>
          <a:lstStyle/>
          <a:p>
            <a:pPr indent="0" marL="0">
              <a:buNone/>
            </a:pPr>
            <a:r>
              <a:rPr lang="en-US" sz="4800" b="1" dirty="0">
                <a:solidFill>
                  <a:srgbClr val="05437A"/>
                </a:solidFill>
                <a:latin typeface="Cambria" pitchFamily="34" charset="0"/>
                <a:ea typeface="Cambria" pitchFamily="34" charset="-122"/>
                <a:cs typeface="Cambria" pitchFamily="34" charset="-120"/>
              </a:rPr>
              <a:t>0</a:t>
            </a:r>
            <a:endParaRPr lang="en-US" sz="4800" dirty="0"/>
          </a:p>
        </p:txBody>
      </p:sp>
      <p:sp>
        <p:nvSpPr>
          <p:cNvPr id="6" name="Text 4"/>
          <p:cNvSpPr txBox="1"/>
          <p:nvPr/>
        </p:nvSpPr>
        <p:spPr>
          <a:xfrm>
            <a:off x="868680" y="2514600"/>
            <a:ext cx="3017520" cy="320040"/>
          </a:xfrm>
          <a:prstGeom prst="rect">
            <a:avLst/>
          </a:prstGeom>
          <a:noFill/>
          <a:ln/>
        </p:spPr>
        <p:txBody>
          <a:bodyPr wrap="square" lIns="0" tIns="0" rIns="0" bIns="0" rtlCol="0" anchor="ctr"/>
          <a:lstStyle/>
          <a:p>
            <a:pPr indent="0" marL="0">
              <a:buNone/>
            </a:pPr>
            <a:r>
              <a:rPr lang="en-US" sz="1400" b="1" dirty="0">
                <a:solidFill>
                  <a:srgbClr val="10171F"/>
                </a:solidFill>
                <a:latin typeface="Calibri" pitchFamily="34" charset="0"/>
                <a:ea typeface="Calibri" pitchFamily="34" charset="-122"/>
                <a:cs typeface="Calibri" pitchFamily="34" charset="-120"/>
              </a:rPr>
              <a:t>custom builds per school</a:t>
            </a:r>
            <a:endParaRPr lang="en-US" sz="1400" dirty="0"/>
          </a:p>
        </p:txBody>
      </p:sp>
      <p:sp>
        <p:nvSpPr>
          <p:cNvPr id="7" name="Text 5"/>
          <p:cNvSpPr txBox="1"/>
          <p:nvPr/>
        </p:nvSpPr>
        <p:spPr>
          <a:xfrm>
            <a:off x="868680" y="2852928"/>
            <a:ext cx="3017520" cy="731520"/>
          </a:xfrm>
          <a:prstGeom prst="rect">
            <a:avLst/>
          </a:prstGeom>
          <a:noFill/>
          <a:ln/>
        </p:spPr>
        <p:txBody>
          <a:bodyPr wrap="square" lIns="0" tIns="0" rIns="0" bIns="0" rtlCol="0" anchor="t"/>
          <a:lstStyle/>
          <a:p>
            <a:pPr indent="0" marL="0">
              <a:buNone/>
            </a:pPr>
            <a:r>
              <a:rPr lang="en-US" sz="1200" dirty="0">
                <a:solidFill>
                  <a:srgbClr val="616A75"/>
                </a:solidFill>
                <a:latin typeface="Calibri" pitchFamily="34" charset="0"/>
                <a:ea typeface="Calibri" pitchFamily="34" charset="-122"/>
                <a:cs typeface="Calibri" pitchFamily="34" charset="-120"/>
              </a:rPr>
              <a:t>Every school starts from a complete, working configuration.</a:t>
            </a:r>
            <a:endParaRPr lang="en-US" sz="1200" dirty="0"/>
          </a:p>
        </p:txBody>
      </p:sp>
      <p:sp>
        <p:nvSpPr>
          <p:cNvPr id="8" name="Shape 6"/>
          <p:cNvSpPr/>
          <p:nvPr/>
        </p:nvSpPr>
        <p:spPr>
          <a:xfrm>
            <a:off x="4297680" y="1463040"/>
            <a:ext cx="3566160" cy="2240280"/>
          </a:xfrm>
          <a:prstGeom prst="roundRect">
            <a:avLst>
              <a:gd name="adj" fmla="val 4082"/>
            </a:avLst>
          </a:prstGeom>
          <a:solidFill>
            <a:srgbClr val="FFFFFF"/>
          </a:solidFill>
          <a:ln w="9525">
            <a:solidFill>
              <a:srgbClr val="DFE3E8"/>
            </a:solidFill>
            <a:prstDash val="solid"/>
          </a:ln>
        </p:spPr>
      </p:sp>
      <p:sp>
        <p:nvSpPr>
          <p:cNvPr id="9" name="Text 7"/>
          <p:cNvSpPr txBox="1"/>
          <p:nvPr/>
        </p:nvSpPr>
        <p:spPr>
          <a:xfrm>
            <a:off x="4617720" y="1645920"/>
            <a:ext cx="3017520" cy="868680"/>
          </a:xfrm>
          <a:prstGeom prst="rect">
            <a:avLst/>
          </a:prstGeom>
          <a:noFill/>
          <a:ln/>
        </p:spPr>
        <p:txBody>
          <a:bodyPr wrap="square" lIns="0" tIns="0" rIns="0" bIns="0" rtlCol="0" anchor="ctr"/>
          <a:lstStyle/>
          <a:p>
            <a:pPr indent="0" marL="0">
              <a:buNone/>
            </a:pPr>
            <a:r>
              <a:rPr lang="en-US" sz="4800" b="1" dirty="0">
                <a:solidFill>
                  <a:srgbClr val="05437A"/>
                </a:solidFill>
                <a:latin typeface="Cambria" pitchFamily="34" charset="0"/>
                <a:ea typeface="Cambria" pitchFamily="34" charset="-122"/>
                <a:cs typeface="Cambria" pitchFamily="34" charset="-120"/>
              </a:rPr>
              <a:t>Weekly</a:t>
            </a:r>
            <a:endParaRPr lang="en-US" sz="4800" dirty="0"/>
          </a:p>
        </p:txBody>
      </p:sp>
      <p:sp>
        <p:nvSpPr>
          <p:cNvPr id="10" name="Text 8"/>
          <p:cNvSpPr txBox="1"/>
          <p:nvPr/>
        </p:nvSpPr>
        <p:spPr>
          <a:xfrm>
            <a:off x="4617720" y="2514600"/>
            <a:ext cx="3017520" cy="320040"/>
          </a:xfrm>
          <a:prstGeom prst="rect">
            <a:avLst/>
          </a:prstGeom>
          <a:noFill/>
          <a:ln/>
        </p:spPr>
        <p:txBody>
          <a:bodyPr wrap="square" lIns="0" tIns="0" rIns="0" bIns="0" rtlCol="0" anchor="ctr"/>
          <a:lstStyle/>
          <a:p>
            <a:pPr indent="0" marL="0">
              <a:buNone/>
            </a:pPr>
            <a:r>
              <a:rPr lang="en-US" sz="1400" b="1" dirty="0">
                <a:solidFill>
                  <a:srgbClr val="10171F"/>
                </a:solidFill>
                <a:latin typeface="Calibri" pitchFamily="34" charset="0"/>
                <a:ea typeface="Calibri" pitchFamily="34" charset="-122"/>
                <a:cs typeface="Calibri" pitchFamily="34" charset="-120"/>
              </a:rPr>
              <a:t>official page checks</a:t>
            </a:r>
            <a:endParaRPr lang="en-US" sz="1400" dirty="0"/>
          </a:p>
        </p:txBody>
      </p:sp>
      <p:sp>
        <p:nvSpPr>
          <p:cNvPr id="11" name="Text 9"/>
          <p:cNvSpPr txBox="1"/>
          <p:nvPr/>
        </p:nvSpPr>
        <p:spPr>
          <a:xfrm>
            <a:off x="4617720" y="2852928"/>
            <a:ext cx="3017520" cy="731520"/>
          </a:xfrm>
          <a:prstGeom prst="rect">
            <a:avLst/>
          </a:prstGeom>
          <a:noFill/>
          <a:ln/>
        </p:spPr>
        <p:txBody>
          <a:bodyPr wrap="square" lIns="0" tIns="0" rIns="0" bIns="0" rtlCol="0" anchor="t"/>
          <a:lstStyle/>
          <a:p>
            <a:pPr indent="0" marL="0">
              <a:buNone/>
            </a:pPr>
            <a:r>
              <a:rPr lang="en-US" sz="1200" dirty="0">
                <a:solidFill>
                  <a:srgbClr val="616A75"/>
                </a:solidFill>
                <a:latin typeface="Calibri" pitchFamily="34" charset="0"/>
                <a:ea typeface="Calibri" pitchFamily="34" charset="-122"/>
                <a:cs typeface="Calibri" pitchFamily="34" charset="-120"/>
              </a:rPr>
              <a:t>The shared university catalog refreshes itself; changes wait for review.</a:t>
            </a:r>
            <a:endParaRPr lang="en-US" sz="1200" dirty="0"/>
          </a:p>
        </p:txBody>
      </p:sp>
      <p:sp>
        <p:nvSpPr>
          <p:cNvPr id="12" name="Shape 10"/>
          <p:cNvSpPr/>
          <p:nvPr/>
        </p:nvSpPr>
        <p:spPr>
          <a:xfrm>
            <a:off x="8046720" y="1463040"/>
            <a:ext cx="3566160" cy="2240280"/>
          </a:xfrm>
          <a:prstGeom prst="roundRect">
            <a:avLst>
              <a:gd name="adj" fmla="val 4082"/>
            </a:avLst>
          </a:prstGeom>
          <a:solidFill>
            <a:srgbClr val="FFFFFF"/>
          </a:solidFill>
          <a:ln w="9525">
            <a:solidFill>
              <a:srgbClr val="DFE3E8"/>
            </a:solidFill>
            <a:prstDash val="solid"/>
          </a:ln>
        </p:spPr>
      </p:sp>
      <p:sp>
        <p:nvSpPr>
          <p:cNvPr id="13" name="Text 11"/>
          <p:cNvSpPr txBox="1"/>
          <p:nvPr/>
        </p:nvSpPr>
        <p:spPr>
          <a:xfrm>
            <a:off x="8366760" y="1645920"/>
            <a:ext cx="3017520" cy="868680"/>
          </a:xfrm>
          <a:prstGeom prst="rect">
            <a:avLst/>
          </a:prstGeom>
          <a:noFill/>
          <a:ln/>
        </p:spPr>
        <p:txBody>
          <a:bodyPr wrap="square" lIns="0" tIns="0" rIns="0" bIns="0" rtlCol="0" anchor="ctr"/>
          <a:lstStyle/>
          <a:p>
            <a:pPr indent="0" marL="0">
              <a:buNone/>
            </a:pPr>
            <a:r>
              <a:rPr lang="en-US" sz="4800" b="1" dirty="0">
                <a:solidFill>
                  <a:srgbClr val="05437A"/>
                </a:solidFill>
                <a:latin typeface="Cambria" pitchFamily="34" charset="0"/>
                <a:ea typeface="Cambria" pitchFamily="34" charset="-122"/>
                <a:cs typeface="Cambria" pitchFamily="34" charset="-120"/>
              </a:rPr>
              <a:t>Daily</a:t>
            </a:r>
            <a:endParaRPr lang="en-US" sz="4800" dirty="0"/>
          </a:p>
        </p:txBody>
      </p:sp>
      <p:sp>
        <p:nvSpPr>
          <p:cNvPr id="14" name="Text 12"/>
          <p:cNvSpPr txBox="1"/>
          <p:nvPr/>
        </p:nvSpPr>
        <p:spPr>
          <a:xfrm>
            <a:off x="8366760" y="2514600"/>
            <a:ext cx="3017520" cy="320040"/>
          </a:xfrm>
          <a:prstGeom prst="rect">
            <a:avLst/>
          </a:prstGeom>
          <a:noFill/>
          <a:ln/>
        </p:spPr>
        <p:txBody>
          <a:bodyPr wrap="square" lIns="0" tIns="0" rIns="0" bIns="0" rtlCol="0" anchor="ctr"/>
          <a:lstStyle/>
          <a:p>
            <a:pPr indent="0" marL="0">
              <a:buNone/>
            </a:pPr>
            <a:r>
              <a:rPr lang="en-US" sz="1400" b="1" dirty="0">
                <a:solidFill>
                  <a:srgbClr val="10171F"/>
                </a:solidFill>
                <a:latin typeface="Calibri" pitchFamily="34" charset="0"/>
                <a:ea typeface="Calibri" pitchFamily="34" charset="-122"/>
                <a:cs typeface="Calibri" pitchFamily="34" charset="-120"/>
              </a:rPr>
              <a:t>live site check</a:t>
            </a:r>
            <a:endParaRPr lang="en-US" sz="1400" dirty="0"/>
          </a:p>
        </p:txBody>
      </p:sp>
      <p:sp>
        <p:nvSpPr>
          <p:cNvPr id="15" name="Text 13"/>
          <p:cNvSpPr txBox="1"/>
          <p:nvPr/>
        </p:nvSpPr>
        <p:spPr>
          <a:xfrm>
            <a:off x="8366760" y="2852928"/>
            <a:ext cx="3017520" cy="731520"/>
          </a:xfrm>
          <a:prstGeom prst="rect">
            <a:avLst/>
          </a:prstGeom>
          <a:noFill/>
          <a:ln/>
        </p:spPr>
        <p:txBody>
          <a:bodyPr wrap="square" lIns="0" tIns="0" rIns="0" bIns="0" rtlCol="0" anchor="t"/>
          <a:lstStyle/>
          <a:p>
            <a:pPr indent="0" marL="0">
              <a:buNone/>
            </a:pPr>
            <a:r>
              <a:rPr lang="en-US" sz="1200" dirty="0">
                <a:solidFill>
                  <a:srgbClr val="616A75"/>
                </a:solidFill>
                <a:latin typeface="Calibri" pitchFamily="34" charset="0"/>
                <a:ea typeface="Calibri" pitchFamily="34" charset="-122"/>
                <a:cs typeface="Calibri" pitchFamily="34" charset="-120"/>
              </a:rPr>
              <a:t>Every page, for every role, in both languages, on desktop and phone.</a:t>
            </a:r>
            <a:endParaRPr lang="en-US" sz="1200" dirty="0"/>
          </a:p>
        </p:txBody>
      </p:sp>
      <p:sp>
        <p:nvSpPr>
          <p:cNvPr id="16" name="Shape 14"/>
          <p:cNvSpPr/>
          <p:nvPr/>
        </p:nvSpPr>
        <p:spPr>
          <a:xfrm>
            <a:off x="548640" y="4023360"/>
            <a:ext cx="402336" cy="402336"/>
          </a:xfrm>
          <a:prstGeom prst="ellipse">
            <a:avLst/>
          </a:prstGeom>
          <a:solidFill>
            <a:srgbClr val="E3F0FF"/>
          </a:solidFill>
          <a:ln w="12700">
            <a:solidFill>
              <a:srgbClr val="E3F0FF"/>
            </a:solidFill>
            <a:prstDash val="solid"/>
          </a:ln>
        </p:spPr>
      </p:sp>
      <p:pic>
        <p:nvPicPr>
          <p:cNvPr id="17" name="Image 0" descr="preencoded.png">    </p:cNvPr>
          <p:cNvPicPr>
            <a:picLocks noChangeAspect="1"/>
          </p:cNvPicPr>
          <p:nvPr/>
        </p:nvPicPr>
        <p:blipFill>
          <a:blip r:embed="rId1"/>
          <a:stretch>
            <a:fillRect/>
          </a:stretch>
        </p:blipFill>
        <p:spPr>
          <a:xfrm>
            <a:off x="640080" y="4114800"/>
            <a:ext cx="219456" cy="219456"/>
          </a:xfrm>
          <a:prstGeom prst="rect">
            <a:avLst/>
          </a:prstGeom>
        </p:spPr>
      </p:pic>
      <p:sp>
        <p:nvSpPr>
          <p:cNvPr id="18" name="Text 15"/>
          <p:cNvSpPr txBox="1"/>
          <p:nvPr/>
        </p:nvSpPr>
        <p:spPr>
          <a:xfrm>
            <a:off x="1115568" y="3986784"/>
            <a:ext cx="10497312" cy="658368"/>
          </a:xfrm>
          <a:prstGeom prst="rect">
            <a:avLst/>
          </a:prstGeom>
          <a:noFill/>
          <a:ln/>
        </p:spPr>
        <p:txBody>
          <a:bodyPr wrap="square" lIns="0" tIns="0" rIns="0" bIns="0" rtlCol="0" anchor="t"/>
          <a:lstStyle/>
          <a:p>
            <a:pPr indent="0" marL="0">
              <a:spcAft>
                <a:spcPts val="200"/>
              </a:spcAft>
              <a:buNone/>
            </a:pPr>
            <a:r>
              <a:rPr lang="en-US" sz="1400" b="1" dirty="0">
                <a:solidFill>
                  <a:srgbClr val="10171F"/>
                </a:solidFill>
                <a:latin typeface="Calibri" pitchFamily="34" charset="0"/>
                <a:ea typeface="Calibri" pitchFamily="34" charset="-122"/>
                <a:cs typeface="Calibri" pitchFamily="34" charset="-120"/>
              </a:rPr>
              <a:t>Your administrators change everything</a:t>
            </a:r>
            <a:endParaRPr lang="en-US" sz="1400" dirty="0"/>
          </a:p>
          <a:p>
            <a:pPr indent="0" marL="0">
              <a:spcAft>
                <a:spcPts val="200"/>
              </a:spcAft>
              <a:buNone/>
            </a:pPr>
            <a:r>
              <a:rPr lang="en-US" sz="1200" dirty="0">
                <a:solidFill>
                  <a:srgbClr val="616A75"/>
                </a:solidFill>
                <a:latin typeface="Calibri" pitchFamily="34" charset="0"/>
                <a:ea typeface="Calibri" pitchFamily="34" charset="-122"/>
                <a:cs typeface="Calibri" pitchFamily="34" charset="-120"/>
              </a:rPr>
              <a:t>Names, logo, colors, services, forms, approval routes, letters, notification texts, subjects, roles, modules and calendar.</a:t>
            </a:r>
            <a:endParaRPr lang="en-US" sz="1400" dirty="0"/>
          </a:p>
        </p:txBody>
      </p:sp>
      <p:sp>
        <p:nvSpPr>
          <p:cNvPr id="19" name="Shape 16"/>
          <p:cNvSpPr/>
          <p:nvPr/>
        </p:nvSpPr>
        <p:spPr>
          <a:xfrm>
            <a:off x="548640" y="4754880"/>
            <a:ext cx="402336" cy="402336"/>
          </a:xfrm>
          <a:prstGeom prst="ellipse">
            <a:avLst/>
          </a:prstGeom>
          <a:solidFill>
            <a:srgbClr val="E3F0FF"/>
          </a:solidFill>
          <a:ln w="12700">
            <a:solidFill>
              <a:srgbClr val="E3F0FF"/>
            </a:solidFill>
            <a:prstDash val="solid"/>
          </a:ln>
        </p:spPr>
      </p:sp>
      <p:pic>
        <p:nvPicPr>
          <p:cNvPr id="20" name="Image 1" descr="preencoded.png">    </p:cNvPr>
          <p:cNvPicPr>
            <a:picLocks noChangeAspect="1"/>
          </p:cNvPicPr>
          <p:nvPr/>
        </p:nvPicPr>
        <p:blipFill>
          <a:blip r:embed="rId2"/>
          <a:stretch>
            <a:fillRect/>
          </a:stretch>
        </p:blipFill>
        <p:spPr>
          <a:xfrm>
            <a:off x="640080" y="4846320"/>
            <a:ext cx="219456" cy="219456"/>
          </a:xfrm>
          <a:prstGeom prst="rect">
            <a:avLst/>
          </a:prstGeom>
        </p:spPr>
      </p:pic>
      <p:sp>
        <p:nvSpPr>
          <p:cNvPr id="21" name="Text 17"/>
          <p:cNvSpPr txBox="1"/>
          <p:nvPr/>
        </p:nvSpPr>
        <p:spPr>
          <a:xfrm>
            <a:off x="1115568" y="4718304"/>
            <a:ext cx="10497312" cy="658368"/>
          </a:xfrm>
          <a:prstGeom prst="rect">
            <a:avLst/>
          </a:prstGeom>
          <a:noFill/>
          <a:ln/>
        </p:spPr>
        <p:txBody>
          <a:bodyPr wrap="square" lIns="0" tIns="0" rIns="0" bIns="0" rtlCol="0" anchor="t"/>
          <a:lstStyle/>
          <a:p>
            <a:pPr indent="0" marL="0">
              <a:spcAft>
                <a:spcPts val="200"/>
              </a:spcAft>
              <a:buNone/>
            </a:pPr>
            <a:r>
              <a:rPr lang="en-US" sz="1400" b="1" dirty="0">
                <a:solidFill>
                  <a:srgbClr val="10171F"/>
                </a:solidFill>
                <a:latin typeface="Calibri" pitchFamily="34" charset="0"/>
                <a:ea typeface="Calibri" pitchFamily="34" charset="-122"/>
                <a:cs typeface="Calibri" pitchFamily="34" charset="-120"/>
              </a:rPr>
              <a:t>Safe to re-run</a:t>
            </a:r>
            <a:endParaRPr lang="en-US" sz="1400" dirty="0"/>
          </a:p>
          <a:p>
            <a:pPr indent="0" marL="0">
              <a:spcAft>
                <a:spcPts val="200"/>
              </a:spcAft>
              <a:buNone/>
            </a:pPr>
            <a:r>
              <a:rPr lang="en-US" sz="1200" dirty="0">
                <a:solidFill>
                  <a:srgbClr val="616A75"/>
                </a:solidFill>
                <a:latin typeface="Calibri" pitchFamily="34" charset="0"/>
                <a:ea typeface="Calibri" pitchFamily="34" charset="-122"/>
                <a:cs typeface="Calibri" pitchFamily="34" charset="-120"/>
              </a:rPr>
              <a:t>Imports and background jobs are idempotent, so a repeated file or a retried job never creates duplicates.</a:t>
            </a:r>
            <a:endParaRPr lang="en-US" sz="1400" dirty="0"/>
          </a:p>
        </p:txBody>
      </p:sp>
      <p:sp>
        <p:nvSpPr>
          <p:cNvPr id="22" name="Shape 18"/>
          <p:cNvSpPr/>
          <p:nvPr/>
        </p:nvSpPr>
        <p:spPr>
          <a:xfrm>
            <a:off x="548640" y="5486400"/>
            <a:ext cx="402336" cy="402336"/>
          </a:xfrm>
          <a:prstGeom prst="ellipse">
            <a:avLst/>
          </a:prstGeom>
          <a:solidFill>
            <a:srgbClr val="E3F0FF"/>
          </a:solidFill>
          <a:ln w="12700">
            <a:solidFill>
              <a:srgbClr val="E3F0FF"/>
            </a:solidFill>
            <a:prstDash val="solid"/>
          </a:ln>
        </p:spPr>
      </p:sp>
      <p:pic>
        <p:nvPicPr>
          <p:cNvPr id="23" name="Image 2" descr="preencoded.png">    </p:cNvPr>
          <p:cNvPicPr>
            <a:picLocks noChangeAspect="1"/>
          </p:cNvPicPr>
          <p:nvPr/>
        </p:nvPicPr>
        <p:blipFill>
          <a:blip r:embed="rId3"/>
          <a:stretch>
            <a:fillRect/>
          </a:stretch>
        </p:blipFill>
        <p:spPr>
          <a:xfrm>
            <a:off x="640080" y="5577840"/>
            <a:ext cx="219456" cy="219456"/>
          </a:xfrm>
          <a:prstGeom prst="rect">
            <a:avLst/>
          </a:prstGeom>
        </p:spPr>
      </p:pic>
      <p:sp>
        <p:nvSpPr>
          <p:cNvPr id="24" name="Text 19"/>
          <p:cNvSpPr txBox="1"/>
          <p:nvPr/>
        </p:nvSpPr>
        <p:spPr>
          <a:xfrm>
            <a:off x="1115568" y="5449824"/>
            <a:ext cx="10497312" cy="658368"/>
          </a:xfrm>
          <a:prstGeom prst="rect">
            <a:avLst/>
          </a:prstGeom>
          <a:noFill/>
          <a:ln/>
        </p:spPr>
        <p:txBody>
          <a:bodyPr wrap="square" lIns="0" tIns="0" rIns="0" bIns="0" rtlCol="0" anchor="t"/>
          <a:lstStyle/>
          <a:p>
            <a:pPr indent="0" marL="0">
              <a:spcAft>
                <a:spcPts val="200"/>
              </a:spcAft>
              <a:buNone/>
            </a:pPr>
            <a:r>
              <a:rPr lang="en-US" sz="1400" b="1" dirty="0">
                <a:solidFill>
                  <a:srgbClr val="10171F"/>
                </a:solidFill>
                <a:latin typeface="Calibri" pitchFamily="34" charset="0"/>
                <a:ea typeface="Calibri" pitchFamily="34" charset="-122"/>
                <a:cs typeface="Calibri" pitchFamily="34" charset="-120"/>
              </a:rPr>
              <a:t>Modules you can switch off</a:t>
            </a:r>
            <a:endParaRPr lang="en-US" sz="1400" dirty="0"/>
          </a:p>
          <a:p>
            <a:pPr indent="0" marL="0">
              <a:spcAft>
                <a:spcPts val="200"/>
              </a:spcAft>
              <a:buNone/>
            </a:pPr>
            <a:r>
              <a:rPr lang="en-US" sz="1200" dirty="0">
                <a:solidFill>
                  <a:srgbClr val="616A75"/>
                </a:solidFill>
                <a:latin typeface="Calibri" pitchFamily="34" charset="0"/>
                <a:ea typeface="Calibri" pitchFamily="34" charset="-122"/>
                <a:cs typeface="Calibri" pitchFamily="34" charset="-120"/>
              </a:rPr>
              <a:t>Turn modules on or off per school; core modules such as requests, safeguarding and documents stay on.</a:t>
            </a:r>
            <a:endParaRPr lang="en-US" sz="1400" dirty="0"/>
          </a:p>
        </p:txBody>
      </p:sp>
      <p:sp>
        <p:nvSpPr>
          <p:cNvPr id="25" name="Text 20"/>
          <p:cNvSpPr txBox="1"/>
          <p:nvPr/>
        </p:nvSpPr>
        <p:spPr>
          <a:xfrm>
            <a:off x="9814255" y="6473952"/>
            <a:ext cx="1828800" cy="201168"/>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Horizon  |  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28600"/>
          </a:xfrm>
          <a:prstGeom prst="rect">
            <a:avLst/>
          </a:prstGeom>
          <a:noFill/>
          <a:ln/>
        </p:spPr>
        <p:txBody>
          <a:bodyPr wrap="square" lIns="0" tIns="0" rIns="0" bIns="0" rtlCol="0" anchor="ctr"/>
          <a:lstStyle/>
          <a:p>
            <a:pPr indent="0" marL="0">
              <a:buNone/>
            </a:pPr>
            <a:r>
              <a:rPr lang="en-US" sz="1100" b="1" spc="300" kern="0" dirty="0">
                <a:solidFill>
                  <a:srgbClr val="05437A"/>
                </a:solidFill>
                <a:latin typeface="Calibri" pitchFamily="34" charset="0"/>
                <a:ea typeface="Calibri" pitchFamily="34" charset="-122"/>
                <a:cs typeface="Calibri" pitchFamily="34" charset="-120"/>
              </a:rPr>
              <a:t>PILOT PROPOSAL</a:t>
            </a:r>
            <a:endParaRPr lang="en-US" sz="1100" dirty="0"/>
          </a:p>
        </p:txBody>
      </p:sp>
      <p:sp>
        <p:nvSpPr>
          <p:cNvPr id="3" name="Text 1"/>
          <p:cNvSpPr txBox="1"/>
          <p:nvPr/>
        </p:nvSpPr>
        <p:spPr>
          <a:xfrm>
            <a:off x="548640" y="411480"/>
            <a:ext cx="10972800" cy="731520"/>
          </a:xfrm>
          <a:prstGeom prst="rect">
            <a:avLst/>
          </a:prstGeom>
          <a:noFill/>
          <a:ln/>
        </p:spPr>
        <p:txBody>
          <a:bodyPr wrap="square" lIns="0" tIns="0" rIns="0" bIns="0" rtlCol="0" anchor="t"/>
          <a:lstStyle/>
          <a:p>
            <a:pPr indent="0" marL="0">
              <a:buNone/>
            </a:pPr>
            <a:r>
              <a:rPr lang="en-US" sz="3000" b="1" dirty="0">
                <a:solidFill>
                  <a:srgbClr val="10171F"/>
                </a:solidFill>
                <a:latin typeface="Cambria" pitchFamily="34" charset="0"/>
                <a:ea typeface="Cambria" pitchFamily="34" charset="-122"/>
                <a:cs typeface="Cambria" pitchFamily="34" charset="-120"/>
              </a:rPr>
              <a:t>A one-term pilot with five launch services</a:t>
            </a:r>
            <a:endParaRPr lang="en-US" sz="3000" dirty="0"/>
          </a:p>
        </p:txBody>
      </p:sp>
      <p:sp>
        <p:nvSpPr>
          <p:cNvPr id="4" name="Shape 2"/>
          <p:cNvSpPr/>
          <p:nvPr/>
        </p:nvSpPr>
        <p:spPr>
          <a:xfrm>
            <a:off x="548640" y="1463040"/>
            <a:ext cx="2651760" cy="2514600"/>
          </a:xfrm>
          <a:prstGeom prst="roundRect">
            <a:avLst>
              <a:gd name="adj" fmla="val 3636"/>
            </a:avLst>
          </a:prstGeom>
          <a:solidFill>
            <a:srgbClr val="FFFFFF"/>
          </a:solidFill>
          <a:ln w="9525">
            <a:solidFill>
              <a:srgbClr val="DFE3E8"/>
            </a:solidFill>
            <a:prstDash val="solid"/>
          </a:ln>
        </p:spPr>
      </p:sp>
      <p:sp>
        <p:nvSpPr>
          <p:cNvPr id="5" name="Text 3"/>
          <p:cNvSpPr txBox="1"/>
          <p:nvPr/>
        </p:nvSpPr>
        <p:spPr>
          <a:xfrm>
            <a:off x="822960" y="1691640"/>
            <a:ext cx="2103120" cy="274320"/>
          </a:xfrm>
          <a:prstGeom prst="rect">
            <a:avLst/>
          </a:prstGeom>
          <a:noFill/>
          <a:ln/>
        </p:spPr>
        <p:txBody>
          <a:bodyPr wrap="square" lIns="0" tIns="0" rIns="0" bIns="0" rtlCol="0" anchor="ctr"/>
          <a:lstStyle/>
          <a:p>
            <a:pPr indent="0" marL="0">
              <a:buNone/>
            </a:pPr>
            <a:r>
              <a:rPr lang="en-US" sz="1100" b="1" spc="200" kern="0" dirty="0">
                <a:solidFill>
                  <a:srgbClr val="8A6A1F"/>
                </a:solidFill>
                <a:latin typeface="Calibri" pitchFamily="34" charset="0"/>
                <a:ea typeface="Calibri" pitchFamily="34" charset="-122"/>
                <a:cs typeface="Calibri" pitchFamily="34" charset="-120"/>
              </a:rPr>
              <a:t>WEEK 1</a:t>
            </a:r>
            <a:endParaRPr lang="en-US" sz="1100" dirty="0"/>
          </a:p>
        </p:txBody>
      </p:sp>
      <p:sp>
        <p:nvSpPr>
          <p:cNvPr id="6" name="Text 4"/>
          <p:cNvSpPr txBox="1"/>
          <p:nvPr/>
        </p:nvSpPr>
        <p:spPr>
          <a:xfrm>
            <a:off x="822960" y="2011680"/>
            <a:ext cx="2103120" cy="411480"/>
          </a:xfrm>
          <a:prstGeom prst="rect">
            <a:avLst/>
          </a:prstGeom>
          <a:noFill/>
          <a:ln/>
        </p:spPr>
        <p:txBody>
          <a:bodyPr wrap="square" lIns="0" tIns="0" rIns="0" bIns="0" rtlCol="0" anchor="ctr"/>
          <a:lstStyle/>
          <a:p>
            <a:pPr indent="0" marL="0">
              <a:buNone/>
            </a:pPr>
            <a:r>
              <a:rPr lang="en-US" sz="1900" b="1" dirty="0">
                <a:solidFill>
                  <a:srgbClr val="10171F"/>
                </a:solidFill>
                <a:latin typeface="Cambria" pitchFamily="34" charset="0"/>
                <a:ea typeface="Cambria" pitchFamily="34" charset="-122"/>
                <a:cs typeface="Cambria" pitchFamily="34" charset="-120"/>
              </a:rPr>
              <a:t>Setup day</a:t>
            </a:r>
            <a:endParaRPr lang="en-US" sz="1900" dirty="0"/>
          </a:p>
        </p:txBody>
      </p:sp>
      <p:sp>
        <p:nvSpPr>
          <p:cNvPr id="7" name="Text 5"/>
          <p:cNvSpPr txBox="1"/>
          <p:nvPr/>
        </p:nvSpPr>
        <p:spPr>
          <a:xfrm>
            <a:off x="822960" y="2514600"/>
            <a:ext cx="2103120" cy="1371600"/>
          </a:xfrm>
          <a:prstGeom prst="rect">
            <a:avLst/>
          </a:prstGeom>
          <a:noFill/>
          <a:ln/>
        </p:spPr>
        <p:txBody>
          <a:bodyPr wrap="square" lIns="0" tIns="0" rIns="0" bIns="0" rtlCol="0" anchor="t"/>
          <a:lstStyle/>
          <a:p>
            <a:pPr indent="0" marL="0">
              <a:buNone/>
            </a:pPr>
            <a:r>
              <a:rPr lang="en-US" sz="1250" dirty="0">
                <a:solidFill>
                  <a:srgbClr val="616A75"/>
                </a:solidFill>
                <a:latin typeface="Calibri" pitchFamily="34" charset="0"/>
                <a:ea typeface="Calibri" pitchFamily="34" charset="-122"/>
                <a:cs typeface="Calibri" pitchFamily="34" charset="-120"/>
              </a:rPr>
              <a:t>90-minute guided call: profile, calendar, imports, roles, DSL and deputy assigned.</a:t>
            </a:r>
            <a:endParaRPr lang="en-US" sz="1250" dirty="0"/>
          </a:p>
        </p:txBody>
      </p:sp>
      <p:sp>
        <p:nvSpPr>
          <p:cNvPr id="8" name="Shape 6"/>
          <p:cNvSpPr/>
          <p:nvPr/>
        </p:nvSpPr>
        <p:spPr>
          <a:xfrm>
            <a:off x="3364992" y="1463040"/>
            <a:ext cx="2651760" cy="2514600"/>
          </a:xfrm>
          <a:prstGeom prst="roundRect">
            <a:avLst>
              <a:gd name="adj" fmla="val 3636"/>
            </a:avLst>
          </a:prstGeom>
          <a:solidFill>
            <a:srgbClr val="FFFFFF"/>
          </a:solidFill>
          <a:ln w="9525">
            <a:solidFill>
              <a:srgbClr val="DFE3E8"/>
            </a:solidFill>
            <a:prstDash val="solid"/>
          </a:ln>
        </p:spPr>
      </p:sp>
      <p:sp>
        <p:nvSpPr>
          <p:cNvPr id="9" name="Text 7"/>
          <p:cNvSpPr txBox="1"/>
          <p:nvPr/>
        </p:nvSpPr>
        <p:spPr>
          <a:xfrm>
            <a:off x="3639312" y="1691640"/>
            <a:ext cx="2103120" cy="274320"/>
          </a:xfrm>
          <a:prstGeom prst="rect">
            <a:avLst/>
          </a:prstGeom>
          <a:noFill/>
          <a:ln/>
        </p:spPr>
        <p:txBody>
          <a:bodyPr wrap="square" lIns="0" tIns="0" rIns="0" bIns="0" rtlCol="0" anchor="ctr"/>
          <a:lstStyle/>
          <a:p>
            <a:pPr indent="0" marL="0">
              <a:buNone/>
            </a:pPr>
            <a:r>
              <a:rPr lang="en-US" sz="1100" b="1" spc="200" kern="0" dirty="0">
                <a:solidFill>
                  <a:srgbClr val="8A6A1F"/>
                </a:solidFill>
                <a:latin typeface="Calibri" pitchFamily="34" charset="0"/>
                <a:ea typeface="Calibri" pitchFamily="34" charset="-122"/>
                <a:cs typeface="Calibri" pitchFamily="34" charset="-120"/>
              </a:rPr>
              <a:t>WEEKS 2 TO 3</a:t>
            </a:r>
            <a:endParaRPr lang="en-US" sz="1100" dirty="0"/>
          </a:p>
        </p:txBody>
      </p:sp>
      <p:sp>
        <p:nvSpPr>
          <p:cNvPr id="10" name="Text 8"/>
          <p:cNvSpPr txBox="1"/>
          <p:nvPr/>
        </p:nvSpPr>
        <p:spPr>
          <a:xfrm>
            <a:off x="3639312" y="2011680"/>
            <a:ext cx="2103120" cy="411480"/>
          </a:xfrm>
          <a:prstGeom prst="rect">
            <a:avLst/>
          </a:prstGeom>
          <a:noFill/>
          <a:ln/>
        </p:spPr>
        <p:txBody>
          <a:bodyPr wrap="square" lIns="0" tIns="0" rIns="0" bIns="0" rtlCol="0" anchor="ctr"/>
          <a:lstStyle/>
          <a:p>
            <a:pPr indent="0" marL="0">
              <a:buNone/>
            </a:pPr>
            <a:r>
              <a:rPr lang="en-US" sz="1900" b="1" dirty="0">
                <a:solidFill>
                  <a:srgbClr val="10171F"/>
                </a:solidFill>
                <a:latin typeface="Cambria" pitchFamily="34" charset="0"/>
                <a:ea typeface="Cambria" pitchFamily="34" charset="-122"/>
                <a:cs typeface="Cambria" pitchFamily="34" charset="-120"/>
              </a:rPr>
              <a:t>Staff go live</a:t>
            </a:r>
            <a:endParaRPr lang="en-US" sz="1900" dirty="0"/>
          </a:p>
        </p:txBody>
      </p:sp>
      <p:sp>
        <p:nvSpPr>
          <p:cNvPr id="11" name="Text 9"/>
          <p:cNvSpPr txBox="1"/>
          <p:nvPr/>
        </p:nvSpPr>
        <p:spPr>
          <a:xfrm>
            <a:off x="3639312" y="2514600"/>
            <a:ext cx="2103120" cy="1371600"/>
          </a:xfrm>
          <a:prstGeom prst="rect">
            <a:avLst/>
          </a:prstGeom>
          <a:noFill/>
          <a:ln/>
        </p:spPr>
        <p:txBody>
          <a:bodyPr wrap="square" lIns="0" tIns="0" rIns="0" bIns="0" rtlCol="0" anchor="t"/>
          <a:lstStyle/>
          <a:p>
            <a:pPr indent="0" marL="0">
              <a:buNone/>
            </a:pPr>
            <a:r>
              <a:rPr lang="en-US" sz="1250" dirty="0">
                <a:solidFill>
                  <a:srgbClr val="616A75"/>
                </a:solidFill>
                <a:latin typeface="Calibri" pitchFamily="34" charset="0"/>
                <a:ea typeface="Calibri" pitchFamily="34" charset="-122"/>
                <a:cs typeface="Calibri" pitchFamily="34" charset="-120"/>
              </a:rPr>
              <a:t>Five launch services: documents, absences, parent meetings, teacher referrals, safeguarding concerns.</a:t>
            </a:r>
            <a:endParaRPr lang="en-US" sz="1250" dirty="0"/>
          </a:p>
        </p:txBody>
      </p:sp>
      <p:sp>
        <p:nvSpPr>
          <p:cNvPr id="12" name="Shape 10"/>
          <p:cNvSpPr/>
          <p:nvPr/>
        </p:nvSpPr>
        <p:spPr>
          <a:xfrm>
            <a:off x="6181344" y="1463040"/>
            <a:ext cx="2651760" cy="2514600"/>
          </a:xfrm>
          <a:prstGeom prst="roundRect">
            <a:avLst>
              <a:gd name="adj" fmla="val 3636"/>
            </a:avLst>
          </a:prstGeom>
          <a:solidFill>
            <a:srgbClr val="FFFFFF"/>
          </a:solidFill>
          <a:ln w="9525">
            <a:solidFill>
              <a:srgbClr val="DFE3E8"/>
            </a:solidFill>
            <a:prstDash val="solid"/>
          </a:ln>
        </p:spPr>
      </p:sp>
      <p:sp>
        <p:nvSpPr>
          <p:cNvPr id="13" name="Text 11"/>
          <p:cNvSpPr txBox="1"/>
          <p:nvPr/>
        </p:nvSpPr>
        <p:spPr>
          <a:xfrm>
            <a:off x="6455664" y="1691640"/>
            <a:ext cx="2103120" cy="274320"/>
          </a:xfrm>
          <a:prstGeom prst="rect">
            <a:avLst/>
          </a:prstGeom>
          <a:noFill/>
          <a:ln/>
        </p:spPr>
        <p:txBody>
          <a:bodyPr wrap="square" lIns="0" tIns="0" rIns="0" bIns="0" rtlCol="0" anchor="ctr"/>
          <a:lstStyle/>
          <a:p>
            <a:pPr indent="0" marL="0">
              <a:buNone/>
            </a:pPr>
            <a:r>
              <a:rPr lang="en-US" sz="1100" b="1" spc="200" kern="0" dirty="0">
                <a:solidFill>
                  <a:srgbClr val="8A6A1F"/>
                </a:solidFill>
                <a:latin typeface="Calibri" pitchFamily="34" charset="0"/>
                <a:ea typeface="Calibri" pitchFamily="34" charset="-122"/>
                <a:cs typeface="Calibri" pitchFamily="34" charset="-120"/>
              </a:rPr>
              <a:t>WEEKS 4 TO 12</a:t>
            </a:r>
            <a:endParaRPr lang="en-US" sz="1100" dirty="0"/>
          </a:p>
        </p:txBody>
      </p:sp>
      <p:sp>
        <p:nvSpPr>
          <p:cNvPr id="14" name="Text 12"/>
          <p:cNvSpPr txBox="1"/>
          <p:nvPr/>
        </p:nvSpPr>
        <p:spPr>
          <a:xfrm>
            <a:off x="6455664" y="2011680"/>
            <a:ext cx="2103120" cy="411480"/>
          </a:xfrm>
          <a:prstGeom prst="rect">
            <a:avLst/>
          </a:prstGeom>
          <a:noFill/>
          <a:ln/>
        </p:spPr>
        <p:txBody>
          <a:bodyPr wrap="square" lIns="0" tIns="0" rIns="0" bIns="0" rtlCol="0" anchor="ctr"/>
          <a:lstStyle/>
          <a:p>
            <a:pPr indent="0" marL="0">
              <a:buNone/>
            </a:pPr>
            <a:r>
              <a:rPr lang="en-US" sz="1900" b="1" dirty="0">
                <a:solidFill>
                  <a:srgbClr val="10171F"/>
                </a:solidFill>
                <a:latin typeface="Cambria" pitchFamily="34" charset="0"/>
                <a:ea typeface="Cambria" pitchFamily="34" charset="-122"/>
                <a:cs typeface="Cambria" pitchFamily="34" charset="-120"/>
              </a:rPr>
              <a:t>Families join</a:t>
            </a:r>
            <a:endParaRPr lang="en-US" sz="1900" dirty="0"/>
          </a:p>
        </p:txBody>
      </p:sp>
      <p:sp>
        <p:nvSpPr>
          <p:cNvPr id="15" name="Text 13"/>
          <p:cNvSpPr txBox="1"/>
          <p:nvPr/>
        </p:nvSpPr>
        <p:spPr>
          <a:xfrm>
            <a:off x="6455664" y="2514600"/>
            <a:ext cx="2103120" cy="1371600"/>
          </a:xfrm>
          <a:prstGeom prst="rect">
            <a:avLst/>
          </a:prstGeom>
          <a:noFill/>
          <a:ln/>
        </p:spPr>
        <p:txBody>
          <a:bodyPr wrap="square" lIns="0" tIns="0" rIns="0" bIns="0" rtlCol="0" anchor="t"/>
          <a:lstStyle/>
          <a:p>
            <a:pPr indent="0" marL="0">
              <a:buNone/>
            </a:pPr>
            <a:r>
              <a:rPr lang="en-US" sz="1250" dirty="0">
                <a:solidFill>
                  <a:srgbClr val="616A75"/>
                </a:solidFill>
                <a:latin typeface="Calibri" pitchFamily="34" charset="0"/>
                <a:ea typeface="Calibri" pitchFamily="34" charset="-122"/>
                <a:cs typeface="Calibri" pitchFamily="34" charset="-120"/>
              </a:rPr>
              <a:t>Family join code poster and letter. Counselors start university plans for one grade.</a:t>
            </a:r>
            <a:endParaRPr lang="en-US" sz="1250" dirty="0"/>
          </a:p>
        </p:txBody>
      </p:sp>
      <p:sp>
        <p:nvSpPr>
          <p:cNvPr id="16" name="Shape 14"/>
          <p:cNvSpPr/>
          <p:nvPr/>
        </p:nvSpPr>
        <p:spPr>
          <a:xfrm>
            <a:off x="8997696" y="1463040"/>
            <a:ext cx="2651760" cy="2514600"/>
          </a:xfrm>
          <a:prstGeom prst="roundRect">
            <a:avLst>
              <a:gd name="adj" fmla="val 3636"/>
            </a:avLst>
          </a:prstGeom>
          <a:solidFill>
            <a:srgbClr val="05437A"/>
          </a:solidFill>
          <a:ln w="9525">
            <a:solidFill>
              <a:srgbClr val="05437A"/>
            </a:solidFill>
            <a:prstDash val="solid"/>
          </a:ln>
        </p:spPr>
      </p:sp>
      <p:sp>
        <p:nvSpPr>
          <p:cNvPr id="17" name="Text 15"/>
          <p:cNvSpPr txBox="1"/>
          <p:nvPr/>
        </p:nvSpPr>
        <p:spPr>
          <a:xfrm>
            <a:off x="9272016" y="1691640"/>
            <a:ext cx="2103120" cy="274320"/>
          </a:xfrm>
          <a:prstGeom prst="rect">
            <a:avLst/>
          </a:prstGeom>
          <a:noFill/>
          <a:ln/>
        </p:spPr>
        <p:txBody>
          <a:bodyPr wrap="square" lIns="0" tIns="0" rIns="0" bIns="0" rtlCol="0" anchor="ctr"/>
          <a:lstStyle/>
          <a:p>
            <a:pPr indent="0" marL="0">
              <a:buNone/>
            </a:pPr>
            <a:r>
              <a:rPr lang="en-US" sz="1100" b="1" spc="200" kern="0" dirty="0">
                <a:solidFill>
                  <a:srgbClr val="C79E41"/>
                </a:solidFill>
                <a:latin typeface="Calibri" pitchFamily="34" charset="0"/>
                <a:ea typeface="Calibri" pitchFamily="34" charset="-122"/>
                <a:cs typeface="Calibri" pitchFamily="34" charset="-120"/>
              </a:rPr>
              <a:t>END OF TERM</a:t>
            </a:r>
            <a:endParaRPr lang="en-US" sz="1100" dirty="0"/>
          </a:p>
        </p:txBody>
      </p:sp>
      <p:sp>
        <p:nvSpPr>
          <p:cNvPr id="18" name="Text 16"/>
          <p:cNvSpPr txBox="1"/>
          <p:nvPr/>
        </p:nvSpPr>
        <p:spPr>
          <a:xfrm>
            <a:off x="9272016" y="2011680"/>
            <a:ext cx="2103120" cy="41148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Review together</a:t>
            </a:r>
            <a:endParaRPr lang="en-US" sz="1900" dirty="0"/>
          </a:p>
        </p:txBody>
      </p:sp>
      <p:sp>
        <p:nvSpPr>
          <p:cNvPr id="19" name="Text 17"/>
          <p:cNvSpPr txBox="1"/>
          <p:nvPr/>
        </p:nvSpPr>
        <p:spPr>
          <a:xfrm>
            <a:off x="9272016" y="2514600"/>
            <a:ext cx="2103120" cy="1371600"/>
          </a:xfrm>
          <a:prstGeom prst="rect">
            <a:avLst/>
          </a:prstGeom>
          <a:noFill/>
          <a:ln/>
        </p:spPr>
        <p:txBody>
          <a:bodyPr wrap="square" lIns="0" tIns="0" rIns="0" bIns="0" rtlCol="0" anchor="t"/>
          <a:lstStyle/>
          <a:p>
            <a:pPr indent="0" marL="0">
              <a:buNone/>
            </a:pPr>
            <a:r>
              <a:rPr lang="en-US" sz="1250" dirty="0">
                <a:solidFill>
                  <a:srgbClr val="E3E8EE"/>
                </a:solidFill>
                <a:latin typeface="Calibri" pitchFamily="34" charset="0"/>
                <a:ea typeface="Calibri" pitchFamily="34" charset="-122"/>
                <a:cs typeface="Calibri" pitchFamily="34" charset="-120"/>
              </a:rPr>
              <a:t>Measure against the agreed goals and decide on a whole-school rollout.</a:t>
            </a:r>
            <a:endParaRPr lang="en-US" sz="1250" dirty="0"/>
          </a:p>
        </p:txBody>
      </p:sp>
      <p:sp>
        <p:nvSpPr>
          <p:cNvPr id="20" name="Shape 18"/>
          <p:cNvSpPr/>
          <p:nvPr/>
        </p:nvSpPr>
        <p:spPr>
          <a:xfrm>
            <a:off x="548640" y="4251960"/>
            <a:ext cx="11091672" cy="1600200"/>
          </a:xfrm>
          <a:prstGeom prst="roundRect">
            <a:avLst>
              <a:gd name="adj" fmla="val 5714"/>
            </a:avLst>
          </a:prstGeom>
          <a:solidFill>
            <a:srgbClr val="FCF1D4"/>
          </a:solidFill>
          <a:ln w="9525">
            <a:solidFill>
              <a:srgbClr val="EBD9A8"/>
            </a:solidFill>
            <a:prstDash val="solid"/>
          </a:ln>
        </p:spPr>
      </p:sp>
      <p:pic>
        <p:nvPicPr>
          <p:cNvPr id="21" name="Image 0" descr="preencoded.png">    </p:cNvPr>
          <p:cNvPicPr>
            <a:picLocks noChangeAspect="1"/>
          </p:cNvPicPr>
          <p:nvPr/>
        </p:nvPicPr>
        <p:blipFill>
          <a:blip r:embed="rId1"/>
          <a:stretch>
            <a:fillRect/>
          </a:stretch>
        </p:blipFill>
        <p:spPr>
          <a:xfrm>
            <a:off x="868680" y="4526280"/>
            <a:ext cx="329184" cy="329184"/>
          </a:xfrm>
          <a:prstGeom prst="rect">
            <a:avLst/>
          </a:prstGeom>
        </p:spPr>
      </p:pic>
      <p:sp>
        <p:nvSpPr>
          <p:cNvPr id="22" name="Text 19"/>
          <p:cNvSpPr txBox="1"/>
          <p:nvPr/>
        </p:nvSpPr>
        <p:spPr>
          <a:xfrm>
            <a:off x="1325880" y="4507992"/>
            <a:ext cx="7315200" cy="365760"/>
          </a:xfrm>
          <a:prstGeom prst="rect">
            <a:avLst/>
          </a:prstGeom>
          <a:noFill/>
          <a:ln/>
        </p:spPr>
        <p:txBody>
          <a:bodyPr wrap="square" lIns="0" tIns="0" rIns="0" bIns="0" rtlCol="0" anchor="ctr"/>
          <a:lstStyle/>
          <a:p>
            <a:pPr indent="0" marL="0">
              <a:buNone/>
            </a:pPr>
            <a:r>
              <a:rPr lang="en-US" sz="1600" b="1" dirty="0">
                <a:solidFill>
                  <a:srgbClr val="10171F"/>
                </a:solidFill>
                <a:latin typeface="Calibri" pitchFamily="34" charset="0"/>
                <a:ea typeface="Calibri" pitchFamily="34" charset="-122"/>
                <a:cs typeface="Calibri" pitchFamily="34" charset="-120"/>
              </a:rPr>
              <a:t>Success measures we agree up front</a:t>
            </a:r>
            <a:endParaRPr lang="en-US" sz="1600" dirty="0"/>
          </a:p>
        </p:txBody>
      </p:sp>
      <p:pic>
        <p:nvPicPr>
          <p:cNvPr id="23" name="Image 1" descr="preencoded.png">    </p:cNvPr>
          <p:cNvPicPr>
            <a:picLocks noChangeAspect="1"/>
          </p:cNvPicPr>
          <p:nvPr/>
        </p:nvPicPr>
        <p:blipFill>
          <a:blip r:embed="rId2"/>
          <a:stretch>
            <a:fillRect/>
          </a:stretch>
        </p:blipFill>
        <p:spPr>
          <a:xfrm>
            <a:off x="868680" y="5047488"/>
            <a:ext cx="237744" cy="237744"/>
          </a:xfrm>
          <a:prstGeom prst="rect">
            <a:avLst/>
          </a:prstGeom>
        </p:spPr>
      </p:pic>
      <p:sp>
        <p:nvSpPr>
          <p:cNvPr id="24" name="Text 20"/>
          <p:cNvSpPr txBox="1"/>
          <p:nvPr/>
        </p:nvSpPr>
        <p:spPr>
          <a:xfrm>
            <a:off x="1216152" y="5029200"/>
            <a:ext cx="2240280" cy="731520"/>
          </a:xfrm>
          <a:prstGeom prst="rect">
            <a:avLst/>
          </a:prstGeom>
          <a:noFill/>
          <a:ln/>
        </p:spPr>
        <p:txBody>
          <a:bodyPr wrap="square" lIns="0" tIns="0" rIns="0" bIns="0" rtlCol="0" anchor="t"/>
          <a:lstStyle/>
          <a:p>
            <a:pPr indent="0" marL="0">
              <a:buNone/>
            </a:pPr>
            <a:r>
              <a:rPr lang="en-US" sz="1300" dirty="0">
                <a:solidFill>
                  <a:srgbClr val="10171F"/>
                </a:solidFill>
                <a:latin typeface="Calibri" pitchFamily="34" charset="0"/>
                <a:ea typeface="Calibri" pitchFamily="34" charset="-122"/>
                <a:cs typeface="Calibri" pitchFamily="34" charset="-120"/>
              </a:rPr>
              <a:t>Days to issue an official letter</a:t>
            </a:r>
            <a:endParaRPr lang="en-US" sz="1300" dirty="0"/>
          </a:p>
        </p:txBody>
      </p:sp>
      <p:pic>
        <p:nvPicPr>
          <p:cNvPr id="25" name="Image 2" descr="preencoded.png">    </p:cNvPr>
          <p:cNvPicPr>
            <a:picLocks noChangeAspect="1"/>
          </p:cNvPicPr>
          <p:nvPr/>
        </p:nvPicPr>
        <p:blipFill>
          <a:blip r:embed="rId3"/>
          <a:stretch>
            <a:fillRect/>
          </a:stretch>
        </p:blipFill>
        <p:spPr>
          <a:xfrm>
            <a:off x="3566160" y="5047488"/>
            <a:ext cx="237744" cy="237744"/>
          </a:xfrm>
          <a:prstGeom prst="rect">
            <a:avLst/>
          </a:prstGeom>
        </p:spPr>
      </p:pic>
      <p:sp>
        <p:nvSpPr>
          <p:cNvPr id="26" name="Text 21"/>
          <p:cNvSpPr txBox="1"/>
          <p:nvPr/>
        </p:nvSpPr>
        <p:spPr>
          <a:xfrm>
            <a:off x="3913632" y="5029200"/>
            <a:ext cx="2240280" cy="731520"/>
          </a:xfrm>
          <a:prstGeom prst="rect">
            <a:avLst/>
          </a:prstGeom>
          <a:noFill/>
          <a:ln/>
        </p:spPr>
        <p:txBody>
          <a:bodyPr wrap="square" lIns="0" tIns="0" rIns="0" bIns="0" rtlCol="0" anchor="t"/>
          <a:lstStyle/>
          <a:p>
            <a:pPr indent="0" marL="0">
              <a:buNone/>
            </a:pPr>
            <a:r>
              <a:rPr lang="en-US" sz="1300" dirty="0">
                <a:solidFill>
                  <a:srgbClr val="10171F"/>
                </a:solidFill>
                <a:latin typeface="Calibri" pitchFamily="34" charset="0"/>
                <a:ea typeface="Calibri" pitchFamily="34" charset="-122"/>
                <a:cs typeface="Calibri" pitchFamily="34" charset="-120"/>
              </a:rPr>
              <a:t>Share of requests closed on time</a:t>
            </a:r>
            <a:endParaRPr lang="en-US" sz="1300" dirty="0"/>
          </a:p>
        </p:txBody>
      </p:sp>
      <p:pic>
        <p:nvPicPr>
          <p:cNvPr id="27" name="Image 3" descr="preencoded.png">    </p:cNvPr>
          <p:cNvPicPr>
            <a:picLocks noChangeAspect="1"/>
          </p:cNvPicPr>
          <p:nvPr/>
        </p:nvPicPr>
        <p:blipFill>
          <a:blip r:embed="rId4"/>
          <a:stretch>
            <a:fillRect/>
          </a:stretch>
        </p:blipFill>
        <p:spPr>
          <a:xfrm>
            <a:off x="6263640" y="5047488"/>
            <a:ext cx="237744" cy="237744"/>
          </a:xfrm>
          <a:prstGeom prst="rect">
            <a:avLst/>
          </a:prstGeom>
        </p:spPr>
      </p:pic>
      <p:sp>
        <p:nvSpPr>
          <p:cNvPr id="28" name="Text 22"/>
          <p:cNvSpPr txBox="1"/>
          <p:nvPr/>
        </p:nvSpPr>
        <p:spPr>
          <a:xfrm>
            <a:off x="6611112" y="5029200"/>
            <a:ext cx="2240280" cy="731520"/>
          </a:xfrm>
          <a:prstGeom prst="rect">
            <a:avLst/>
          </a:prstGeom>
          <a:noFill/>
          <a:ln/>
        </p:spPr>
        <p:txBody>
          <a:bodyPr wrap="square" lIns="0" tIns="0" rIns="0" bIns="0" rtlCol="0" anchor="t"/>
          <a:lstStyle/>
          <a:p>
            <a:pPr indent="0" marL="0">
              <a:buNone/>
            </a:pPr>
            <a:r>
              <a:rPr lang="en-US" sz="1300" dirty="0">
                <a:solidFill>
                  <a:srgbClr val="10171F"/>
                </a:solidFill>
                <a:latin typeface="Calibri" pitchFamily="34" charset="0"/>
                <a:ea typeface="Calibri" pitchFamily="34" charset="-122"/>
                <a:cs typeface="Calibri" pitchFamily="34" charset="-120"/>
              </a:rPr>
              <a:t>Time for a concern to reach the DSL</a:t>
            </a:r>
            <a:endParaRPr lang="en-US" sz="1300" dirty="0"/>
          </a:p>
        </p:txBody>
      </p:sp>
      <p:pic>
        <p:nvPicPr>
          <p:cNvPr id="29" name="Image 4" descr="preencoded.png">    </p:cNvPr>
          <p:cNvPicPr>
            <a:picLocks noChangeAspect="1"/>
          </p:cNvPicPr>
          <p:nvPr/>
        </p:nvPicPr>
        <p:blipFill>
          <a:blip r:embed="rId5"/>
          <a:stretch>
            <a:fillRect/>
          </a:stretch>
        </p:blipFill>
        <p:spPr>
          <a:xfrm>
            <a:off x="8961120" y="5047488"/>
            <a:ext cx="237744" cy="237744"/>
          </a:xfrm>
          <a:prstGeom prst="rect">
            <a:avLst/>
          </a:prstGeom>
        </p:spPr>
      </p:pic>
      <p:sp>
        <p:nvSpPr>
          <p:cNvPr id="30" name="Text 23"/>
          <p:cNvSpPr txBox="1"/>
          <p:nvPr/>
        </p:nvSpPr>
        <p:spPr>
          <a:xfrm>
            <a:off x="9308592" y="5029200"/>
            <a:ext cx="2240280" cy="731520"/>
          </a:xfrm>
          <a:prstGeom prst="rect">
            <a:avLst/>
          </a:prstGeom>
          <a:noFill/>
          <a:ln/>
        </p:spPr>
        <p:txBody>
          <a:bodyPr wrap="square" lIns="0" tIns="0" rIns="0" bIns="0" rtlCol="0" anchor="t"/>
          <a:lstStyle/>
          <a:p>
            <a:pPr indent="0" marL="0">
              <a:buNone/>
            </a:pPr>
            <a:r>
              <a:rPr lang="en-US" sz="1300" dirty="0">
                <a:solidFill>
                  <a:srgbClr val="10171F"/>
                </a:solidFill>
                <a:latin typeface="Calibri" pitchFamily="34" charset="0"/>
                <a:ea typeface="Calibri" pitchFamily="34" charset="-122"/>
                <a:cs typeface="Calibri" pitchFamily="34" charset="-120"/>
              </a:rPr>
              <a:t>Share of families signed in</a:t>
            </a:r>
            <a:endParaRPr lang="en-US" sz="1300" dirty="0"/>
          </a:p>
        </p:txBody>
      </p:sp>
      <p:sp>
        <p:nvSpPr>
          <p:cNvPr id="31" name="Text 24"/>
          <p:cNvSpPr txBox="1"/>
          <p:nvPr/>
        </p:nvSpPr>
        <p:spPr>
          <a:xfrm>
            <a:off x="9814255" y="6473952"/>
            <a:ext cx="1828800" cy="201168"/>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Horizon  |  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182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28600"/>
          </a:xfrm>
          <a:prstGeom prst="rect">
            <a:avLst/>
          </a:prstGeom>
          <a:noFill/>
          <a:ln/>
        </p:spPr>
        <p:txBody>
          <a:bodyPr wrap="square" lIns="0" tIns="0" rIns="0" bIns="0" rtlCol="0" anchor="ctr"/>
          <a:lstStyle/>
          <a:p>
            <a:pPr indent="0" marL="0">
              <a:buNone/>
            </a:pPr>
            <a:r>
              <a:rPr lang="en-US" sz="1100" b="1" spc="300" kern="0" dirty="0">
                <a:solidFill>
                  <a:srgbClr val="C79E41"/>
                </a:solidFill>
                <a:latin typeface="Calibri" pitchFamily="34" charset="0"/>
                <a:ea typeface="Calibri" pitchFamily="34" charset="-122"/>
                <a:cs typeface="Calibri" pitchFamily="34" charset="-120"/>
              </a:rPr>
              <a:t>NEXT STEPS</a:t>
            </a:r>
            <a:endParaRPr lang="en-US" sz="1100" dirty="0"/>
          </a:p>
        </p:txBody>
      </p:sp>
      <p:sp>
        <p:nvSpPr>
          <p:cNvPr id="3" name="Text 1"/>
          <p:cNvSpPr txBox="1"/>
          <p:nvPr/>
        </p:nvSpPr>
        <p:spPr>
          <a:xfrm>
            <a:off x="548640" y="411480"/>
            <a:ext cx="10972800" cy="7315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Let us start with your pilot</a:t>
            </a:r>
            <a:endParaRPr lang="en-US" sz="3000" dirty="0"/>
          </a:p>
        </p:txBody>
      </p:sp>
      <p:sp>
        <p:nvSpPr>
          <p:cNvPr id="4" name="Shape 2"/>
          <p:cNvSpPr/>
          <p:nvPr/>
        </p:nvSpPr>
        <p:spPr>
          <a:xfrm>
            <a:off x="548640" y="1600200"/>
            <a:ext cx="640080" cy="640080"/>
          </a:xfrm>
          <a:prstGeom prst="ellipse">
            <a:avLst/>
          </a:prstGeom>
          <a:solidFill>
            <a:srgbClr val="C79E41"/>
          </a:solidFill>
          <a:ln w="12700">
            <a:solidFill>
              <a:srgbClr val="C79E41"/>
            </a:solidFill>
            <a:prstDash val="solid"/>
          </a:ln>
        </p:spPr>
      </p:sp>
      <p:sp>
        <p:nvSpPr>
          <p:cNvPr id="5" name="Text 3"/>
          <p:cNvSpPr txBox="1"/>
          <p:nvPr/>
        </p:nvSpPr>
        <p:spPr>
          <a:xfrm>
            <a:off x="548640" y="1600200"/>
            <a:ext cx="640080" cy="640080"/>
          </a:xfrm>
          <a:prstGeom prst="rect">
            <a:avLst/>
          </a:prstGeom>
          <a:noFill/>
          <a:ln/>
        </p:spPr>
        <p:txBody>
          <a:bodyPr wrap="square" lIns="0" tIns="0" rIns="0" bIns="0" rtlCol="0" anchor="ctr"/>
          <a:lstStyle/>
          <a:p>
            <a:pPr algn="ctr" indent="0" marL="0">
              <a:buNone/>
            </a:pPr>
            <a:r>
              <a:rPr lang="en-US" sz="2200" b="1" dirty="0">
                <a:solidFill>
                  <a:srgbClr val="0C182A"/>
                </a:solidFill>
                <a:latin typeface="Cambria" pitchFamily="34" charset="0"/>
                <a:ea typeface="Cambria" pitchFamily="34" charset="-122"/>
                <a:cs typeface="Cambria" pitchFamily="34" charset="-120"/>
              </a:rPr>
              <a:t>1</a:t>
            </a:r>
            <a:endParaRPr lang="en-US" sz="2200" dirty="0"/>
          </a:p>
        </p:txBody>
      </p:sp>
      <p:sp>
        <p:nvSpPr>
          <p:cNvPr id="6" name="Text 4"/>
          <p:cNvSpPr txBox="1"/>
          <p:nvPr/>
        </p:nvSpPr>
        <p:spPr>
          <a:xfrm>
            <a:off x="1417320" y="1554480"/>
            <a:ext cx="4846320" cy="100584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Today</a:t>
            </a:r>
            <a:endParaRPr lang="en-US" sz="1700" dirty="0"/>
          </a:p>
          <a:p>
            <a:pPr indent="0" marL="0">
              <a:buNone/>
            </a:pPr>
            <a:r>
              <a:rPr lang="en-US" sz="1350" dirty="0">
                <a:solidFill>
                  <a:srgbClr val="E3E8EE"/>
                </a:solidFill>
                <a:latin typeface="Calibri" pitchFamily="34" charset="0"/>
                <a:ea typeface="Calibri" pitchFamily="34" charset="-122"/>
                <a:cs typeface="Calibri" pitchFamily="34" charset="-120"/>
              </a:rPr>
              <a:t>Choose a pilot lead and confirm your DSL and deputy.</a:t>
            </a:r>
            <a:endParaRPr lang="en-US" sz="1700" dirty="0"/>
          </a:p>
        </p:txBody>
      </p:sp>
      <p:sp>
        <p:nvSpPr>
          <p:cNvPr id="7" name="Shape 5"/>
          <p:cNvSpPr/>
          <p:nvPr/>
        </p:nvSpPr>
        <p:spPr>
          <a:xfrm>
            <a:off x="548640" y="2788920"/>
            <a:ext cx="640080" cy="640080"/>
          </a:xfrm>
          <a:prstGeom prst="ellipse">
            <a:avLst/>
          </a:prstGeom>
          <a:solidFill>
            <a:srgbClr val="C79E41"/>
          </a:solidFill>
          <a:ln w="12700">
            <a:solidFill>
              <a:srgbClr val="C79E41"/>
            </a:solidFill>
            <a:prstDash val="solid"/>
          </a:ln>
        </p:spPr>
      </p:sp>
      <p:sp>
        <p:nvSpPr>
          <p:cNvPr id="8" name="Text 6"/>
          <p:cNvSpPr txBox="1"/>
          <p:nvPr/>
        </p:nvSpPr>
        <p:spPr>
          <a:xfrm>
            <a:off x="548640" y="2788920"/>
            <a:ext cx="640080" cy="640080"/>
          </a:xfrm>
          <a:prstGeom prst="rect">
            <a:avLst/>
          </a:prstGeom>
          <a:noFill/>
          <a:ln/>
        </p:spPr>
        <p:txBody>
          <a:bodyPr wrap="square" lIns="0" tIns="0" rIns="0" bIns="0" rtlCol="0" anchor="ctr"/>
          <a:lstStyle/>
          <a:p>
            <a:pPr algn="ctr" indent="0" marL="0">
              <a:buNone/>
            </a:pPr>
            <a:r>
              <a:rPr lang="en-US" sz="2200" b="1" dirty="0">
                <a:solidFill>
                  <a:srgbClr val="0C182A"/>
                </a:solidFill>
                <a:latin typeface="Cambria" pitchFamily="34" charset="0"/>
                <a:ea typeface="Cambria" pitchFamily="34" charset="-122"/>
                <a:cs typeface="Cambria" pitchFamily="34" charset="-120"/>
              </a:rPr>
              <a:t>2</a:t>
            </a:r>
            <a:endParaRPr lang="en-US" sz="2200" dirty="0"/>
          </a:p>
        </p:txBody>
      </p:sp>
      <p:sp>
        <p:nvSpPr>
          <p:cNvPr id="9" name="Text 7"/>
          <p:cNvSpPr txBox="1"/>
          <p:nvPr/>
        </p:nvSpPr>
        <p:spPr>
          <a:xfrm>
            <a:off x="1417320" y="2743200"/>
            <a:ext cx="4846320" cy="100584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This week</a:t>
            </a:r>
            <a:endParaRPr lang="en-US" sz="1700" dirty="0"/>
          </a:p>
          <a:p>
            <a:pPr indent="0" marL="0">
              <a:buNone/>
            </a:pPr>
            <a:r>
              <a:rPr lang="en-US" sz="1350" dirty="0">
                <a:solidFill>
                  <a:srgbClr val="E3E8EE"/>
                </a:solidFill>
                <a:latin typeface="Calibri" pitchFamily="34" charset="0"/>
                <a:ea typeface="Calibri" pitchFamily="34" charset="-122"/>
                <a:cs typeface="Calibri" pitchFamily="34" charset="-120"/>
              </a:rPr>
              <a:t>Send the data request: school details, logo and colors, staff list, students and guardians, term dates.</a:t>
            </a:r>
            <a:endParaRPr lang="en-US" sz="1700" dirty="0"/>
          </a:p>
        </p:txBody>
      </p:sp>
      <p:sp>
        <p:nvSpPr>
          <p:cNvPr id="10" name="Shape 8"/>
          <p:cNvSpPr/>
          <p:nvPr/>
        </p:nvSpPr>
        <p:spPr>
          <a:xfrm>
            <a:off x="548640" y="3977640"/>
            <a:ext cx="640080" cy="640080"/>
          </a:xfrm>
          <a:prstGeom prst="ellipse">
            <a:avLst/>
          </a:prstGeom>
          <a:solidFill>
            <a:srgbClr val="C79E41"/>
          </a:solidFill>
          <a:ln w="12700">
            <a:solidFill>
              <a:srgbClr val="C79E41"/>
            </a:solidFill>
            <a:prstDash val="solid"/>
          </a:ln>
        </p:spPr>
      </p:sp>
      <p:sp>
        <p:nvSpPr>
          <p:cNvPr id="11" name="Text 9"/>
          <p:cNvSpPr txBox="1"/>
          <p:nvPr/>
        </p:nvSpPr>
        <p:spPr>
          <a:xfrm>
            <a:off x="548640" y="3977640"/>
            <a:ext cx="640080" cy="640080"/>
          </a:xfrm>
          <a:prstGeom prst="rect">
            <a:avLst/>
          </a:prstGeom>
          <a:noFill/>
          <a:ln/>
        </p:spPr>
        <p:txBody>
          <a:bodyPr wrap="square" lIns="0" tIns="0" rIns="0" bIns="0" rtlCol="0" anchor="ctr"/>
          <a:lstStyle/>
          <a:p>
            <a:pPr algn="ctr" indent="0" marL="0">
              <a:buNone/>
            </a:pPr>
            <a:r>
              <a:rPr lang="en-US" sz="2200" b="1" dirty="0">
                <a:solidFill>
                  <a:srgbClr val="0C182A"/>
                </a:solidFill>
                <a:latin typeface="Cambria" pitchFamily="34" charset="0"/>
                <a:ea typeface="Cambria" pitchFamily="34" charset="-122"/>
                <a:cs typeface="Cambria" pitchFamily="34" charset="-120"/>
              </a:rPr>
              <a:t>3</a:t>
            </a:r>
            <a:endParaRPr lang="en-US" sz="2200" dirty="0"/>
          </a:p>
        </p:txBody>
      </p:sp>
      <p:sp>
        <p:nvSpPr>
          <p:cNvPr id="12" name="Text 10"/>
          <p:cNvSpPr txBox="1"/>
          <p:nvPr/>
        </p:nvSpPr>
        <p:spPr>
          <a:xfrm>
            <a:off x="1417320" y="3931920"/>
            <a:ext cx="4846320" cy="100584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Next week</a:t>
            </a:r>
            <a:endParaRPr lang="en-US" sz="1700" dirty="0"/>
          </a:p>
          <a:p>
            <a:pPr indent="0" marL="0">
              <a:buNone/>
            </a:pPr>
            <a:r>
              <a:rPr lang="en-US" sz="1350" dirty="0">
                <a:solidFill>
                  <a:srgbClr val="E3E8EE"/>
                </a:solidFill>
                <a:latin typeface="Calibri" pitchFamily="34" charset="0"/>
                <a:ea typeface="Calibri" pitchFamily="34" charset="-122"/>
                <a:cs typeface="Calibri" pitchFamily="34" charset="-120"/>
              </a:rPr>
              <a:t>90-minute setup call, then go live with the five launch services.</a:t>
            </a:r>
            <a:endParaRPr lang="en-US" sz="1700" dirty="0"/>
          </a:p>
        </p:txBody>
      </p:sp>
      <p:sp>
        <p:nvSpPr>
          <p:cNvPr id="13" name="Shape 11"/>
          <p:cNvSpPr/>
          <p:nvPr/>
        </p:nvSpPr>
        <p:spPr>
          <a:xfrm>
            <a:off x="6720840" y="1463040"/>
            <a:ext cx="4937760" cy="3296412"/>
          </a:xfrm>
          <a:prstGeom prst="roundRect">
            <a:avLst>
              <a:gd name="adj" fmla="val 1942"/>
            </a:avLst>
          </a:prstGeom>
          <a:solidFill>
            <a:srgbClr val="233553"/>
          </a:solidFill>
          <a:ln w="9525">
            <a:solidFill>
              <a:srgbClr val="2E4466"/>
            </a:solidFill>
            <a:prstDash val="solid"/>
          </a:ln>
          <a:effectLst>
            <a:outerShdw sx="100000" sy="100000" kx="0" ky="0" algn="bl" rotWithShape="0" blurRad="177800" dist="63500" dir="5400000">
              <a:srgbClr val="0C182A">
                <a:alpha val="45000"/>
              </a:srgbClr>
            </a:outerShdw>
          </a:effectLst>
        </p:spPr>
      </p:sp>
      <p:sp>
        <p:nvSpPr>
          <p:cNvPr id="14" name="Shape 12"/>
          <p:cNvSpPr/>
          <p:nvPr/>
        </p:nvSpPr>
        <p:spPr>
          <a:xfrm>
            <a:off x="6830568" y="1531620"/>
            <a:ext cx="77724" cy="77724"/>
          </a:xfrm>
          <a:prstGeom prst="ellipse">
            <a:avLst/>
          </a:prstGeom>
          <a:solidFill>
            <a:srgbClr val="E5776E"/>
          </a:solidFill>
          <a:ln w="12700">
            <a:solidFill>
              <a:srgbClr val="E5776E"/>
            </a:solidFill>
            <a:prstDash val="solid"/>
          </a:ln>
        </p:spPr>
      </p:sp>
      <p:sp>
        <p:nvSpPr>
          <p:cNvPr id="15" name="Shape 13"/>
          <p:cNvSpPr/>
          <p:nvPr/>
        </p:nvSpPr>
        <p:spPr>
          <a:xfrm>
            <a:off x="6949440" y="1531620"/>
            <a:ext cx="77724" cy="77724"/>
          </a:xfrm>
          <a:prstGeom prst="ellipse">
            <a:avLst/>
          </a:prstGeom>
          <a:solidFill>
            <a:srgbClr val="E8C35A"/>
          </a:solidFill>
          <a:ln w="12700">
            <a:solidFill>
              <a:srgbClr val="E8C35A"/>
            </a:solidFill>
            <a:prstDash val="solid"/>
          </a:ln>
        </p:spPr>
      </p:sp>
      <p:sp>
        <p:nvSpPr>
          <p:cNvPr id="16" name="Shape 14"/>
          <p:cNvSpPr/>
          <p:nvPr/>
        </p:nvSpPr>
        <p:spPr>
          <a:xfrm>
            <a:off x="7068312" y="1531620"/>
            <a:ext cx="77724" cy="77724"/>
          </a:xfrm>
          <a:prstGeom prst="ellipse">
            <a:avLst/>
          </a:prstGeom>
          <a:solidFill>
            <a:srgbClr val="6CC08A"/>
          </a:solidFill>
          <a:ln w="12700">
            <a:solidFill>
              <a:srgbClr val="6CC08A"/>
            </a:solidFill>
            <a:prstDash val="solid"/>
          </a:ln>
        </p:spPr>
      </p:sp>
      <p:pic>
        <p:nvPicPr>
          <p:cNvPr id="17" name="Image 0" descr="/tmp/claude-0/-home-user-School/397e64b2-6645-56da-9972-e1722fae0ce6/scratchpad/sales/imgdeck/demo-ar.jpg">    </p:cNvPr>
          <p:cNvPicPr>
            <a:picLocks noChangeAspect="1"/>
          </p:cNvPicPr>
          <p:nvPr/>
        </p:nvPicPr>
        <p:blipFill>
          <a:blip r:embed="rId1"/>
          <a:stretch>
            <a:fillRect/>
          </a:stretch>
        </p:blipFill>
        <p:spPr>
          <a:xfrm>
            <a:off x="6757416" y="1682496"/>
            <a:ext cx="4864608" cy="3040380"/>
          </a:xfrm>
          <a:prstGeom prst="rect">
            <a:avLst/>
          </a:prstGeom>
        </p:spPr>
      </p:pic>
      <p:sp>
        <p:nvSpPr>
          <p:cNvPr id="18" name="Shape 15"/>
          <p:cNvSpPr/>
          <p:nvPr/>
        </p:nvSpPr>
        <p:spPr>
          <a:xfrm>
            <a:off x="548640" y="5303520"/>
            <a:ext cx="11091672" cy="868680"/>
          </a:xfrm>
          <a:prstGeom prst="roundRect">
            <a:avLst>
              <a:gd name="adj" fmla="val 10526"/>
            </a:avLst>
          </a:prstGeom>
          <a:solidFill>
            <a:srgbClr val="192941"/>
          </a:solidFill>
          <a:ln w="9525">
            <a:solidFill>
              <a:srgbClr val="2E4466"/>
            </a:solidFill>
            <a:prstDash val="solid"/>
          </a:ln>
        </p:spPr>
      </p:sp>
      <p:sp>
        <p:nvSpPr>
          <p:cNvPr id="19" name="Text 16"/>
          <p:cNvSpPr txBox="1"/>
          <p:nvPr/>
        </p:nvSpPr>
        <p:spPr>
          <a:xfrm>
            <a:off x="868680" y="5303520"/>
            <a:ext cx="10515600" cy="8686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Explore the live demo school as any persona, in English or Arabic.</a:t>
            </a:r>
            <a:endParaRPr lang="en-US" sz="1400" dirty="0"/>
          </a:p>
          <a:p>
            <a:pPr indent="0" marL="0">
              <a:buNone/>
            </a:pPr>
            <a:r>
              <a:rPr lang="en-US" sz="1400" dirty="0">
                <a:solidFill>
                  <a:srgbClr val="C79E41"/>
                </a:solidFill>
                <a:latin typeface="Calibri" pitchFamily="34" charset="0"/>
                <a:ea typeface="Calibri" pitchFamily="34" charset="-122"/>
                <a:cs typeface="Calibri" pitchFamily="34" charset="-120"/>
              </a:rPr>
              <a:t>Your contact details</a:t>
            </a:r>
            <a:endParaRPr lang="en-US" sz="1400" dirty="0"/>
          </a:p>
        </p:txBody>
      </p:sp>
      <p:sp>
        <p:nvSpPr>
          <p:cNvPr id="20" name="Text 17"/>
          <p:cNvSpPr txBox="1"/>
          <p:nvPr/>
        </p:nvSpPr>
        <p:spPr>
          <a:xfrm>
            <a:off x="9814255" y="6473952"/>
            <a:ext cx="1828800" cy="201168"/>
          </a:xfrm>
          <a:prstGeom prst="rect">
            <a:avLst/>
          </a:prstGeom>
          <a:noFill/>
          <a:ln/>
        </p:spPr>
        <p:txBody>
          <a:bodyPr wrap="square" lIns="0" tIns="0" rIns="0" bIns="0" rtlCol="0" anchor="ctr"/>
          <a:lstStyle/>
          <a:p>
            <a:pPr algn="r" indent="0" marL="0">
              <a:buNone/>
            </a:pPr>
            <a:r>
              <a:rPr lang="en-US" sz="900" dirty="0">
                <a:solidFill>
                  <a:srgbClr val="8C9AAB"/>
                </a:solidFill>
                <a:latin typeface="Calibri" pitchFamily="34" charset="0"/>
                <a:ea typeface="Calibri" pitchFamily="34" charset="-122"/>
                <a:cs typeface="Calibri" pitchFamily="34" charset="-120"/>
              </a:rPr>
              <a:t>Horizon  |  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Horizon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Horizon: School Operations and Student Services OS</dc:title>
  <dc:subject>PptxGenJS Presentation</dc:subject>
  <dc:creator>PptxGenJS</dc:creator>
  <cp:lastModifiedBy>PptxGenJS</cp:lastModifiedBy>
  <cp:revision>1</cp:revision>
  <dcterms:created xsi:type="dcterms:W3CDTF">2026-09-30T08:23:40Z</dcterms:created>
  <dcterms:modified xsi:type="dcterms:W3CDTF">2026-09-30T08:23:40Z</dcterms:modified>
</cp:coreProperties>
</file>